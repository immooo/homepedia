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1da9cbce864030" /><Relationship Type="http://schemas.openxmlformats.org/officeDocument/2006/relationships/extended-properties" Target="/docProps/app.xml" Id="R3e67b711ec2945eb" /><Relationship Type="http://schemas.openxmlformats.org/officeDocument/2006/relationships/officeDocument" Target="/ppt/presentation.xml" Id="R95af5330628e41a4" /></Relationships>
</file>

<file path=ppt/presentation.xml><?xml version="1.0" encoding="utf-8"?>
<p:presentation xmlns:p="http://schemas.openxmlformats.org/presentationml/2006/main">
  <p:sldMasterIdLst>
    <p:sldMasterId xmlns:r="http://schemas.openxmlformats.org/officeDocument/2006/relationships" id="2147483648" r:id="R35550c5585a746b6"/>
  </p:sldMasterIdLst>
  <p:notesMasterIdLst>
    <p:notesMasterId xmlns:r="http://schemas.openxmlformats.org/officeDocument/2006/relationships" r:id="Rdd118f6349ee412b"/>
  </p:notesMasterIdLst>
  <p:sldIdLst>
    <p:sldId xmlns:r="http://schemas.openxmlformats.org/officeDocument/2006/relationships" id="256" r:id="R37d956aec9384c87"/>
    <p:sldId xmlns:r="http://schemas.openxmlformats.org/officeDocument/2006/relationships" id="257" r:id="Ra8ad765e7fa74b20"/>
    <p:sldId xmlns:r="http://schemas.openxmlformats.org/officeDocument/2006/relationships" id="258" r:id="R5da5c7629f8145a0"/>
    <p:sldId xmlns:r="http://schemas.openxmlformats.org/officeDocument/2006/relationships" id="259" r:id="R77179994807d40f5"/>
    <p:sldId xmlns:r="http://schemas.openxmlformats.org/officeDocument/2006/relationships" id="260" r:id="R0acd4c16fbc249bf"/>
    <p:sldId xmlns:r="http://schemas.openxmlformats.org/officeDocument/2006/relationships" id="261" r:id="Ra346149b937043bb"/>
    <p:sldId xmlns:r="http://schemas.openxmlformats.org/officeDocument/2006/relationships" id="262" r:id="Rf6db00b0d3a34a08"/>
    <p:sldId xmlns:r="http://schemas.openxmlformats.org/officeDocument/2006/relationships" id="263" r:id="Rc215a7a585e543a5"/>
    <p:sldId xmlns:r="http://schemas.openxmlformats.org/officeDocument/2006/relationships" id="264" r:id="R52ca89e6bcf84d1c"/>
    <p:sldId xmlns:r="http://schemas.openxmlformats.org/officeDocument/2006/relationships" id="265" r:id="R75ee20314e824022"/>
    <p:sldId xmlns:r="http://schemas.openxmlformats.org/officeDocument/2006/relationships" id="266" r:id="R44d7d3e7f1a64456"/>
    <p:sldId xmlns:r="http://schemas.openxmlformats.org/officeDocument/2006/relationships" id="267" r:id="R095ede2bef984196"/>
    <p:sldId xmlns:r="http://schemas.openxmlformats.org/officeDocument/2006/relationships" id="268" r:id="R158298e7c55a457d"/>
    <p:sldId xmlns:r="http://schemas.openxmlformats.org/officeDocument/2006/relationships" id="269" r:id="Raf9a9d05f07f4e17"/>
    <p:sldId xmlns:r="http://schemas.openxmlformats.org/officeDocument/2006/relationships" id="270" r:id="R2ee156bd885e46c1"/>
    <p:sldId xmlns:r="http://schemas.openxmlformats.org/officeDocument/2006/relationships" id="271" r:id="R94d0402966704829"/>
    <p:sldId xmlns:r="http://schemas.openxmlformats.org/officeDocument/2006/relationships" id="272" r:id="R2b8e1ddeb0fe4b47"/>
    <p:sldId xmlns:r="http://schemas.openxmlformats.org/officeDocument/2006/relationships" id="273" r:id="R95761eee97824f89"/>
    <p:sldId xmlns:r="http://schemas.openxmlformats.org/officeDocument/2006/relationships" id="274" r:id="R37b5f7fcc5a149b6"/>
    <p:sldId xmlns:r="http://schemas.openxmlformats.org/officeDocument/2006/relationships" id="275" r:id="Re76867788aa84637"/>
    <p:sldId xmlns:r="http://schemas.openxmlformats.org/officeDocument/2006/relationships" id="276" r:id="R8b4a9a1cabd2408b"/>
    <p:sldId xmlns:r="http://schemas.openxmlformats.org/officeDocument/2006/relationships" id="277" r:id="Rcdd7a99997ce410e"/>
    <p:sldId xmlns:r="http://schemas.openxmlformats.org/officeDocument/2006/relationships" id="278" r:id="R9e2af40603b7455a"/>
    <p:sldId xmlns:r="http://schemas.openxmlformats.org/officeDocument/2006/relationships" id="279" r:id="R2426a5f10598477c"/>
    <p:sldId xmlns:r="http://schemas.openxmlformats.org/officeDocument/2006/relationships" id="280" r:id="R2f601881b31b4a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a6d09989d94f50" /><Relationship Type="http://schemas.openxmlformats.org/officeDocument/2006/relationships/slideMaster" Target="/ppt/slideMasters/slideMaster1.xml" Id="R35550c5585a746b6" /><Relationship Type="http://schemas.openxmlformats.org/officeDocument/2006/relationships/notesMaster" Target="/ppt/notesMasters/notesMaster1.xml" Id="Rdd118f6349ee412b" /><Relationship Type="http://schemas.openxmlformats.org/officeDocument/2006/relationships/presProps" Target="/ppt/presProps.xml" Id="R3e08f8d592a44c82" /><Relationship Type="http://schemas.openxmlformats.org/officeDocument/2006/relationships/tableStyles" Target="/ppt/tableStyles.xml" Id="Rc11dba34e12347d1" /><Relationship Type="http://schemas.openxmlformats.org/officeDocument/2006/relationships/slide" Target="/ppt/slides/slide1.xml" Id="R37d956aec9384c87" /><Relationship Type="http://schemas.openxmlformats.org/officeDocument/2006/relationships/slide" Target="/ppt/slides/slide2.xml" Id="Ra8ad765e7fa74b20" /><Relationship Type="http://schemas.openxmlformats.org/officeDocument/2006/relationships/slide" Target="/ppt/slides/slide3.xml" Id="R5da5c7629f8145a0" /><Relationship Type="http://schemas.openxmlformats.org/officeDocument/2006/relationships/slide" Target="/ppt/slides/slide4.xml" Id="R77179994807d40f5" /><Relationship Type="http://schemas.openxmlformats.org/officeDocument/2006/relationships/slide" Target="/ppt/slides/slide5.xml" Id="R0acd4c16fbc249bf" /><Relationship Type="http://schemas.openxmlformats.org/officeDocument/2006/relationships/slide" Target="/ppt/slides/slide6.xml" Id="Ra346149b937043bb" /><Relationship Type="http://schemas.openxmlformats.org/officeDocument/2006/relationships/slide" Target="/ppt/slides/slide7.xml" Id="Rf6db00b0d3a34a08" /><Relationship Type="http://schemas.openxmlformats.org/officeDocument/2006/relationships/slide" Target="/ppt/slides/slide8.xml" Id="Rc215a7a585e543a5" /><Relationship Type="http://schemas.openxmlformats.org/officeDocument/2006/relationships/slide" Target="/ppt/slides/slide9.xml" Id="R52ca89e6bcf84d1c" /><Relationship Type="http://schemas.openxmlformats.org/officeDocument/2006/relationships/slide" Target="/ppt/slides/slide10.xml" Id="R75ee20314e824022" /><Relationship Type="http://schemas.openxmlformats.org/officeDocument/2006/relationships/slide" Target="/ppt/slides/slide11.xml" Id="R44d7d3e7f1a64456" /><Relationship Type="http://schemas.openxmlformats.org/officeDocument/2006/relationships/slide" Target="/ppt/slides/slide12.xml" Id="R095ede2bef984196" /><Relationship Type="http://schemas.openxmlformats.org/officeDocument/2006/relationships/slide" Target="/ppt/slides/slide13.xml" Id="R158298e7c55a457d" /><Relationship Type="http://schemas.openxmlformats.org/officeDocument/2006/relationships/slide" Target="/ppt/slides/slide14.xml" Id="Raf9a9d05f07f4e17" /><Relationship Type="http://schemas.openxmlformats.org/officeDocument/2006/relationships/slide" Target="/ppt/slides/slide15.xml" Id="R2ee156bd885e46c1" /><Relationship Type="http://schemas.openxmlformats.org/officeDocument/2006/relationships/slide" Target="/ppt/slides/slide16.xml" Id="R94d0402966704829" /><Relationship Type="http://schemas.openxmlformats.org/officeDocument/2006/relationships/slide" Target="/ppt/slides/slide17.xml" Id="R2b8e1ddeb0fe4b47" /><Relationship Type="http://schemas.openxmlformats.org/officeDocument/2006/relationships/slide" Target="/ppt/slides/slide18.xml" Id="R95761eee97824f89" /><Relationship Type="http://schemas.openxmlformats.org/officeDocument/2006/relationships/slide" Target="/ppt/slides/slide19.xml" Id="R37b5f7fcc5a149b6" /><Relationship Type="http://schemas.openxmlformats.org/officeDocument/2006/relationships/slide" Target="/ppt/slides/slide20.xml" Id="Re76867788aa84637" /><Relationship Type="http://schemas.openxmlformats.org/officeDocument/2006/relationships/slide" Target="/ppt/slides/slide21.xml" Id="R8b4a9a1cabd2408b" /><Relationship Type="http://schemas.openxmlformats.org/officeDocument/2006/relationships/slide" Target="/ppt/slides/slide22.xml" Id="Rcdd7a99997ce410e" /><Relationship Type="http://schemas.openxmlformats.org/officeDocument/2006/relationships/slide" Target="/ppt/slides/slide23.xml" Id="R9e2af40603b7455a" /><Relationship Type="http://schemas.openxmlformats.org/officeDocument/2006/relationships/slide" Target="/ppt/slides/slide24.xml" Id="R2426a5f10598477c" /><Relationship Type="http://schemas.openxmlformats.org/officeDocument/2006/relationships/slide" Target="/ppt/slides/slide25.xml" Id="R2f601881b31b4a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2493bda04f40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b2a8bce2d343a7" /><Relationship Type="http://schemas.openxmlformats.org/officeDocument/2006/relationships/notesMaster" Target="/ppt/notesMasters/notesMaster1.xml" Id="R0abd2ccb64684e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527f884b7c49cf" /><Relationship Type="http://schemas.openxmlformats.org/officeDocument/2006/relationships/notesMaster" Target="/ppt/notesMasters/notesMaster1.xml" Id="Re4d3ac4ed4264b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ad19a4e39f4519" /><Relationship Type="http://schemas.openxmlformats.org/officeDocument/2006/relationships/notesMaster" Target="/ppt/notesMasters/notesMaster1.xml" Id="R685bebf392884e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d4a89963f54840" /><Relationship Type="http://schemas.openxmlformats.org/officeDocument/2006/relationships/notesMaster" Target="/ppt/notesMasters/notesMaster1.xml" Id="R53d8002023ee4b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302ae78dd64fe8" /><Relationship Type="http://schemas.openxmlformats.org/officeDocument/2006/relationships/notesMaster" Target="/ppt/notesMasters/notesMaster1.xml" Id="Re518f71e222d4b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a2d40ea4e14478" /><Relationship Type="http://schemas.openxmlformats.org/officeDocument/2006/relationships/notesMaster" Target="/ppt/notesMasters/notesMaster1.xml" Id="R45bb392d31864a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a6bedff8bd48a2" /><Relationship Type="http://schemas.openxmlformats.org/officeDocument/2006/relationships/notesMaster" Target="/ppt/notesMasters/notesMaster1.xml" Id="Rfc6b2c65b36442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ef2afbb4ba4e9e" /><Relationship Type="http://schemas.openxmlformats.org/officeDocument/2006/relationships/notesMaster" Target="/ppt/notesMasters/notesMaster1.xml" Id="R0d59acf7a3ed42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ebb06a7e384771" /><Relationship Type="http://schemas.openxmlformats.org/officeDocument/2006/relationships/notesMaster" Target="/ppt/notesMasters/notesMaster1.xml" Id="R35fe8cae84ef41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2eabe7d0c54fc1" /><Relationship Type="http://schemas.openxmlformats.org/officeDocument/2006/relationships/notesMaster" Target="/ppt/notesMasters/notesMaster1.xml" Id="R7ec7a698dd854d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ae7ac52b1a45be" /><Relationship Type="http://schemas.openxmlformats.org/officeDocument/2006/relationships/notesMaster" Target="/ppt/notesMasters/notesMaster1.xml" Id="R35a7449cdef348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7fc962607c4646" /><Relationship Type="http://schemas.openxmlformats.org/officeDocument/2006/relationships/notesMaster" Target="/ppt/notesMasters/notesMaster1.xml" Id="Rc535a0a7ce2147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a9eeb951794523" /><Relationship Type="http://schemas.openxmlformats.org/officeDocument/2006/relationships/notesMaster" Target="/ppt/notesMasters/notesMaster1.xml" Id="Re684431e63f349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6485d37c5b487c" /><Relationship Type="http://schemas.openxmlformats.org/officeDocument/2006/relationships/notesMaster" Target="/ppt/notesMasters/notesMaster1.xml" Id="R3d1c0098a38949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b406a52d6e457c" /><Relationship Type="http://schemas.openxmlformats.org/officeDocument/2006/relationships/notesMaster" Target="/ppt/notesMasters/notesMaster1.xml" Id="Rba5f8ef91ce44f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1f2a2700204558" /><Relationship Type="http://schemas.openxmlformats.org/officeDocument/2006/relationships/notesMaster" Target="/ppt/notesMasters/notesMaster1.xml" Id="R640854bdbdf3491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0ffa2c4a74e40de" /><Relationship Type="http://schemas.openxmlformats.org/officeDocument/2006/relationships/notesMaster" Target="/ppt/notesMasters/notesMaster1.xml" Id="Rf38d433d170846b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cc425a10a64189" /><Relationship Type="http://schemas.openxmlformats.org/officeDocument/2006/relationships/notesMaster" Target="/ppt/notesMasters/notesMaster1.xml" Id="R492f72cd8297471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499ad7dada4485f" /><Relationship Type="http://schemas.openxmlformats.org/officeDocument/2006/relationships/notesMaster" Target="/ppt/notesMasters/notesMaster1.xml" Id="R622d041cbb1b40f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535881bcc1d4fe7" /><Relationship Type="http://schemas.openxmlformats.org/officeDocument/2006/relationships/notesMaster" Target="/ppt/notesMasters/notesMaster1.xml" Id="Rd9334e4dd9f6428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1c92edb77c432c" /><Relationship Type="http://schemas.openxmlformats.org/officeDocument/2006/relationships/notesMaster" Target="/ppt/notesMasters/notesMaster1.xml" Id="Rfae52fd5d8c0442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ada08a820ad4dfb" /><Relationship Type="http://schemas.openxmlformats.org/officeDocument/2006/relationships/notesMaster" Target="/ppt/notesMasters/notesMaster1.xml" Id="R577616bf788148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9bfc81dbe6b42af" /><Relationship Type="http://schemas.openxmlformats.org/officeDocument/2006/relationships/notesMaster" Target="/ppt/notesMasters/notesMaster1.xml" Id="R2370840af919478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d151321aff544d4" /><Relationship Type="http://schemas.openxmlformats.org/officeDocument/2006/relationships/notesMaster" Target="/ppt/notesMasters/notesMaster1.xml" Id="R4bebc9ec47c749e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be1f0d688a4556" /><Relationship Type="http://schemas.openxmlformats.org/officeDocument/2006/relationships/notesMaster" Target="/ppt/notesMasters/notesMaster1.xml" Id="R75bd3d4be58341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Homepedia transforme des données publiques hétérogènes en indicateurs lisibles pour comparer le marché immobilier français. La promesse est simple : partir des transactions DVF, les enrichir avec l’INSEE, puis rendre les résultats explorables sans masquer les limites du prototype.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docs/preparation/PROJECT_ANALYSIS.md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ne gère ni annonces ni transactions opérationnelles. Il transforme des données en information comparable. L’utilisateur peut explorer le marché, comparer des territoires et remettre le prix au mètre carré dans un contexte socio-économique.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docs/preparation/PROJECT_ANALYSIS.md — sections 2 et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sépare volontairement les sources. Les fichiers INSEE socio-économiques alimentent le batch. Une page HTML distincte fournit des indices trimestriels et elle est interrogée périodiquement. Collecter toutes les cinq minutes ne rend pas la publication elle-même temps réel.</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src/backend/ingest_insee_*.py</a:t>
            </a:r>
          </a:p>
          <a:p xmlns:a="http://schemas.openxmlformats.org/drawingml/2006/main">
            <a:r>
              <a:t>- src/realtime_price/config.py</a:t>
            </a:r>
          </a:p>
          <a:p xmlns:a="http://schemas.openxmlformats.org/drawingml/2006/main">
            <a:r>
              <a:t>- src/realtime_price/insee_scraper.py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pipeline principal est batch : ingestion, nettoyage, stockage, pré-agrégation puis visualisation. Spark n’est pas placé partout ; il intervient sur le volume DVF pour produire une petite sortie départementale. L’interface combine ensuite données détaillées, agrégats, Parquet et géographie.</a:t>
            </a:r>
          </a:p>
          <a:p xmlns:a="http://schemas.openxmlformats.org/drawingml/2006/main">
            <a:r>
              <a:t/>
            </a:r>
          </a:p>
          <a:p xmlns:a="http://schemas.openxmlformats.org/drawingml/2006/main">
            <a:r>
              <a:t>[Sources]</a:t>
            </a:r>
          </a:p>
          <a:p xmlns:a="http://schemas.openxmlformats.org/drawingml/2006/main">
            <a:r>
              <a:t>- docs/preparation/ARCHITECTURE.md</a:t>
            </a:r>
          </a:p>
          <a:p xmlns:a="http://schemas.openxmlformats.org/drawingml/2006/main">
            <a:r>
              <a:t>- src/backend/spark_dvf_analysis.py</a:t>
            </a:r>
          </a:p>
          <a:p xmlns:a="http://schemas.openxmlformats.org/drawingml/2006/main">
            <a:r>
              <a:t>- src/app/streamlit_app.py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pile n’est pas une liste décorative. pandas traite les fichiers et les petits jeux, PySpark calcule l’agrégat DVF, sqlite3 et SQLAlchemy servent le stockage, PyMongo gère les collections documentaires, Streamlit expose l’analyse, et les bibliothèques géographiques et graphiques construisent les visualisations.</a:t>
            </a:r>
          </a:p>
          <a:p xmlns:a="http://schemas.openxmlformats.org/drawingml/2006/main">
            <a:r>
              <a:t/>
            </a:r>
          </a:p>
          <a:p xmlns:a="http://schemas.openxmlformats.org/drawingml/2006/main">
            <a:r>
              <a:t>[Sources]</a:t>
            </a:r>
          </a:p>
          <a:p xmlns:a="http://schemas.openxmlformats.org/drawingml/2006/main">
            <a:r>
              <a:t>- requirements.txt</a:t>
            </a:r>
          </a:p>
          <a:p xmlns:a="http://schemas.openxmlformats.org/drawingml/2006/main">
            <a:r>
              <a:t>- src/backend/</a:t>
            </a:r>
          </a:p>
          <a:p xmlns:a="http://schemas.openxmlformats.org/drawingml/2006/main">
            <a:r>
              <a:t>- src/realtime_price/</a:t>
            </a:r>
          </a:p>
          <a:p xmlns:a="http://schemas.openxmlformats.org/drawingml/2006/main">
            <a:r>
              <a:t>- src/app/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script lit le fichier DVF séparé par une barre verticale, normalise les noms de colonnes avec NFKD et ASCII, convertit les dates et les nombres, conserve huit colonnes utiles, dédoublonne et filtre. Le CSV traité devient ensuite l’entrée commune du chargement et de Spark.</a:t>
            </a:r>
          </a:p>
          <a:p xmlns:a="http://schemas.openxmlformats.org/drawingml/2006/main">
            <a:r>
              <a:t/>
            </a:r>
          </a:p>
          <a:p xmlns:a="http://schemas.openxmlformats.org/drawingml/2006/main">
            <a:r>
              <a:t>[Sources]</a:t>
            </a:r>
          </a:p>
          <a:p xmlns:a="http://schemas.openxmlformats.org/drawingml/2006/main">
            <a:r>
              <a:t>- src/backend/ingest_valeursfoncieres.py</a:t>
            </a:r>
          </a:p>
          <a:p xmlns:a="http://schemas.openxmlformats.org/drawingml/2006/main">
            <a:r>
              <a:t>- src/backend/load_to_sqlite.py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fichiers INSEE ne suivent pas tous le même schéma. Chaque script filtre sa mesure et sa période, normalise le code département, puis calcule l’agrégat adapté. Les codes sont conservés en chaînes pour préserver les zéros initiaux, la Corse et les DOM.</a:t>
            </a:r>
          </a:p>
          <a:p xmlns:a="http://schemas.openxmlformats.org/drawingml/2006/main">
            <a:r>
              <a:t/>
            </a:r>
          </a:p>
          <a:p xmlns:a="http://schemas.openxmlformats.org/drawingml/2006/main">
            <a:r>
              <a:t>[Sources]</a:t>
            </a:r>
          </a:p>
          <a:p xmlns:a="http://schemas.openxmlformats.org/drawingml/2006/main">
            <a:r>
              <a:t>- src/backend/ingest_insee_population.py</a:t>
            </a:r>
          </a:p>
          <a:p xmlns:a="http://schemas.openxmlformats.org/drawingml/2006/main">
            <a:r>
              <a:t>- src/backend/ingest_insee_income.py</a:t>
            </a:r>
          </a:p>
          <a:p xmlns:a="http://schemas.openxmlformats.org/drawingml/2006/main">
            <a:r>
              <a:t>- src/backend/ingest_insee_unemployment.py</a:t>
            </a:r>
          </a:p>
          <a:p xmlns:a="http://schemas.openxmlformats.org/drawingml/2006/main">
            <a:r>
              <a:t>- src/backend/ingest_insee_poverty.py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CSV reste utile pour l’échange, mais il est coûteux à scanner. Parquet apporte typage, compression et projection de colonnes. SQLite sert l’application locale avec des index. GeoJSON transporte les géométries. Le choix dépend donc du volume et du type de lecture.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scripts/csv_to_parquet.py</a:t>
            </a:r>
          </a:p>
          <a:p xmlns:a="http://schemas.openxmlformats.org/drawingml/2006/main">
            <a:r>
              <a:t>- src/app/streamlit_app.py</a:t>
            </a:r>
          </a:p>
          <a:p xmlns:a="http://schemas.openxmlformats.org/drawingml/2006/main">
            <a:r>
              <a:t>- docs/preparation/ARCHITECTURE.md —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nettoyage normalise les colonnes, les dates et les codes postaux, retire les doublons exacts, exclut les mutations symboliques et contrôle les surfaces avant le calcul. Le chargement est rejouable grâce au remplacement contrôlé. La preuve à retenir est le résultat final : 1 884 593 transactions uniques.</a:t>
            </a:r>
          </a:p>
          <a:p xmlns:a="http://schemas.openxmlformats.org/drawingml/2006/main">
            <a:r>
              <a:t/>
            </a:r>
          </a:p>
          <a:p xmlns:a="http://schemas.openxmlformats.org/drawingml/2006/main">
            <a:r>
              <a:t>[Sources]</a:t>
            </a:r>
          </a:p>
          <a:p xmlns:a="http://schemas.openxmlformats.org/drawingml/2006/main">
            <a:r>
              <a:t>- src/backend/ingest_valeursfoncieres.py</a:t>
            </a:r>
          </a:p>
          <a:p xmlns:a="http://schemas.openxmlformats.org/drawingml/2006/main">
            <a:r>
              <a:t>- src/backend/spark_dvf_analysis.py</a:t>
            </a:r>
          </a:p>
          <a:p xmlns:a="http://schemas.openxmlformats.org/drawingml/2006/main">
            <a:r>
              <a:t>- docs/DATA_CONTRACT.md</a:t>
            </a:r>
          </a:p>
          <a:p xmlns:a="http://schemas.openxmlformats.org/drawingml/2006/main">
            <a:r>
              <a:t>- docs/preparation/PROJECT_ANALYSIS.md — consolidation du 22 août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contrat commun documente les tables, les clés géographiques et les mesures. Il aligne les consommateurs et évite les divergences historiques entre code, base et outils BI. Il ne remplace pas les migrations versionnées ni les tests de contrat.</a:t>
            </a:r>
          </a:p>
          <a:p xmlns:a="http://schemas.openxmlformats.org/drawingml/2006/main">
            <a:r>
              <a:t/>
            </a:r>
          </a:p>
          <a:p xmlns:a="http://schemas.openxmlformats.org/drawingml/2006/main">
            <a:r>
              <a:t>[Sources]</a:t>
            </a:r>
          </a:p>
          <a:p xmlns:a="http://schemas.openxmlformats.org/drawingml/2006/main">
            <a:r>
              <a:t>- docs/DATA_CONTRACT.md</a:t>
            </a:r>
          </a:p>
          <a:p xmlns:a="http://schemas.openxmlformats.org/drawingml/2006/main">
            <a:r>
              <a:t>- docs/preparation/PROJECT_ANALYSIS.md — sections 10 et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cluster Spark est réel : un master et deux workers Docker. Il reste cependant sur une seule machine physique. Le job convertit les types, filtre les valeurs invalides, calcule le prix au mètre carré et agrège par département. `toPandas()` n’est utilisé qu’après réduction à 94 lignes.</a:t>
            </a:r>
          </a:p>
          <a:p xmlns:a="http://schemas.openxmlformats.org/drawingml/2006/main">
            <a:r>
              <a:t/>
            </a:r>
          </a:p>
          <a:p xmlns:a="http://schemas.openxmlformats.org/drawingml/2006/main">
            <a:r>
              <a:t>[Sources]</a:t>
            </a:r>
          </a:p>
          <a:p xmlns:a="http://schemas.openxmlformats.org/drawingml/2006/main">
            <a:r>
              <a:t>- infra/docker-compose.yml</a:t>
            </a:r>
          </a:p>
          <a:p xmlns:a="http://schemas.openxmlformats.org/drawingml/2006/main">
            <a:r>
              <a:t>- src/backend/spark_dvf_analysis.py</a:t>
            </a:r>
          </a:p>
          <a:p xmlns:a="http://schemas.openxmlformats.org/drawingml/2006/main">
            <a:r>
              <a:t>- docs/preparation/ARCHITECTURE.md —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spark-submit soumet le programme au master. Le driver construit le plan d’exécution et coordonne les tâches distribuées aux workers. Les transformations Spark sont paresseuses ; une action comme toPandas déclenche le calcul. Ici la collecte reste sûre car elle intervient après l’agrégation.</a:t>
            </a:r>
          </a:p>
          <a:p xmlns:a="http://schemas.openxmlformats.org/drawingml/2006/main">
            <a:r>
              <a:t/>
            </a:r>
          </a:p>
          <a:p xmlns:a="http://schemas.openxmlformats.org/drawingml/2006/main">
            <a:r>
              <a:t>[Sources]</a:t>
            </a:r>
          </a:p>
          <a:p xmlns:a="http://schemas.openxmlformats.org/drawingml/2006/main">
            <a:r>
              <a:t>- infra/docker-compose.yml</a:t>
            </a:r>
          </a:p>
          <a:p xmlns:a="http://schemas.openxmlformats.org/drawingml/2006/main">
            <a:r>
              <a:t>- src/backend/spark_dvf_analysis.py</a:t>
            </a:r>
          </a:p>
          <a:p xmlns:a="http://schemas.openxmlformats.org/drawingml/2006/main">
            <a:r>
              <a:t>- docs/preparation/STUDY_PLAN.md — jour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L’agrégation régionale ne relit pas 1,88 million de transactions. Elle part des 94 résultats départementaux, les joint au référentiel département-région, pondère le prix par le nombre de transactions puis fusionne les indicateurs socio-économiques.</a:t>
            </a:r>
          </a:p>
          <a:p xmlns:a="http://schemas.openxmlformats.org/drawingml/2006/main">
            <a:r>
              <a:t/>
            </a:r>
          </a:p>
          <a:p xmlns:a="http://schemas.openxmlformats.org/drawingml/2006/main">
            <a:r>
              <a:t>[Sources]</a:t>
            </a:r>
          </a:p>
          <a:p xmlns:a="http://schemas.openxmlformats.org/drawingml/2006/main">
            <a:r>
              <a:t>- src/backend/aggregate_by_region.py</a:t>
            </a:r>
          </a:p>
          <a:p xmlns:a="http://schemas.openxmlformats.org/drawingml/2006/main">
            <a:r>
              <a:t>- docs/preparation/ARCHITECTURE.md — mise à jour technique du 21 août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sert directement l’interface et reste adapté à un prototype local. Deux fichiers séparent l’analytique des écritures périodiques. MongoDB garde notamment le brut, les observations et le dernier état, avec des index uniques. Le contrat canonique français aligne SQLite, MongoDB, Streamlit et Metabase.</a:t>
            </a:r>
          </a:p>
          <a:p xmlns:a="http://schemas.openxmlformats.org/drawingml/2006/main">
            <a:r>
              <a:t/>
            </a:r>
          </a:p>
          <a:p xmlns:a="http://schemas.openxmlformats.org/drawingml/2006/main">
            <a:r>
              <a:t>[Sources]</a:t>
            </a:r>
          </a:p>
          <a:p xmlns:a="http://schemas.openxmlformats.org/drawingml/2006/main">
            <a:r>
              <a:t>- docs/DATA_CONTRACT.md</a:t>
            </a:r>
          </a:p>
          <a:p xmlns:a="http://schemas.openxmlformats.org/drawingml/2006/main">
            <a:r>
              <a:t>- src/app/db/sqlite_reader.py</a:t>
            </a:r>
          </a:p>
          <a:p xmlns:a="http://schemas.openxmlformats.org/drawingml/2006/main">
            <a:r>
              <a:t>- src/realtime_price/sqlite_store.py</a:t>
            </a:r>
          </a:p>
          <a:p xmlns:a="http://schemas.openxmlformats.org/drawingml/2006/main">
            <a:r>
              <a:t>- src/realtime_price/mongo_store.py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fiabilité SQLite vient de plusieurs choix complémentaires : l’interface ouvre les bases en lecture seule, retente les connexions, configure un busy timeout et le worker active WAL. La séparation des deux bases réduit aussi la concurrence entre le volume DVF et les écritures périodiques.</a:t>
            </a:r>
          </a:p>
          <a:p xmlns:a="http://schemas.openxmlformats.org/drawingml/2006/main">
            <a:r>
              <a:t/>
            </a:r>
          </a:p>
          <a:p xmlns:a="http://schemas.openxmlformats.org/drawingml/2006/main">
            <a:r>
              <a:t>[Sources]</a:t>
            </a:r>
          </a:p>
          <a:p xmlns:a="http://schemas.openxmlformats.org/drawingml/2006/main">
            <a:r>
              <a:t>- src/app/db/sqlite_reader.py</a:t>
            </a:r>
          </a:p>
          <a:p xmlns:a="http://schemas.openxmlformats.org/drawingml/2006/main">
            <a:r>
              <a:t>- src/realtime_price/sqlite_store.py</a:t>
            </a:r>
          </a:p>
          <a:p xmlns:a="http://schemas.openxmlformats.org/drawingml/2006/main">
            <a:r>
              <a:t>- docs/preparation/ARCHITECTURE.md — sections 2 et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MongoDB conserve le brut de chaque run, les observations et le dernier état. Des index uniques protègent les identifiants logiques et les upserts rendent les rejeux idempotents. Mais SQLite et MongoDB sont écrits séquentiellement : il n’existe pas de transaction distribuée.</a:t>
            </a:r>
          </a:p>
          <a:p xmlns:a="http://schemas.openxmlformats.org/drawingml/2006/main">
            <a:r>
              <a:t/>
            </a:r>
          </a:p>
          <a:p xmlns:a="http://schemas.openxmlformats.org/drawingml/2006/main">
            <a:r>
              <a:t>[Sources]</a:t>
            </a:r>
          </a:p>
          <a:p xmlns:a="http://schemas.openxmlformats.org/drawingml/2006/main">
            <a:r>
              <a:t>- src/realtime_price/mongo_store.py</a:t>
            </a:r>
          </a:p>
          <a:p xmlns:a="http://schemas.openxmlformats.org/drawingml/2006/main">
            <a:r>
              <a:t>- src/realtime_price/worker.py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worker interroge une page HTML à intervalle régulier. Ce n’est pas un flux événementiel. Après validation, il met à jour SQLite puis MongoDB ; une panne entre les deux peut donc créer une divergence temporaire. La simulation sert uniquement à rendre une courbe visible en démonstration et reste en mémoire.</a:t>
            </a:r>
          </a:p>
          <a:p xmlns:a="http://schemas.openxmlformats.org/drawingml/2006/main">
            <a:r>
              <a:t/>
            </a:r>
          </a:p>
          <a:p xmlns:a="http://schemas.openxmlformats.org/drawingml/2006/main">
            <a:r>
              <a:t>[Sources]</a:t>
            </a:r>
          </a:p>
          <a:p xmlns:a="http://schemas.openxmlformats.org/drawingml/2006/main">
            <a:r>
              <a:t>- src/realtime_price/config.py</a:t>
            </a:r>
          </a:p>
          <a:p xmlns:a="http://schemas.openxmlformats.org/drawingml/2006/main">
            <a:r>
              <a:t>- src/realtime_price/worker.py</a:t>
            </a:r>
          </a:p>
          <a:p xmlns:a="http://schemas.openxmlformats.org/drawingml/2006/main">
            <a:r>
              <a:t>- src/app/pages/06_Temps_reel_prix.py</a:t>
            </a:r>
          </a:p>
          <a:p xmlns:a="http://schemas.openxmlformats.org/drawingml/2006/main">
            <a:r>
              <a:t>- docs/preparation/INTERVIEW_QUESTIONS.md — L2-Q18 et L3-Q07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worker applique des barrières simples mais robustes sur chaque PricePoint : identifiant, période, valeur et URL. Il met à jour latest, n’ajoute à history qu’en cas de changement et écrit finalement un run avec compteurs et statut, même lorsqu’une erreur survient.</a:t>
            </a:r>
          </a:p>
          <a:p xmlns:a="http://schemas.openxmlformats.org/drawingml/2006/main">
            <a:r>
              <a:t/>
            </a:r>
          </a:p>
          <a:p xmlns:a="http://schemas.openxmlformats.org/drawingml/2006/main">
            <a:r>
              <a:t>[Sources]</a:t>
            </a:r>
          </a:p>
          <a:p xmlns:a="http://schemas.openxmlformats.org/drawingml/2006/main">
            <a:r>
              <a:t>- src/realtime_price/worker.py</a:t>
            </a:r>
          </a:p>
          <a:p xmlns:a="http://schemas.openxmlformats.org/drawingml/2006/main">
            <a:r>
              <a:t>- src/realtime_price/sqlite_store.py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Streamlit applique désormais les mêmes filtres à l’ensemble des vues. Cela évite qu’un KPI, une carte et un export racontent trois périmètres différents. L’application limite les requêtes et met en cache les résultats pour ne pas charger toute la table en mémoire.</a:t>
            </a:r>
          </a:p>
          <a:p xmlns:a="http://schemas.openxmlformats.org/drawingml/2006/main">
            <a:r>
              <a:t/>
            </a:r>
          </a:p>
          <a:p xmlns:a="http://schemas.openxmlformats.org/drawingml/2006/main">
            <a:r>
              <a:t>[Sources]</a:t>
            </a:r>
          </a:p>
          <a:p xmlns:a="http://schemas.openxmlformats.org/drawingml/2006/main">
            <a:r>
              <a:t>- src/app/streamlit_app.py</a:t>
            </a:r>
          </a:p>
          <a:p xmlns:a="http://schemas.openxmlformats.org/drawingml/2006/main">
            <a:r>
              <a:t>- docs/preparation/PROJECT_ANALYSIS.md — consolidation fonctionnelle du 22 août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L’interface ne se limite pas à une carte. Elle propose une vue transactionnelle, une vue Spark, des analyses socio-économiques, une vue régionale, une page méthodologique et une page de collecte périodique. Le même périmètre filtré est réutilisé dans les sorties concernées.</a:t>
            </a:r>
          </a:p>
          <a:p xmlns:a="http://schemas.openxmlformats.org/drawingml/2006/main">
            <a:r>
              <a:t/>
            </a:r>
          </a:p>
          <a:p xmlns:a="http://schemas.openxmlformats.org/drawingml/2006/main">
            <a:r>
              <a:t>[Sources]</a:t>
            </a:r>
          </a:p>
          <a:p xmlns:a="http://schemas.openxmlformats.org/drawingml/2006/main">
            <a:r>
              <a:t>- src/app/streamlit_app.py</a:t>
            </a:r>
          </a:p>
          <a:p xmlns:a="http://schemas.openxmlformats.org/drawingml/2006/main">
            <a:r>
              <a:t>- src/app/pages/06_Temps_reel_prix.py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Compose lance l’application, le worker, MongoDB, Metabase et les services Spark. Les volumes montent les données depuis l’hôte. Cet environnement améliore la portabilité et la démonstration, mais il reste dépendant d’une seule machine et ne remplace pas un orchestrateur de données.</a:t>
            </a:r>
          </a:p>
          <a:p xmlns:a="http://schemas.openxmlformats.org/drawingml/2006/main">
            <a:r>
              <a:t/>
            </a:r>
          </a:p>
          <a:p xmlns:a="http://schemas.openxmlformats.org/drawingml/2006/main">
            <a:r>
              <a:t>[Sources]</a:t>
            </a:r>
          </a:p>
          <a:p xmlns:a="http://schemas.openxmlformats.org/drawingml/2006/main">
            <a:r>
              <a:t>- infra/docker-compose.yml</a:t>
            </a:r>
          </a:p>
          <a:p xmlns:a="http://schemas.openxmlformats.org/drawingml/2006/main">
            <a:r>
              <a:t>- Dockerfile</a:t>
            </a:r>
          </a:p>
          <a:p xmlns:a="http://schemas.openxmlformats.org/drawingml/2006/main">
            <a:r>
              <a:t>- Dockerfile.spark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matrice régionale contient cinq variables. Chaque coefficient mesure séparément une relation entre deux variables ; les coefficients n’ont aucune raison de totaliser un. Une relation peut être influencée par l’agrégation, la temporalité ou des facteurs confondants. Je ne parle donc jamais de causalité.</a:t>
            </a:r>
          </a:p>
          <a:p xmlns:a="http://schemas.openxmlformats.org/drawingml/2006/main">
            <a:r>
              <a:t/>
            </a:r>
          </a:p>
          <a:p xmlns:a="http://schemas.openxmlformats.org/drawingml/2006/main">
            <a:r>
              <a:t>[Sources]</a:t>
            </a:r>
          </a:p>
          <a:p xmlns:a="http://schemas.openxmlformats.org/drawingml/2006/main">
            <a:r>
              <a:t>- src/app/streamlit_app.py</a:t>
            </a:r>
          </a:p>
          <a:p xmlns:a="http://schemas.openxmlformats.org/drawingml/2006/main">
            <a:r>
              <a:t>- docs/preparation/INTERVIEW_QUESTIONS.md — L3-Q17 et L4-Q19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trois chiffres résument l’exécution réelle : 1 884 593 transactions uniques, 94 départements et 13 régions, Corse incluse. L’agrégat régional réutilise la sortie départementale et ajoute cinq variables. Les corrélations décrivent des relations indépendantes ; elles ne s’additionnent pas et ne démontrent pas une causalité.</a:t>
            </a:r>
          </a:p>
          <a:p xmlns:a="http://schemas.openxmlformats.org/drawingml/2006/main">
            <a:r>
              <a:t/>
            </a:r>
          </a:p>
          <a:p xmlns:a="http://schemas.openxmlformats.org/drawingml/2006/main">
            <a:r>
              <a:t>[Sources]</a:t>
            </a:r>
          </a:p>
          <a:p xmlns:a="http://schemas.openxmlformats.org/drawingml/2006/main">
            <a:r>
              <a:t>- data/homepedia.db</a:t>
            </a:r>
          </a:p>
          <a:p xmlns:a="http://schemas.openxmlformats.org/drawingml/2006/main">
            <a:r>
              <a:t>- src/backend/aggregate_by_region.py</a:t>
            </a:r>
          </a:p>
          <a:p xmlns:a="http://schemas.openxmlformats.org/drawingml/2006/main">
            <a:r>
              <a:t>- src/app/streamlit_app.py</a:t>
            </a:r>
          </a:p>
          <a:p xmlns:a="http://schemas.openxmlformats.org/drawingml/2006/main">
            <a:r>
              <a:t>- docs/preparation/PROJECT_ANALYSIS.md — consolidation du 22 août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présente ces limites comme des choix de prototype et non comme des défauts cachés. SQLite est très efficace localement mais ne scale pas horizontalement. La double écriture peut diverger. Le HTML peut changer. Enfin, les conteneurs Spark restent sur une seule machine. Chaque limite a une réponse d’évolution proportionnée.</a:t>
            </a:r>
          </a:p>
          <a:p xmlns:a="http://schemas.openxmlformats.org/drawingml/2006/main">
            <a:r>
              <a:t/>
            </a:r>
          </a:p>
          <a:p xmlns:a="http://schemas.openxmlformats.org/drawingml/2006/main">
            <a:r>
              <a:t>[Sources]</a:t>
            </a:r>
          </a:p>
          <a:p xmlns:a="http://schemas.openxmlformats.org/drawingml/2006/main">
            <a:r>
              <a:t>- docs/preparation/ARCHITECTURE.md — sections 10 et 11</a:t>
            </a:r>
          </a:p>
          <a:p xmlns:a="http://schemas.openxmlformats.org/drawingml/2006/main">
            <a:r>
              <a:t>- docs/preparation/PROJECT_ANALYSIS.md — section 10</a:t>
            </a:r>
          </a:p>
          <a:p xmlns:a="http://schemas.openxmlformats.org/drawingml/2006/main">
            <a:r>
              <a:t>- docs/preparation/INTERVIEW_QUESTIONS.md — niveau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Homepedia prouve qu’un prototype local peut couvrir toute la chaîne : acquisition, qualité, calcul distribué, stockage et visualisation. Les résultats sont concrets, les limites sont assumées et les améliorations sont priorisées. Je termine en ouvrant sur les questions du jury.</a:t>
            </a:r>
          </a:p>
          <a:p xmlns:a="http://schemas.openxmlformats.org/drawingml/2006/main">
            <a:r>
              <a:t/>
            </a:r>
          </a:p>
          <a:p xmlns:a="http://schemas.openxmlformats.org/drawingml/2006/main">
            <a:r>
              <a:t>[Sources]</a:t>
            </a:r>
          </a:p>
          <a:p xmlns:a="http://schemas.openxmlformats.org/drawingml/2006/main">
            <a:r>
              <a:t>- docs/preparation/PROJECT_ANALYSIS.md — section 14</a:t>
            </a:r>
          </a:p>
          <a:p xmlns:a="http://schemas.openxmlformats.org/drawingml/2006/main">
            <a:r>
              <a:t>- docs/preparation/ARCHITECTURE.md — section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bf81cbacf744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d80f2ac95d46d7" /><Relationship Type="http://schemas.openxmlformats.org/officeDocument/2006/relationships/slideLayout" Target="/ppt/slideLayouts/slideLayout1.xml" Id="Rdbc8dce584bf4b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c8dce584bf4b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7836d45158443c" /><Relationship Type="http://schemas.openxmlformats.org/officeDocument/2006/relationships/notesSlide" Target="/ppt/notesSlides/notesSlide1.xml" Id="Rdb40e3b2e7084e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aad7a2f2384d72" /><Relationship Type="http://schemas.openxmlformats.org/officeDocument/2006/relationships/notesSlide" Target="/ppt/notesSlides/notesSlide2.xml" Id="R7372d4f39b714e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8068c114754973" /><Relationship Type="http://schemas.openxmlformats.org/officeDocument/2006/relationships/notesSlide" Target="/ppt/notesSlides/notesSlide3.xml" Id="Rc693cdef7b284a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ad41ab82ab459a" /><Relationship Type="http://schemas.openxmlformats.org/officeDocument/2006/relationships/notesSlide" Target="/ppt/notesSlides/notesSlide4.xml" Id="Rf77e2e4b82184e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4d160162494869" /><Relationship Type="http://schemas.openxmlformats.org/officeDocument/2006/relationships/notesSlide" Target="/ppt/notesSlides/notesSlide5.xml" Id="R38719f4bd3e945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afc903bf684b4d" /><Relationship Type="http://schemas.openxmlformats.org/officeDocument/2006/relationships/notesSlide" Target="/ppt/notesSlides/notesSlide6.xml" Id="R984328bd41cd4e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9bdc354987e48e3" /><Relationship Type="http://schemas.openxmlformats.org/officeDocument/2006/relationships/notesSlide" Target="/ppt/notesSlides/notesSlide7.xml" Id="R8fbf24eaba264a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6cb859842749d9" /><Relationship Type="http://schemas.openxmlformats.org/officeDocument/2006/relationships/notesSlide" Target="/ppt/notesSlides/notesSlide8.xml" Id="Rbaeb94461f8048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4618382878d4456" /><Relationship Type="http://schemas.openxmlformats.org/officeDocument/2006/relationships/notesSlide" Target="/ppt/notesSlides/notesSlide9.xml" Id="Rafb6d7e7ce7142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61d7c008094db6" /><Relationship Type="http://schemas.openxmlformats.org/officeDocument/2006/relationships/notesSlide" Target="/ppt/notesSlides/notesSlide10.xml" Id="Rffe34441536b4e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3b0744181cf4675" /><Relationship Type="http://schemas.openxmlformats.org/officeDocument/2006/relationships/notesSlide" Target="/ppt/notesSlides/notesSlide11.xml" Id="R96b388b8fbc74a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3a50a6af9e4440" /><Relationship Type="http://schemas.openxmlformats.org/officeDocument/2006/relationships/notesSlide" Target="/ppt/notesSlides/notesSlide12.xml" Id="Rc836e10df0ac4b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2cbc81145984bf0" /><Relationship Type="http://schemas.openxmlformats.org/officeDocument/2006/relationships/notesSlide" Target="/ppt/notesSlides/notesSlide13.xml" Id="Rfec9d9ca60c945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fad14a3cb1484d" /><Relationship Type="http://schemas.openxmlformats.org/officeDocument/2006/relationships/notesSlide" Target="/ppt/notesSlides/notesSlide14.xml" Id="R33ce075b8a764f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2833e0f1a4c485c" /><Relationship Type="http://schemas.openxmlformats.org/officeDocument/2006/relationships/notesSlide" Target="/ppt/notesSlides/notesSlide15.xml" Id="Rc1c2a0c5d33242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664daa8aa3f41e4" /><Relationship Type="http://schemas.openxmlformats.org/officeDocument/2006/relationships/notesSlide" Target="/ppt/notesSlides/notesSlide16.xml" Id="Rf95aa51b092d47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306935fbf4b448b" /><Relationship Type="http://schemas.openxmlformats.org/officeDocument/2006/relationships/notesSlide" Target="/ppt/notesSlides/notesSlide17.xml" Id="R780fcf488cf445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3aba5cb20784ecd" /><Relationship Type="http://schemas.openxmlformats.org/officeDocument/2006/relationships/notesSlide" Target="/ppt/notesSlides/notesSlide18.xml" Id="R8a6775a994ca485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1da60bdcc324a26" /><Relationship Type="http://schemas.openxmlformats.org/officeDocument/2006/relationships/notesSlide" Target="/ppt/notesSlides/notesSlide19.xml" Id="Rd415eb4cfc2b4e3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fae5193eae74c8a" /><Relationship Type="http://schemas.openxmlformats.org/officeDocument/2006/relationships/notesSlide" Target="/ppt/notesSlides/notesSlide20.xml" Id="R4db1b3cee3bc426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b6617487a8248c8" /><Relationship Type="http://schemas.openxmlformats.org/officeDocument/2006/relationships/notesSlide" Target="/ppt/notesSlides/notesSlide21.xml" Id="R0a0c4072683f4c8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d7efb5059194621" /><Relationship Type="http://schemas.openxmlformats.org/officeDocument/2006/relationships/notesSlide" Target="/ppt/notesSlides/notesSlide22.xml" Id="R91254a1e550f47a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7452636218e438f" /><Relationship Type="http://schemas.openxmlformats.org/officeDocument/2006/relationships/notesSlide" Target="/ppt/notesSlides/notesSlide23.xml" Id="Rb11a8326ddeb4a4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1cb1a279b314371" /><Relationship Type="http://schemas.openxmlformats.org/officeDocument/2006/relationships/notesSlide" Target="/ppt/notesSlides/notesSlide24.xml" Id="R34cd3c241460440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020eb022abf4ea6" /><Relationship Type="http://schemas.openxmlformats.org/officeDocument/2006/relationships/notesSlide" Target="/ppt/notesSlides/notesSlide25.xml" Id="Rf170c8d2d88e4d6f" /></Relationships>
</file>

<file path=ppt/slides/slide1.xml><?xml version="1.0" encoding="utf-8"?>
<p:sld xmlns:p="http://schemas.openxmlformats.org/presentationml/2006/main">
  <p:cSld>
    <p:bg>
      <p:bgPr>
        <a:solidFill xmlns:a="http://schemas.openxmlformats.org/drawingml/2006/main">
          <a:srgbClr val="153D3A"/>
        </a:solidFill>
      </p:bgPr>
    </p:bg>
    <p:spTree>
      <p:nvGrpSpPr>
        <p:cNvPr id="1" name=""/>
        <p:cNvGrpSpPr/>
        <p:nvPr/>
      </p:nvGrpSpPr>
      <p:grpSpPr>
        <a:xfrm xmlns:a="http://schemas.openxmlformats.org/drawingml/2006/main"/>
      </p:grpSpPr>
      <p:sp>
        <p:nvSpPr>
          <p:cNvPr id="10" name="title-sand">
            <a:extLst xmlns:a="http://schemas.openxmlformats.org/drawingml/2006/main">
              <a:ext uri="{FF2B5EF4-FFF2-40B4-BE49-F238E27FC236}">
                <a16:creationId xmlns:a16="http://schemas.microsoft.com/office/drawing/2014/main" id="{A30F3BAF-D275-465E-A7C0-6C292151D5C6}"/>
              </a:ext>
            </a:extLst>
          </p:cNvPr>
          <p:cNvSpPr>
            <a:spLocks xmlns:a="http://schemas.openxmlformats.org/drawingml/2006/main" noGrp="1"/>
          </p:cNvSpPr>
          <p:nvPr/>
        </p:nvSpPr>
        <p:spPr>
          <a:xfrm xmlns:a="http://schemas.openxmlformats.org/drawingml/2006/main">
            <a:off x="7448550" y="0"/>
            <a:ext cx="4743450" cy="6858000"/>
          </a:xfrm>
          <a:prstGeom xmlns:a="http://schemas.openxmlformats.org/drawingml/2006/main" prst="rect">
            <a:avLst/>
          </a:prstGeom>
          <a:solidFill xmlns:a="http://schemas.openxmlformats.org/drawingml/2006/main">
            <a:srgbClr val="E8D9BF"/>
          </a:solidFill>
          <a:ln xmlns:a="http://schemas.openxmlformats.org/drawingml/2006/main" w="11430">
            <a:solidFill>
              <a:srgbClr val="E8D9BF"/>
            </a:solidFill>
            <a:prstDash val="solid"/>
          </a:ln>
        </p:spPr>
      </p:sp>
      <p:sp>
        <p:nvSpPr>
          <p:cNvPr id="2" name="title-green">
            <a:extLst xmlns:a="http://schemas.openxmlformats.org/drawingml/2006/main">
              <a:ext uri="{FF2B5EF4-FFF2-40B4-BE49-F238E27FC236}">
                <a16:creationId xmlns:a16="http://schemas.microsoft.com/office/drawing/2014/main" id="{407CC3C3-A359-42AC-BC7D-00570328AC26}"/>
              </a:ext>
            </a:extLst>
          </p:cNvPr>
          <p:cNvSpPr>
            <a:spLocks xmlns:a="http://schemas.openxmlformats.org/drawingml/2006/main" noGrp="1"/>
          </p:cNvSpPr>
          <p:nvPr/>
        </p:nvSpPr>
        <p:spPr>
          <a:xfrm xmlns:a="http://schemas.openxmlformats.org/drawingml/2006/main">
            <a:off x="8429625" y="990600"/>
            <a:ext cx="2381250" cy="3810000"/>
          </a:xfrm>
          <a:prstGeom xmlns:a="http://schemas.openxmlformats.org/drawingml/2006/main" prst="roundRect">
            <a:avLst>
              <a:gd name="adj" fmla="val 10400"/>
            </a:avLst>
          </a:prstGeom>
          <a:solidFill xmlns:a="http://schemas.openxmlformats.org/drawingml/2006/main">
            <a:srgbClr val="1F6F5F"/>
          </a:solidFill>
          <a:ln xmlns:a="http://schemas.openxmlformats.org/drawingml/2006/main" w="11430">
            <a:solidFill>
              <a:srgbClr val="1F6F5F"/>
            </a:solidFill>
            <a:prstDash val="solid"/>
          </a:ln>
        </p:spPr>
      </p:sp>
      <p:sp>
        <p:nvSpPr>
          <p:cNvPr id="3" name="title-window">
            <a:extLst xmlns:a="http://schemas.openxmlformats.org/drawingml/2006/main">
              <a:ext uri="{FF2B5EF4-FFF2-40B4-BE49-F238E27FC236}">
                <a16:creationId xmlns:a16="http://schemas.microsoft.com/office/drawing/2014/main" id="{98E9E944-6D20-4A43-A76A-35FDAB51454C}"/>
              </a:ext>
            </a:extLst>
          </p:cNvPr>
          <p:cNvSpPr>
            <a:spLocks xmlns:a="http://schemas.openxmlformats.org/drawingml/2006/main" noGrp="1"/>
          </p:cNvSpPr>
          <p:nvPr/>
        </p:nvSpPr>
        <p:spPr>
          <a:xfrm xmlns:a="http://schemas.openxmlformats.org/drawingml/2006/main">
            <a:off x="8886825" y="1466850"/>
            <a:ext cx="1466850" cy="1238250"/>
          </a:xfrm>
          <a:prstGeom xmlns:a="http://schemas.openxmlformats.org/drawingml/2006/main" prst="roundRect">
            <a:avLst>
              <a:gd name="adj" fmla="val 12308"/>
            </a:avLst>
          </a:prstGeom>
          <a:solidFill xmlns:a="http://schemas.openxmlformats.org/drawingml/2006/main">
            <a:srgbClr val="F5F1E8"/>
          </a:solidFill>
          <a:ln xmlns:a="http://schemas.openxmlformats.org/drawingml/2006/main" w="11430">
            <a:solidFill>
              <a:srgbClr val="F5F1E8"/>
            </a:solidFill>
            <a:prstDash val="solid"/>
          </a:ln>
        </p:spPr>
      </p:sp>
      <p:sp>
        <p:nvSpPr>
          <p:cNvPr id="4" name="house-roof">
            <a:extLst xmlns:a="http://schemas.openxmlformats.org/drawingml/2006/main">
              <a:ext uri="{FF2B5EF4-FFF2-40B4-BE49-F238E27FC236}">
                <a16:creationId xmlns:a16="http://schemas.microsoft.com/office/drawing/2014/main" id="{892E4E3A-02E4-4087-A120-11A768BC584F}"/>
              </a:ext>
            </a:extLst>
          </p:cNvPr>
          <p:cNvSpPr>
            <a:spLocks xmlns:a="http://schemas.openxmlformats.org/drawingml/2006/main" noGrp="1"/>
          </p:cNvSpPr>
          <p:nvPr/>
        </p:nvSpPr>
        <p:spPr>
          <a:xfrm xmlns:a="http://schemas.openxmlformats.org/drawingml/2006/main">
            <a:off x="8620125" y="723900"/>
            <a:ext cx="2000250" cy="0"/>
          </a:xfrm>
          <a:prstGeom xmlns:a="http://schemas.openxmlformats.org/drawingml/2006/main" prst="line">
            <a:avLst/>
          </a:prstGeom>
          <a:noFill xmlns:a="http://schemas.openxmlformats.org/drawingml/2006/main"/>
          <a:ln xmlns:a="http://schemas.openxmlformats.org/drawingml/2006/main" w="47625">
            <a:solidFill>
              <a:srgbClr val="FFFFFF"/>
            </a:solidFill>
            <a:prstDash val="solid"/>
          </a:ln>
        </p:spPr>
      </p:sp>
      <p:sp>
        <p:nvSpPr>
          <p:cNvPr id="5" name="brand">
            <a:extLst xmlns:a="http://schemas.openxmlformats.org/drawingml/2006/main">
              <a:ext uri="{FF2B5EF4-FFF2-40B4-BE49-F238E27FC236}">
                <a16:creationId xmlns:a16="http://schemas.microsoft.com/office/drawing/2014/main" id="{B099370A-44EA-408B-9982-DD3CA2D77D2B}"/>
              </a:ext>
            </a:extLst>
          </p:cNvPr>
          <p:cNvSpPr>
            <a:spLocks xmlns:a="http://schemas.openxmlformats.org/drawingml/2006/main" noGrp="1"/>
          </p:cNvSpPr>
          <p:nvPr/>
        </p:nvSpPr>
        <p:spPr>
          <a:xfrm xmlns:a="http://schemas.openxmlformats.org/drawingml/2006/main">
            <a:off x="609600" y="51435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CEDE7"/>
                </a:solidFill>
              </a:defRPr>
            </a:pPr>
            <a:r>
              <a:rPr sz="1125" b="1">
                <a:solidFill>
                  <a:srgbClr val="DCEDE7"/>
                </a:solidFill>
              </a:rPr>
              <a:t>HOMEPEDIA</a:t>
            </a:r>
          </a:p>
        </p:txBody>
      </p:sp>
      <p:sp>
        <p:nvSpPr>
          <p:cNvPr id="6" name="main-title">
            <a:extLst xmlns:a="http://schemas.openxmlformats.org/drawingml/2006/main">
              <a:ext uri="{FF2B5EF4-FFF2-40B4-BE49-F238E27FC236}">
                <a16:creationId xmlns:a16="http://schemas.microsoft.com/office/drawing/2014/main" id="{7B95C8DE-E9F5-45AB-BBB3-CDEA15F574AD}"/>
              </a:ext>
            </a:extLst>
          </p:cNvPr>
          <p:cNvSpPr>
            <a:spLocks xmlns:a="http://schemas.openxmlformats.org/drawingml/2006/main" noGrp="1"/>
          </p:cNvSpPr>
          <p:nvPr/>
        </p:nvSpPr>
        <p:spPr>
          <a:xfrm xmlns:a="http://schemas.openxmlformats.org/drawingml/2006/main">
            <a:off x="609600" y="1676400"/>
            <a:ext cx="619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Lire le marché immobilier français par la donnée</a:t>
            </a:r>
          </a:p>
        </p:txBody>
      </p:sp>
      <p:sp>
        <p:nvSpPr>
          <p:cNvPr id="7" name="subtitle">
            <a:extLst xmlns:a="http://schemas.openxmlformats.org/drawingml/2006/main">
              <a:ext uri="{FF2B5EF4-FFF2-40B4-BE49-F238E27FC236}">
                <a16:creationId xmlns:a16="http://schemas.microsoft.com/office/drawing/2014/main" id="{BE435E5A-1F0B-4075-B245-88C7C7C4BAA3}"/>
              </a:ext>
            </a:extLst>
          </p:cNvPr>
          <p:cNvSpPr>
            <a:spLocks xmlns:a="http://schemas.openxmlformats.org/drawingml/2006/main" noGrp="1"/>
          </p:cNvSpPr>
          <p:nvPr/>
        </p:nvSpPr>
        <p:spPr>
          <a:xfrm xmlns:a="http://schemas.openxmlformats.org/drawingml/2006/main">
            <a:off x="609600" y="371475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DCEDE7"/>
                </a:solidFill>
              </a:defRPr>
            </a:pPr>
            <a:r>
              <a:rPr sz="1875" b="0">
                <a:solidFill>
                  <a:srgbClr val="DCEDE7"/>
                </a:solidFill>
              </a:rPr>
              <a:t>DVF + INSEE · pipeline local · analyses territoriales</a:t>
            </a:r>
          </a:p>
        </p:txBody>
      </p:sp>
      <p:sp>
        <p:nvSpPr>
          <p:cNvPr id="8" name="proof">
            <a:extLst xmlns:a="http://schemas.openxmlformats.org/drawingml/2006/main">
              <a:ext uri="{FF2B5EF4-FFF2-40B4-BE49-F238E27FC236}">
                <a16:creationId xmlns:a16="http://schemas.microsoft.com/office/drawing/2014/main" id="{5D661020-D281-4930-BC13-47ABE3698678}"/>
              </a:ext>
            </a:extLst>
          </p:cNvPr>
          <p:cNvSpPr>
            <a:spLocks xmlns:a="http://schemas.openxmlformats.org/drawingml/2006/main" noGrp="1"/>
          </p:cNvSpPr>
          <p:nvPr/>
        </p:nvSpPr>
        <p:spPr>
          <a:xfrm xmlns:a="http://schemas.openxmlformats.org/drawingml/2006/main">
            <a:off x="609600" y="53149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1 884 593 transactions uniques</a:t>
            </a:r>
          </a:p>
        </p:txBody>
      </p:sp>
      <p:sp>
        <p:nvSpPr>
          <p:cNvPr id="9" name="proof-caption">
            <a:extLst xmlns:a="http://schemas.openxmlformats.org/drawingml/2006/main">
              <a:ext uri="{FF2B5EF4-FFF2-40B4-BE49-F238E27FC236}">
                <a16:creationId xmlns:a16="http://schemas.microsoft.com/office/drawing/2014/main" id="{96017FD7-952B-4B29-A1D4-E832558086BD}"/>
              </a:ext>
            </a:extLst>
          </p:cNvPr>
          <p:cNvSpPr>
            <a:spLocks xmlns:a="http://schemas.openxmlformats.org/drawingml/2006/main" noGrp="1"/>
          </p:cNvSpPr>
          <p:nvPr/>
        </p:nvSpPr>
        <p:spPr>
          <a:xfrm xmlns:a="http://schemas.openxmlformats.org/drawingml/2006/main">
            <a:off x="609600" y="58483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DCEDE7"/>
                </a:solidFill>
              </a:defRPr>
            </a:pPr>
            <a:r>
              <a:rPr sz="1275" b="0">
                <a:solidFill>
                  <a:srgbClr val="DCEDE7"/>
                </a:solidFill>
              </a:rPr>
              <a:t>Prototype analytique Homepedia — soutenance finale</a:t>
            </a:r>
          </a:p>
        </p:txBody>
      </p:sp>
    </p:spTree>
    <p:extLst>
      <p:ext uri="{BB962C8B-B14F-4D97-AF65-F5344CB8AC3E}">
        <p14:creationId xmlns:p14="http://schemas.microsoft.com/office/powerpoint/2010/main" val="1566535568"/>
      </p:ext>
    </p:extLst>
  </p:cSld>
</p:sld>
</file>

<file path=ppt/slides/slide2.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1" name="kicker-2">
            <a:extLst xmlns:a="http://schemas.openxmlformats.org/drawingml/2006/main">
              <a:ext uri="{FF2B5EF4-FFF2-40B4-BE49-F238E27FC236}">
                <a16:creationId xmlns:a16="http://schemas.microsoft.com/office/drawing/2014/main" id="{4788C894-72FA-4D18-8DB3-73EB25865196}"/>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LE PROBLÈME</a:t>
            </a:r>
          </a:p>
        </p:txBody>
      </p:sp>
      <p:sp>
        <p:nvSpPr>
          <p:cNvPr id="2" name="title-2">
            <a:extLst xmlns:a="http://schemas.openxmlformats.org/drawingml/2006/main">
              <a:ext uri="{FF2B5EF4-FFF2-40B4-BE49-F238E27FC236}">
                <a16:creationId xmlns:a16="http://schemas.microsoft.com/office/drawing/2014/main" id="{901BC467-8209-4360-A67D-F3E42EC8B5C1}"/>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Des données publiques riches, mais difficiles à comparer</a:t>
            </a:r>
          </a:p>
        </p:txBody>
      </p:sp>
      <p:sp>
        <p:nvSpPr>
          <p:cNvPr id="3" name="rule-2">
            <a:extLst xmlns:a="http://schemas.openxmlformats.org/drawingml/2006/main">
              <a:ext uri="{FF2B5EF4-FFF2-40B4-BE49-F238E27FC236}">
                <a16:creationId xmlns:a16="http://schemas.microsoft.com/office/drawing/2014/main" id="{B3B4BF2F-5530-4709-8413-9E76CFD96D2A}"/>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2">
            <a:extLst xmlns:a="http://schemas.openxmlformats.org/drawingml/2006/main">
              <a:ext uri="{FF2B5EF4-FFF2-40B4-BE49-F238E27FC236}">
                <a16:creationId xmlns:a16="http://schemas.microsoft.com/office/drawing/2014/main" id="{83808FBF-0C0D-4FD7-8F9E-5806B2383964}"/>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02</a:t>
            </a:r>
          </a:p>
        </p:txBody>
      </p:sp>
      <p:sp>
        <p:nvSpPr>
          <p:cNvPr id="5" name="problem-lead">
            <a:extLst xmlns:a="http://schemas.openxmlformats.org/drawingml/2006/main">
              <a:ext uri="{FF2B5EF4-FFF2-40B4-BE49-F238E27FC236}">
                <a16:creationId xmlns:a16="http://schemas.microsoft.com/office/drawing/2014/main" id="{F879F895-9AFF-4534-A6F5-2A7E397A613B}"/>
              </a:ext>
            </a:extLst>
          </p:cNvPr>
          <p:cNvSpPr>
            <a:spLocks xmlns:a="http://schemas.openxmlformats.org/drawingml/2006/main" noGrp="1"/>
          </p:cNvSpPr>
          <p:nvPr/>
        </p:nvSpPr>
        <p:spPr>
          <a:xfrm xmlns:a="http://schemas.openxmlformats.org/drawingml/2006/main">
            <a:off x="609600" y="1562100"/>
            <a:ext cx="619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02A2A"/>
                </a:solidFill>
              </a:defRPr>
            </a:pPr>
            <a:r>
              <a:rPr sz="2100" b="1">
                <a:solidFill>
                  <a:srgbClr val="102A2A"/>
                </a:solidFill>
              </a:rPr>
              <a:t>Une transaction brute ne répond pas seule à une question territoriale.</a:t>
            </a:r>
          </a:p>
        </p:txBody>
      </p:sp>
      <p:sp>
        <p:nvSpPr>
          <p:cNvPr id="6" name="step-num-0">
            <a:extLst xmlns:a="http://schemas.openxmlformats.org/drawingml/2006/main">
              <a:ext uri="{FF2B5EF4-FFF2-40B4-BE49-F238E27FC236}">
                <a16:creationId xmlns:a16="http://schemas.microsoft.com/office/drawing/2014/main" id="{973F5A69-0E3A-4E57-91F7-887D4BD19A38}"/>
              </a:ext>
            </a:extLst>
          </p:cNvPr>
          <p:cNvSpPr>
            <a:spLocks xmlns:a="http://schemas.openxmlformats.org/drawingml/2006/main" noGrp="1"/>
          </p:cNvSpPr>
          <p:nvPr/>
        </p:nvSpPr>
        <p:spPr>
          <a:xfrm xmlns:a="http://schemas.openxmlformats.org/drawingml/2006/main">
            <a:off x="647700" y="25527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66B4D"/>
                </a:solidFill>
              </a:defRPr>
            </a:pPr>
            <a:r>
              <a:rPr sz="1350" b="1">
                <a:solidFill>
                  <a:srgbClr val="D66B4D"/>
                </a:solidFill>
              </a:rPr>
              <a:t>01</a:t>
            </a:r>
          </a:p>
        </p:txBody>
      </p:sp>
      <p:sp>
        <p:nvSpPr>
          <p:cNvPr id="7" name="step-h-0">
            <a:extLst xmlns:a="http://schemas.openxmlformats.org/drawingml/2006/main">
              <a:ext uri="{FF2B5EF4-FFF2-40B4-BE49-F238E27FC236}">
                <a16:creationId xmlns:a16="http://schemas.microsoft.com/office/drawing/2014/main" id="{963F3D55-EF5A-467E-9674-9BDEC331DC92}"/>
              </a:ext>
            </a:extLst>
          </p:cNvPr>
          <p:cNvSpPr>
            <a:spLocks xmlns:a="http://schemas.openxmlformats.org/drawingml/2006/main" noGrp="1"/>
          </p:cNvSpPr>
          <p:nvPr/>
        </p:nvSpPr>
        <p:spPr>
          <a:xfrm xmlns:a="http://schemas.openxmlformats.org/drawingml/2006/main">
            <a:off x="1381125" y="2514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Explorer</a:t>
            </a:r>
          </a:p>
        </p:txBody>
      </p:sp>
      <p:sp>
        <p:nvSpPr>
          <p:cNvPr id="8" name="step-b-0">
            <a:extLst xmlns:a="http://schemas.openxmlformats.org/drawingml/2006/main">
              <a:ext uri="{FF2B5EF4-FFF2-40B4-BE49-F238E27FC236}">
                <a16:creationId xmlns:a16="http://schemas.microsoft.com/office/drawing/2014/main" id="{81F401F6-E19E-42F1-B53D-5C201FF15C82}"/>
              </a:ext>
            </a:extLst>
          </p:cNvPr>
          <p:cNvSpPr>
            <a:spLocks xmlns:a="http://schemas.openxmlformats.org/drawingml/2006/main" noGrp="1"/>
          </p:cNvSpPr>
          <p:nvPr/>
        </p:nvSpPr>
        <p:spPr>
          <a:xfrm xmlns:a="http://schemas.openxmlformats.org/drawingml/2006/main">
            <a:off x="3381375" y="25336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2706D"/>
                </a:solidFill>
              </a:defRPr>
            </a:pPr>
            <a:r>
              <a:rPr sz="1425" b="0">
                <a:solidFill>
                  <a:srgbClr val="62706D"/>
                </a:solidFill>
              </a:rPr>
              <a:t>prix, types de biens, périodes et territoires</a:t>
            </a:r>
          </a:p>
        </p:txBody>
      </p:sp>
      <p:sp>
        <p:nvSpPr>
          <p:cNvPr id="9" name="step-line-0">
            <a:extLst xmlns:a="http://schemas.openxmlformats.org/drawingml/2006/main">
              <a:ext uri="{FF2B5EF4-FFF2-40B4-BE49-F238E27FC236}">
                <a16:creationId xmlns:a16="http://schemas.microsoft.com/office/drawing/2014/main" id="{A75E8650-7D2E-4BEC-8704-AA0B83D19A34}"/>
              </a:ext>
            </a:extLst>
          </p:cNvPr>
          <p:cNvSpPr>
            <a:spLocks xmlns:a="http://schemas.openxmlformats.org/drawingml/2006/main" noGrp="1"/>
          </p:cNvSpPr>
          <p:nvPr/>
        </p:nvSpPr>
        <p:spPr>
          <a:xfrm xmlns:a="http://schemas.openxmlformats.org/drawingml/2006/main">
            <a:off x="1381125" y="3105150"/>
            <a:ext cx="5619750" cy="0"/>
          </a:xfrm>
          <a:prstGeom xmlns:a="http://schemas.openxmlformats.org/drawingml/2006/main" prst="line">
            <a:avLst/>
          </a:prstGeom>
          <a:noFill xmlns:a="http://schemas.openxmlformats.org/drawingml/2006/main"/>
          <a:ln xmlns:a="http://schemas.openxmlformats.org/drawingml/2006/main" w="9525">
            <a:solidFill>
              <a:srgbClr val="C8D5D1"/>
            </a:solidFill>
            <a:prstDash val="solid"/>
          </a:ln>
        </p:spPr>
      </p:sp>
      <p:sp>
        <p:nvSpPr>
          <p:cNvPr id="10" name="step-num-1">
            <a:extLst xmlns:a="http://schemas.openxmlformats.org/drawingml/2006/main">
              <a:ext uri="{FF2B5EF4-FFF2-40B4-BE49-F238E27FC236}">
                <a16:creationId xmlns:a16="http://schemas.microsoft.com/office/drawing/2014/main" id="{255732FE-9650-4130-A8D6-90DFFE32AC13}"/>
              </a:ext>
            </a:extLst>
          </p:cNvPr>
          <p:cNvSpPr>
            <a:spLocks xmlns:a="http://schemas.openxmlformats.org/drawingml/2006/main" noGrp="1"/>
          </p:cNvSpPr>
          <p:nvPr/>
        </p:nvSpPr>
        <p:spPr>
          <a:xfrm xmlns:a="http://schemas.openxmlformats.org/drawingml/2006/main">
            <a:off x="647700" y="36576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66B4D"/>
                </a:solidFill>
              </a:defRPr>
            </a:pPr>
            <a:r>
              <a:rPr sz="1350" b="1">
                <a:solidFill>
                  <a:srgbClr val="D66B4D"/>
                </a:solidFill>
              </a:rPr>
              <a:t>02</a:t>
            </a:r>
          </a:p>
        </p:txBody>
      </p:sp>
      <p:sp>
        <p:nvSpPr>
          <p:cNvPr id="11" name="step-h-1">
            <a:extLst xmlns:a="http://schemas.openxmlformats.org/drawingml/2006/main">
              <a:ext uri="{FF2B5EF4-FFF2-40B4-BE49-F238E27FC236}">
                <a16:creationId xmlns:a16="http://schemas.microsoft.com/office/drawing/2014/main" id="{9436D260-D9AB-4391-A695-B34F48367F68}"/>
              </a:ext>
            </a:extLst>
          </p:cNvPr>
          <p:cNvSpPr>
            <a:spLocks xmlns:a="http://schemas.openxmlformats.org/drawingml/2006/main" noGrp="1"/>
          </p:cNvSpPr>
          <p:nvPr/>
        </p:nvSpPr>
        <p:spPr>
          <a:xfrm xmlns:a="http://schemas.openxmlformats.org/drawingml/2006/main">
            <a:off x="1381125" y="36195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Comparer</a:t>
            </a:r>
          </a:p>
        </p:txBody>
      </p:sp>
      <p:sp>
        <p:nvSpPr>
          <p:cNvPr id="12" name="step-b-1">
            <a:extLst xmlns:a="http://schemas.openxmlformats.org/drawingml/2006/main">
              <a:ext uri="{FF2B5EF4-FFF2-40B4-BE49-F238E27FC236}">
                <a16:creationId xmlns:a16="http://schemas.microsoft.com/office/drawing/2014/main" id="{ED8045FC-D7C6-4E5C-824B-B42B17263363}"/>
              </a:ext>
            </a:extLst>
          </p:cNvPr>
          <p:cNvSpPr>
            <a:spLocks xmlns:a="http://schemas.openxmlformats.org/drawingml/2006/main" noGrp="1"/>
          </p:cNvSpPr>
          <p:nvPr/>
        </p:nvSpPr>
        <p:spPr>
          <a:xfrm xmlns:a="http://schemas.openxmlformats.org/drawingml/2006/main">
            <a:off x="3381375" y="36385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2706D"/>
                </a:solidFill>
              </a:defRPr>
            </a:pPr>
            <a:r>
              <a:rPr sz="1425" b="0">
                <a:solidFill>
                  <a:srgbClr val="62706D"/>
                </a:solidFill>
              </a:rPr>
              <a:t>départements et régions avec un même périmètre</a:t>
            </a:r>
          </a:p>
        </p:txBody>
      </p:sp>
      <p:sp>
        <p:nvSpPr>
          <p:cNvPr id="13" name="step-line-1">
            <a:extLst xmlns:a="http://schemas.openxmlformats.org/drawingml/2006/main">
              <a:ext uri="{FF2B5EF4-FFF2-40B4-BE49-F238E27FC236}">
                <a16:creationId xmlns:a16="http://schemas.microsoft.com/office/drawing/2014/main" id="{C42CD76D-234E-47F3-8689-D21FAD79C6C4}"/>
              </a:ext>
            </a:extLst>
          </p:cNvPr>
          <p:cNvSpPr>
            <a:spLocks xmlns:a="http://schemas.openxmlformats.org/drawingml/2006/main" noGrp="1"/>
          </p:cNvSpPr>
          <p:nvPr/>
        </p:nvSpPr>
        <p:spPr>
          <a:xfrm xmlns:a="http://schemas.openxmlformats.org/drawingml/2006/main">
            <a:off x="1381125" y="4210050"/>
            <a:ext cx="5619750" cy="0"/>
          </a:xfrm>
          <a:prstGeom xmlns:a="http://schemas.openxmlformats.org/drawingml/2006/main" prst="line">
            <a:avLst/>
          </a:prstGeom>
          <a:noFill xmlns:a="http://schemas.openxmlformats.org/drawingml/2006/main"/>
          <a:ln xmlns:a="http://schemas.openxmlformats.org/drawingml/2006/main" w="9525">
            <a:solidFill>
              <a:srgbClr val="C8D5D1"/>
            </a:solidFill>
            <a:prstDash val="solid"/>
          </a:ln>
        </p:spPr>
      </p:sp>
      <p:sp>
        <p:nvSpPr>
          <p:cNvPr id="14" name="step-num-2">
            <a:extLst xmlns:a="http://schemas.openxmlformats.org/drawingml/2006/main">
              <a:ext uri="{FF2B5EF4-FFF2-40B4-BE49-F238E27FC236}">
                <a16:creationId xmlns:a16="http://schemas.microsoft.com/office/drawing/2014/main" id="{0F47AD08-A779-4CD9-B904-28EDBFCAE3F2}"/>
              </a:ext>
            </a:extLst>
          </p:cNvPr>
          <p:cNvSpPr>
            <a:spLocks xmlns:a="http://schemas.openxmlformats.org/drawingml/2006/main" noGrp="1"/>
          </p:cNvSpPr>
          <p:nvPr/>
        </p:nvSpPr>
        <p:spPr>
          <a:xfrm xmlns:a="http://schemas.openxmlformats.org/drawingml/2006/main">
            <a:off x="647700" y="47625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66B4D"/>
                </a:solidFill>
              </a:defRPr>
            </a:pPr>
            <a:r>
              <a:rPr sz="1350" b="1">
                <a:solidFill>
                  <a:srgbClr val="D66B4D"/>
                </a:solidFill>
              </a:rPr>
              <a:t>03</a:t>
            </a:r>
          </a:p>
        </p:txBody>
      </p:sp>
      <p:sp>
        <p:nvSpPr>
          <p:cNvPr id="15" name="step-h-2">
            <a:extLst xmlns:a="http://schemas.openxmlformats.org/drawingml/2006/main">
              <a:ext uri="{FF2B5EF4-FFF2-40B4-BE49-F238E27FC236}">
                <a16:creationId xmlns:a16="http://schemas.microsoft.com/office/drawing/2014/main" id="{DFF95BD8-14CD-4195-A54E-8E94EBBB9894}"/>
              </a:ext>
            </a:extLst>
          </p:cNvPr>
          <p:cNvSpPr>
            <a:spLocks xmlns:a="http://schemas.openxmlformats.org/drawingml/2006/main" noGrp="1"/>
          </p:cNvSpPr>
          <p:nvPr/>
        </p:nvSpPr>
        <p:spPr>
          <a:xfrm xmlns:a="http://schemas.openxmlformats.org/drawingml/2006/main">
            <a:off x="1381125" y="4724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Contextualiser</a:t>
            </a:r>
          </a:p>
        </p:txBody>
      </p:sp>
      <p:sp>
        <p:nvSpPr>
          <p:cNvPr id="16" name="step-b-2">
            <a:extLst xmlns:a="http://schemas.openxmlformats.org/drawingml/2006/main">
              <a:ext uri="{FF2B5EF4-FFF2-40B4-BE49-F238E27FC236}">
                <a16:creationId xmlns:a16="http://schemas.microsoft.com/office/drawing/2014/main" id="{56CD85B4-D771-4E48-B16E-9C8C9F539084}"/>
              </a:ext>
            </a:extLst>
          </p:cNvPr>
          <p:cNvSpPr>
            <a:spLocks xmlns:a="http://schemas.openxmlformats.org/drawingml/2006/main" noGrp="1"/>
          </p:cNvSpPr>
          <p:nvPr/>
        </p:nvSpPr>
        <p:spPr>
          <a:xfrm xmlns:a="http://schemas.openxmlformats.org/drawingml/2006/main">
            <a:off x="3381375" y="47434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2706D"/>
                </a:solidFill>
              </a:defRPr>
            </a:pPr>
            <a:r>
              <a:rPr sz="1425" b="0">
                <a:solidFill>
                  <a:srgbClr val="62706D"/>
                </a:solidFill>
              </a:rPr>
              <a:t>population, revenu, chômage et pauvreté</a:t>
            </a:r>
          </a:p>
        </p:txBody>
      </p:sp>
      <p:sp>
        <p:nvSpPr>
          <p:cNvPr id="17" name="audience-panel">
            <a:extLst xmlns:a="http://schemas.openxmlformats.org/drawingml/2006/main">
              <a:ext uri="{FF2B5EF4-FFF2-40B4-BE49-F238E27FC236}">
                <a16:creationId xmlns:a16="http://schemas.microsoft.com/office/drawing/2014/main" id="{D3754857-4964-4017-AC12-FD4E8FC6A031}"/>
              </a:ext>
            </a:extLst>
          </p:cNvPr>
          <p:cNvSpPr>
            <a:spLocks xmlns:a="http://schemas.openxmlformats.org/drawingml/2006/main" noGrp="1"/>
          </p:cNvSpPr>
          <p:nvPr/>
        </p:nvSpPr>
        <p:spPr>
          <a:xfrm xmlns:a="http://schemas.openxmlformats.org/drawingml/2006/main">
            <a:off x="8096250" y="1676400"/>
            <a:ext cx="3143250" cy="3771900"/>
          </a:xfrm>
          <a:prstGeom xmlns:a="http://schemas.openxmlformats.org/drawingml/2006/main" prst="roundRect">
            <a:avLst>
              <a:gd name="adj" fmla="val 7273"/>
            </a:avLst>
          </a:prstGeom>
          <a:solidFill xmlns:a="http://schemas.openxmlformats.org/drawingml/2006/main">
            <a:srgbClr val="153D3A"/>
          </a:solidFill>
          <a:ln xmlns:a="http://schemas.openxmlformats.org/drawingml/2006/main" w="11430">
            <a:solidFill>
              <a:srgbClr val="153D3A"/>
            </a:solidFill>
            <a:prstDash val="solid"/>
          </a:ln>
        </p:spPr>
      </p:sp>
      <p:sp>
        <p:nvSpPr>
          <p:cNvPr id="18" name="audience-title">
            <a:extLst xmlns:a="http://schemas.openxmlformats.org/drawingml/2006/main">
              <a:ext uri="{FF2B5EF4-FFF2-40B4-BE49-F238E27FC236}">
                <a16:creationId xmlns:a16="http://schemas.microsoft.com/office/drawing/2014/main" id="{4E5D3C29-91FF-4FD7-91BD-C0A35CCF8170}"/>
              </a:ext>
            </a:extLst>
          </p:cNvPr>
          <p:cNvSpPr>
            <a:spLocks xmlns:a="http://schemas.openxmlformats.org/drawingml/2006/main" noGrp="1"/>
          </p:cNvSpPr>
          <p:nvPr/>
        </p:nvSpPr>
        <p:spPr>
          <a:xfrm xmlns:a="http://schemas.openxmlformats.org/drawingml/2006/main">
            <a:off x="8477250" y="20574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Pour qui ?</a:t>
            </a:r>
          </a:p>
        </p:txBody>
      </p:sp>
      <p:sp>
        <p:nvSpPr>
          <p:cNvPr id="19" name="audience-copy">
            <a:extLst xmlns:a="http://schemas.openxmlformats.org/drawingml/2006/main">
              <a:ext uri="{FF2B5EF4-FFF2-40B4-BE49-F238E27FC236}">
                <a16:creationId xmlns:a16="http://schemas.microsoft.com/office/drawing/2014/main" id="{6D7C48D9-2F76-4799-8428-A468E93A12FE}"/>
              </a:ext>
            </a:extLst>
          </p:cNvPr>
          <p:cNvSpPr>
            <a:spLocks xmlns:a="http://schemas.openxmlformats.org/drawingml/2006/main" noGrp="1"/>
          </p:cNvSpPr>
          <p:nvPr/>
        </p:nvSpPr>
        <p:spPr>
          <a:xfrm xmlns:a="http://schemas.openxmlformats.org/drawingml/2006/main">
            <a:off x="8477250" y="27241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DCEDE7"/>
                </a:solidFill>
              </a:defRPr>
            </a:pPr>
            <a:r>
              <a:rPr sz="1800" b="0">
                <a:solidFill>
                  <a:srgbClr val="DCEDE7"/>
                </a:solidFill>
              </a:rPr>
              <a:t>Analyste</a:t>
            </a:r>
          </a:p>
          <a:p xmlns:a="http://schemas.openxmlformats.org/drawingml/2006/main">
            <a:pPr algn="l">
              <a:defRPr sz="1800" b="0">
                <a:solidFill>
                  <a:srgbClr val="DCEDE7"/>
                </a:solidFill>
              </a:defRPr>
            </a:pPr>
            <a:r>
              <a:rPr sz="1800" b="0">
                <a:solidFill>
                  <a:srgbClr val="DCEDE7"/>
                </a:solidFill>
              </a:rPr>
              <a:t>Étudiant</a:t>
            </a:r>
          </a:p>
          <a:p xmlns:a="http://schemas.openxmlformats.org/drawingml/2006/main">
            <a:pPr algn="l">
              <a:defRPr sz="1800" b="0">
                <a:solidFill>
                  <a:srgbClr val="DCEDE7"/>
                </a:solidFill>
              </a:defRPr>
            </a:pPr>
            <a:r>
              <a:rPr sz="1800" b="0">
                <a:solidFill>
                  <a:srgbClr val="DCEDE7"/>
                </a:solidFill>
              </a:rPr>
              <a:t>Jury technique</a:t>
            </a:r>
          </a:p>
          <a:p xmlns:a="http://schemas.openxmlformats.org/drawingml/2006/main">
            <a:pPr algn="l">
              <a:defRPr sz="1800" b="0">
                <a:solidFill>
                  <a:srgbClr val="DCEDE7"/>
                </a:solidFill>
              </a:defRPr>
            </a:pPr>
            <a:r>
              <a:rPr sz="1800" b="0">
                <a:solidFill>
                  <a:srgbClr val="DCEDE7"/>
                </a:solidFill>
              </a:rPr>
              <a:t>Utilisateur métier</a:t>
            </a:r>
          </a:p>
        </p:txBody>
      </p:sp>
      <p:sp>
        <p:nvSpPr>
          <p:cNvPr id="20" name="audience-bottom">
            <a:extLst xmlns:a="http://schemas.openxmlformats.org/drawingml/2006/main">
              <a:ext uri="{FF2B5EF4-FFF2-40B4-BE49-F238E27FC236}">
                <a16:creationId xmlns:a16="http://schemas.microsoft.com/office/drawing/2014/main" id="{038E4D9C-EF9F-4247-B118-76E46ACAEE59}"/>
              </a:ext>
            </a:extLst>
          </p:cNvPr>
          <p:cNvSpPr>
            <a:spLocks xmlns:a="http://schemas.openxmlformats.org/drawingml/2006/main" noGrp="1"/>
          </p:cNvSpPr>
          <p:nvPr/>
        </p:nvSpPr>
        <p:spPr>
          <a:xfrm xmlns:a="http://schemas.openxmlformats.org/drawingml/2006/main">
            <a:off x="8477250" y="48387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Objectif : comprendre, pas gérer des biens.</a:t>
            </a:r>
          </a:p>
        </p:txBody>
      </p:sp>
    </p:spTree>
    <p:extLst>
      <p:ext uri="{BB962C8B-B14F-4D97-AF65-F5344CB8AC3E}">
        <p14:creationId xmlns:p14="http://schemas.microsoft.com/office/powerpoint/2010/main" val="1092381861"/>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0" name="kicker-3">
            <a:extLst xmlns:a="http://schemas.openxmlformats.org/drawingml/2006/main">
              <a:ext uri="{FF2B5EF4-FFF2-40B4-BE49-F238E27FC236}">
                <a16:creationId xmlns:a16="http://schemas.microsoft.com/office/drawing/2014/main" id="{569A4D71-8753-4A78-B362-924204C225B3}"/>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LES SOURCES</a:t>
            </a:r>
          </a:p>
        </p:txBody>
      </p:sp>
      <p:sp>
        <p:nvSpPr>
          <p:cNvPr id="2" name="title-3">
            <a:extLst xmlns:a="http://schemas.openxmlformats.org/drawingml/2006/main">
              <a:ext uri="{FF2B5EF4-FFF2-40B4-BE49-F238E27FC236}">
                <a16:creationId xmlns:a16="http://schemas.microsoft.com/office/drawing/2014/main" id="{D66EFC2F-58B5-4208-BD56-B67651565555}"/>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Deux familles INSEE, deux rythmes de données</a:t>
            </a:r>
          </a:p>
        </p:txBody>
      </p:sp>
      <p:sp>
        <p:nvSpPr>
          <p:cNvPr id="3" name="rule-3">
            <a:extLst xmlns:a="http://schemas.openxmlformats.org/drawingml/2006/main">
              <a:ext uri="{FF2B5EF4-FFF2-40B4-BE49-F238E27FC236}">
                <a16:creationId xmlns:a16="http://schemas.microsoft.com/office/drawing/2014/main" id="{9D893262-6170-4E91-8DC4-7C2C6EC85F34}"/>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3">
            <a:extLst xmlns:a="http://schemas.openxmlformats.org/drawingml/2006/main">
              <a:ext uri="{FF2B5EF4-FFF2-40B4-BE49-F238E27FC236}">
                <a16:creationId xmlns:a16="http://schemas.microsoft.com/office/drawing/2014/main" id="{586C851D-E34A-4B1C-A18B-991199934B39}"/>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03</a:t>
            </a:r>
          </a:p>
        </p:txBody>
      </p:sp>
      <p:sp>
        <p:nvSpPr>
          <p:cNvPr id="5" name="dvf-band">
            <a:extLst xmlns:a="http://schemas.openxmlformats.org/drawingml/2006/main">
              <a:ext uri="{FF2B5EF4-FFF2-40B4-BE49-F238E27FC236}">
                <a16:creationId xmlns:a16="http://schemas.microsoft.com/office/drawing/2014/main" id="{C9538847-C560-4754-9759-3F2248B5185D}"/>
              </a:ext>
            </a:extLst>
          </p:cNvPr>
          <p:cNvSpPr>
            <a:spLocks xmlns:a="http://schemas.openxmlformats.org/drawingml/2006/main" noGrp="1"/>
          </p:cNvSpPr>
          <p:nvPr/>
        </p:nvSpPr>
        <p:spPr>
          <a:xfrm xmlns:a="http://schemas.openxmlformats.org/drawingml/2006/main">
            <a:off x="609600" y="1676400"/>
            <a:ext cx="3333750" cy="3848100"/>
          </a:xfrm>
          <a:prstGeom xmlns:a="http://schemas.openxmlformats.org/drawingml/2006/main" prst="roundRect">
            <a:avLst>
              <a:gd name="adj" fmla="val 6286"/>
            </a:avLst>
          </a:prstGeom>
          <a:solidFill xmlns:a="http://schemas.openxmlformats.org/drawingml/2006/main">
            <a:srgbClr val="FFFFFF"/>
          </a:solidFill>
          <a:ln xmlns:a="http://schemas.openxmlformats.org/drawingml/2006/main" w="11430">
            <a:solidFill>
              <a:srgbClr val="C8D5D1"/>
            </a:solidFill>
            <a:prstDash val="solid"/>
          </a:ln>
        </p:spPr>
      </p:sp>
      <p:sp>
        <p:nvSpPr>
          <p:cNvPr id="6" name="dvf-name">
            <a:extLst xmlns:a="http://schemas.openxmlformats.org/drawingml/2006/main">
              <a:ext uri="{FF2B5EF4-FFF2-40B4-BE49-F238E27FC236}">
                <a16:creationId xmlns:a16="http://schemas.microsoft.com/office/drawing/2014/main" id="{DEAD6AED-175C-4A5A-BE9D-BFBDBDEBBAA0}"/>
              </a:ext>
            </a:extLst>
          </p:cNvPr>
          <p:cNvSpPr>
            <a:spLocks xmlns:a="http://schemas.openxmlformats.org/drawingml/2006/main" noGrp="1"/>
          </p:cNvSpPr>
          <p:nvPr/>
        </p:nvSpPr>
        <p:spPr>
          <a:xfrm xmlns:a="http://schemas.openxmlformats.org/drawingml/2006/main">
            <a:off x="895350" y="200025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02A2A"/>
                </a:solidFill>
              </a:defRPr>
            </a:pPr>
            <a:r>
              <a:rPr sz="2175" b="1">
                <a:solidFill>
                  <a:srgbClr val="102A2A"/>
                </a:solidFill>
              </a:rPr>
              <a:t>DVF 2024</a:t>
            </a:r>
          </a:p>
        </p:txBody>
      </p:sp>
      <p:sp>
        <p:nvSpPr>
          <p:cNvPr id="7" name="dvf-type">
            <a:extLst xmlns:a="http://schemas.openxmlformats.org/drawingml/2006/main">
              <a:ext uri="{FF2B5EF4-FFF2-40B4-BE49-F238E27FC236}">
                <a16:creationId xmlns:a16="http://schemas.microsoft.com/office/drawing/2014/main" id="{1BD07086-E632-4F76-BFDB-E9721CC59B80}"/>
              </a:ext>
            </a:extLst>
          </p:cNvPr>
          <p:cNvSpPr>
            <a:spLocks xmlns:a="http://schemas.openxmlformats.org/drawingml/2006/main" noGrp="1"/>
          </p:cNvSpPr>
          <p:nvPr/>
        </p:nvSpPr>
        <p:spPr>
          <a:xfrm xmlns:a="http://schemas.openxmlformats.org/drawingml/2006/main">
            <a:off x="895350" y="25336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F6F5F"/>
                </a:solidFill>
              </a:defRPr>
            </a:pPr>
            <a:r>
              <a:rPr sz="1425" b="1">
                <a:solidFill>
                  <a:srgbClr val="1F6F5F"/>
                </a:solidFill>
              </a:rPr>
              <a:t>Transactions immobilières</a:t>
            </a:r>
          </a:p>
        </p:txBody>
      </p:sp>
      <p:sp>
        <p:nvSpPr>
          <p:cNvPr id="8" name="dvf-body">
            <a:extLst xmlns:a="http://schemas.openxmlformats.org/drawingml/2006/main">
              <a:ext uri="{FF2B5EF4-FFF2-40B4-BE49-F238E27FC236}">
                <a16:creationId xmlns:a16="http://schemas.microsoft.com/office/drawing/2014/main" id="{EAD64AB3-33BF-42D7-B206-25FF658F653E}"/>
              </a:ext>
            </a:extLst>
          </p:cNvPr>
          <p:cNvSpPr>
            <a:spLocks xmlns:a="http://schemas.openxmlformats.org/drawingml/2006/main" noGrp="1"/>
          </p:cNvSpPr>
          <p:nvPr/>
        </p:nvSpPr>
        <p:spPr>
          <a:xfrm xmlns:a="http://schemas.openxmlformats.org/drawingml/2006/main">
            <a:off x="895350" y="3143250"/>
            <a:ext cx="2571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2706D"/>
                </a:solidFill>
              </a:defRPr>
            </a:pPr>
            <a:r>
              <a:rPr sz="1500" b="0">
                <a:solidFill>
                  <a:srgbClr val="62706D"/>
                </a:solidFill>
              </a:rPr>
              <a:t>Valeur foncière</a:t>
            </a:r>
          </a:p>
          <a:p xmlns:a="http://schemas.openxmlformats.org/drawingml/2006/main">
            <a:pPr algn="l">
              <a:defRPr sz="1500" b="0">
                <a:solidFill>
                  <a:srgbClr val="62706D"/>
                </a:solidFill>
              </a:defRPr>
            </a:pPr>
            <a:r>
              <a:rPr sz="1500" b="0">
                <a:solidFill>
                  <a:srgbClr val="62706D"/>
                </a:solidFill>
              </a:rPr>
              <a:t>Surface bâtie</a:t>
            </a:r>
          </a:p>
          <a:p xmlns:a="http://schemas.openxmlformats.org/drawingml/2006/main">
            <a:pPr algn="l">
              <a:defRPr sz="1500" b="0">
                <a:solidFill>
                  <a:srgbClr val="62706D"/>
                </a:solidFill>
              </a:defRPr>
            </a:pPr>
            <a:r>
              <a:rPr sz="1500" b="0">
                <a:solidFill>
                  <a:srgbClr val="62706D"/>
                </a:solidFill>
              </a:rPr>
              <a:t>Type de local</a:t>
            </a:r>
          </a:p>
          <a:p xmlns:a="http://schemas.openxmlformats.org/drawingml/2006/main">
            <a:pPr algn="l">
              <a:defRPr sz="1500" b="0">
                <a:solidFill>
                  <a:srgbClr val="62706D"/>
                </a:solidFill>
              </a:defRPr>
            </a:pPr>
            <a:r>
              <a:rPr sz="1500" b="0">
                <a:solidFill>
                  <a:srgbClr val="62706D"/>
                </a:solidFill>
              </a:rPr>
              <a:t>Commune + code postal</a:t>
            </a:r>
          </a:p>
        </p:txBody>
      </p:sp>
      <p:sp>
        <p:nvSpPr>
          <p:cNvPr id="9" name="dvf-grain">
            <a:extLst xmlns:a="http://schemas.openxmlformats.org/drawingml/2006/main">
              <a:ext uri="{FF2B5EF4-FFF2-40B4-BE49-F238E27FC236}">
                <a16:creationId xmlns:a16="http://schemas.microsoft.com/office/drawing/2014/main" id="{BEFE9D89-0E64-4E4E-8083-11AE51F158CC}"/>
              </a:ext>
            </a:extLst>
          </p:cNvPr>
          <p:cNvSpPr>
            <a:spLocks xmlns:a="http://schemas.openxmlformats.org/drawingml/2006/main" noGrp="1"/>
          </p:cNvSpPr>
          <p:nvPr/>
        </p:nvSpPr>
        <p:spPr>
          <a:xfrm xmlns:a="http://schemas.openxmlformats.org/drawingml/2006/main">
            <a:off x="895350" y="50101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6B4D"/>
                </a:solidFill>
              </a:defRPr>
            </a:pPr>
            <a:r>
              <a:rPr sz="1275" b="1">
                <a:solidFill>
                  <a:srgbClr val="D66B4D"/>
                </a:solidFill>
              </a:rPr>
              <a:t>Grain : transaction</a:t>
            </a:r>
          </a:p>
        </p:txBody>
      </p:sp>
      <p:sp>
        <p:nvSpPr>
          <p:cNvPr id="10" name="insee-files">
            <a:extLst xmlns:a="http://schemas.openxmlformats.org/drawingml/2006/main">
              <a:ext uri="{FF2B5EF4-FFF2-40B4-BE49-F238E27FC236}">
                <a16:creationId xmlns:a16="http://schemas.microsoft.com/office/drawing/2014/main" id="{72BD5037-E74C-49BE-8B3A-DDAD04628149}"/>
              </a:ext>
            </a:extLst>
          </p:cNvPr>
          <p:cNvSpPr>
            <a:spLocks xmlns:a="http://schemas.openxmlformats.org/drawingml/2006/main" noGrp="1"/>
          </p:cNvSpPr>
          <p:nvPr/>
        </p:nvSpPr>
        <p:spPr>
          <a:xfrm xmlns:a="http://schemas.openxmlformats.org/drawingml/2006/main">
            <a:off x="4238625" y="1676400"/>
            <a:ext cx="3333750" cy="3848100"/>
          </a:xfrm>
          <a:prstGeom xmlns:a="http://schemas.openxmlformats.org/drawingml/2006/main" prst="roundRect">
            <a:avLst>
              <a:gd name="adj" fmla="val 6286"/>
            </a:avLst>
          </a:prstGeom>
          <a:solidFill xmlns:a="http://schemas.openxmlformats.org/drawingml/2006/main">
            <a:srgbClr val="FFFFFF"/>
          </a:solidFill>
          <a:ln xmlns:a="http://schemas.openxmlformats.org/drawingml/2006/main" w="11430">
            <a:solidFill>
              <a:srgbClr val="C8D5D1"/>
            </a:solidFill>
            <a:prstDash val="solid"/>
          </a:ln>
        </p:spPr>
      </p:sp>
      <p:sp>
        <p:nvSpPr>
          <p:cNvPr id="11" name="insee-files-name">
            <a:extLst xmlns:a="http://schemas.openxmlformats.org/drawingml/2006/main">
              <a:ext uri="{FF2B5EF4-FFF2-40B4-BE49-F238E27FC236}">
                <a16:creationId xmlns:a16="http://schemas.microsoft.com/office/drawing/2014/main" id="{6B4D1077-7085-450B-B33D-513A5201CFD0}"/>
              </a:ext>
            </a:extLst>
          </p:cNvPr>
          <p:cNvSpPr>
            <a:spLocks xmlns:a="http://schemas.openxmlformats.org/drawingml/2006/main" noGrp="1"/>
          </p:cNvSpPr>
          <p:nvPr/>
        </p:nvSpPr>
        <p:spPr>
          <a:xfrm xmlns:a="http://schemas.openxmlformats.org/drawingml/2006/main">
            <a:off x="4524375" y="2000250"/>
            <a:ext cx="266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02A2A"/>
                </a:solidFill>
              </a:defRPr>
            </a:pPr>
            <a:r>
              <a:rPr sz="2175" b="1">
                <a:solidFill>
                  <a:srgbClr val="102A2A"/>
                </a:solidFill>
              </a:rPr>
              <a:t>INSEE — fichiers</a:t>
            </a:r>
          </a:p>
        </p:txBody>
      </p:sp>
      <p:sp>
        <p:nvSpPr>
          <p:cNvPr id="12" name="insee-files-type">
            <a:extLst xmlns:a="http://schemas.openxmlformats.org/drawingml/2006/main">
              <a:ext uri="{FF2B5EF4-FFF2-40B4-BE49-F238E27FC236}">
                <a16:creationId xmlns:a16="http://schemas.microsoft.com/office/drawing/2014/main" id="{7D500B5C-6480-489B-823A-E6001C2EFA52}"/>
              </a:ext>
            </a:extLst>
          </p:cNvPr>
          <p:cNvSpPr>
            <a:spLocks xmlns:a="http://schemas.openxmlformats.org/drawingml/2006/main" noGrp="1"/>
          </p:cNvSpPr>
          <p:nvPr/>
        </p:nvSpPr>
        <p:spPr>
          <a:xfrm xmlns:a="http://schemas.openxmlformats.org/drawingml/2006/main">
            <a:off x="4524375" y="25336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F6F5F"/>
                </a:solidFill>
              </a:defRPr>
            </a:pPr>
            <a:r>
              <a:rPr sz="1425" b="1">
                <a:solidFill>
                  <a:srgbClr val="1F6F5F"/>
                </a:solidFill>
              </a:rPr>
              <a:t>Socio-économie</a:t>
            </a:r>
          </a:p>
        </p:txBody>
      </p:sp>
      <p:sp>
        <p:nvSpPr>
          <p:cNvPr id="13" name="insee-files-body">
            <a:extLst xmlns:a="http://schemas.openxmlformats.org/drawingml/2006/main">
              <a:ext uri="{FF2B5EF4-FFF2-40B4-BE49-F238E27FC236}">
                <a16:creationId xmlns:a16="http://schemas.microsoft.com/office/drawing/2014/main" id="{70618D72-7068-48DA-B3B5-17FBB1864DCB}"/>
              </a:ext>
            </a:extLst>
          </p:cNvPr>
          <p:cNvSpPr>
            <a:spLocks xmlns:a="http://schemas.openxmlformats.org/drawingml/2006/main" noGrp="1"/>
          </p:cNvSpPr>
          <p:nvPr/>
        </p:nvSpPr>
        <p:spPr>
          <a:xfrm xmlns:a="http://schemas.openxmlformats.org/drawingml/2006/main">
            <a:off x="4524375" y="3143250"/>
            <a:ext cx="2571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2706D"/>
                </a:solidFill>
              </a:defRPr>
            </a:pPr>
            <a:r>
              <a:rPr sz="1500" b="0">
                <a:solidFill>
                  <a:srgbClr val="62706D"/>
                </a:solidFill>
              </a:rPr>
              <a:t>Population 2024</a:t>
            </a:r>
          </a:p>
          <a:p xmlns:a="http://schemas.openxmlformats.org/drawingml/2006/main">
            <a:pPr algn="l">
              <a:defRPr sz="1500" b="0">
                <a:solidFill>
                  <a:srgbClr val="62706D"/>
                </a:solidFill>
              </a:defRPr>
            </a:pPr>
            <a:r>
              <a:rPr sz="1500" b="0">
                <a:solidFill>
                  <a:srgbClr val="62706D"/>
                </a:solidFill>
              </a:rPr>
              <a:t>Revenu médian 2021</a:t>
            </a:r>
          </a:p>
          <a:p xmlns:a="http://schemas.openxmlformats.org/drawingml/2006/main">
            <a:pPr algn="l">
              <a:defRPr sz="1500" b="0">
                <a:solidFill>
                  <a:srgbClr val="62706D"/>
                </a:solidFill>
              </a:defRPr>
            </a:pPr>
            <a:r>
              <a:rPr sz="1500" b="0">
                <a:solidFill>
                  <a:srgbClr val="62706D"/>
                </a:solidFill>
              </a:rPr>
              <a:t>Chômage T1 2025</a:t>
            </a:r>
          </a:p>
          <a:p xmlns:a="http://schemas.openxmlformats.org/drawingml/2006/main">
            <a:pPr algn="l">
              <a:defRPr sz="1500" b="0">
                <a:solidFill>
                  <a:srgbClr val="62706D"/>
                </a:solidFill>
              </a:defRPr>
            </a:pPr>
            <a:r>
              <a:rPr sz="1500" b="0">
                <a:solidFill>
                  <a:srgbClr val="62706D"/>
                </a:solidFill>
              </a:rPr>
              <a:t>Pauvreté 2021</a:t>
            </a:r>
          </a:p>
        </p:txBody>
      </p:sp>
      <p:sp>
        <p:nvSpPr>
          <p:cNvPr id="14" name="insee-files-grain">
            <a:extLst xmlns:a="http://schemas.openxmlformats.org/drawingml/2006/main">
              <a:ext uri="{FF2B5EF4-FFF2-40B4-BE49-F238E27FC236}">
                <a16:creationId xmlns:a16="http://schemas.microsoft.com/office/drawing/2014/main" id="{5ADCC5C7-A41A-4877-982A-0057136C9A38}"/>
              </a:ext>
            </a:extLst>
          </p:cNvPr>
          <p:cNvSpPr>
            <a:spLocks xmlns:a="http://schemas.openxmlformats.org/drawingml/2006/main" noGrp="1"/>
          </p:cNvSpPr>
          <p:nvPr/>
        </p:nvSpPr>
        <p:spPr>
          <a:xfrm xmlns:a="http://schemas.openxmlformats.org/drawingml/2006/main">
            <a:off x="4524375" y="50101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6B4D"/>
                </a:solidFill>
              </a:defRPr>
            </a:pPr>
            <a:r>
              <a:rPr sz="1275" b="1">
                <a:solidFill>
                  <a:srgbClr val="D66B4D"/>
                </a:solidFill>
              </a:rPr>
              <a:t>Grain : département → région</a:t>
            </a:r>
          </a:p>
        </p:txBody>
      </p:sp>
      <p:sp>
        <p:nvSpPr>
          <p:cNvPr id="15" name="insee-html">
            <a:extLst xmlns:a="http://schemas.openxmlformats.org/drawingml/2006/main">
              <a:ext uri="{FF2B5EF4-FFF2-40B4-BE49-F238E27FC236}">
                <a16:creationId xmlns:a16="http://schemas.microsoft.com/office/drawing/2014/main" id="{2943F3F2-8C39-4153-91B0-1AAE113794B2}"/>
              </a:ext>
            </a:extLst>
          </p:cNvPr>
          <p:cNvSpPr>
            <a:spLocks xmlns:a="http://schemas.openxmlformats.org/drawingml/2006/main" noGrp="1"/>
          </p:cNvSpPr>
          <p:nvPr/>
        </p:nvSpPr>
        <p:spPr>
          <a:xfrm xmlns:a="http://schemas.openxmlformats.org/drawingml/2006/main">
            <a:off x="7867650" y="1676400"/>
            <a:ext cx="3714750" cy="3848100"/>
          </a:xfrm>
          <a:prstGeom xmlns:a="http://schemas.openxmlformats.org/drawingml/2006/main" prst="roundRect">
            <a:avLst>
              <a:gd name="adj" fmla="val 5641"/>
            </a:avLst>
          </a:prstGeom>
          <a:solidFill xmlns:a="http://schemas.openxmlformats.org/drawingml/2006/main">
            <a:srgbClr val="153D3A"/>
          </a:solidFill>
          <a:ln xmlns:a="http://schemas.openxmlformats.org/drawingml/2006/main" w="11430">
            <a:solidFill>
              <a:srgbClr val="153D3A"/>
            </a:solidFill>
            <a:prstDash val="solid"/>
          </a:ln>
        </p:spPr>
      </p:sp>
      <p:sp>
        <p:nvSpPr>
          <p:cNvPr id="16" name="insee-html-name">
            <a:extLst xmlns:a="http://schemas.openxmlformats.org/drawingml/2006/main">
              <a:ext uri="{FF2B5EF4-FFF2-40B4-BE49-F238E27FC236}">
                <a16:creationId xmlns:a16="http://schemas.microsoft.com/office/drawing/2014/main" id="{A1A65FE2-5C09-487D-B993-FBCC2CAB6359}"/>
              </a:ext>
            </a:extLst>
          </p:cNvPr>
          <p:cNvSpPr>
            <a:spLocks xmlns:a="http://schemas.openxmlformats.org/drawingml/2006/main" noGrp="1"/>
          </p:cNvSpPr>
          <p:nvPr/>
        </p:nvSpPr>
        <p:spPr>
          <a:xfrm xmlns:a="http://schemas.openxmlformats.org/drawingml/2006/main">
            <a:off x="8153400" y="20002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FFFFFF"/>
                </a:solidFill>
              </a:defRPr>
            </a:pPr>
            <a:r>
              <a:rPr sz="2175" b="1">
                <a:solidFill>
                  <a:srgbClr val="FFFFFF"/>
                </a:solidFill>
              </a:rPr>
              <a:t>INSEE — page HTML</a:t>
            </a:r>
          </a:p>
        </p:txBody>
      </p:sp>
      <p:sp>
        <p:nvSpPr>
          <p:cNvPr id="17" name="insee-html-type">
            <a:extLst xmlns:a="http://schemas.openxmlformats.org/drawingml/2006/main">
              <a:ext uri="{FF2B5EF4-FFF2-40B4-BE49-F238E27FC236}">
                <a16:creationId xmlns:a16="http://schemas.microsoft.com/office/drawing/2014/main" id="{0E260B96-286B-45D3-B225-175BE5C99C8E}"/>
              </a:ext>
            </a:extLst>
          </p:cNvPr>
          <p:cNvSpPr>
            <a:spLocks xmlns:a="http://schemas.openxmlformats.org/drawingml/2006/main" noGrp="1"/>
          </p:cNvSpPr>
          <p:nvPr/>
        </p:nvSpPr>
        <p:spPr>
          <a:xfrm xmlns:a="http://schemas.openxmlformats.org/drawingml/2006/main">
            <a:off x="8153400" y="25336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DCEDE7"/>
                </a:solidFill>
              </a:defRPr>
            </a:pPr>
            <a:r>
              <a:rPr sz="1425" b="1">
                <a:solidFill>
                  <a:srgbClr val="DCEDE7"/>
                </a:solidFill>
              </a:rPr>
              <a:t>Indices trimestriels</a:t>
            </a:r>
          </a:p>
        </p:txBody>
      </p:sp>
      <p:sp>
        <p:nvSpPr>
          <p:cNvPr id="18" name="insee-html-body">
            <a:extLst xmlns:a="http://schemas.openxmlformats.org/drawingml/2006/main">
              <a:ext uri="{FF2B5EF4-FFF2-40B4-BE49-F238E27FC236}">
                <a16:creationId xmlns:a16="http://schemas.microsoft.com/office/drawing/2014/main" id="{BB81830E-72C2-4EC0-884C-E0132F3C33A9}"/>
              </a:ext>
            </a:extLst>
          </p:cNvPr>
          <p:cNvSpPr>
            <a:spLocks xmlns:a="http://schemas.openxmlformats.org/drawingml/2006/main" noGrp="1"/>
          </p:cNvSpPr>
          <p:nvPr/>
        </p:nvSpPr>
        <p:spPr>
          <a:xfrm xmlns:a="http://schemas.openxmlformats.org/drawingml/2006/main">
            <a:off x="8153400" y="314325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Collecte périodique</a:t>
            </a:r>
          </a:p>
          <a:p xmlns:a="http://schemas.openxmlformats.org/drawingml/2006/main">
            <a:pPr algn="l">
              <a:defRPr sz="1500" b="0">
                <a:solidFill>
                  <a:srgbClr val="FFFFFF"/>
                </a:solidFill>
              </a:defRPr>
            </a:pPr>
            <a:r>
              <a:rPr sz="1500" b="0">
                <a:solidFill>
                  <a:srgbClr val="FFFFFF"/>
                </a:solidFill>
              </a:rPr>
              <a:t>France / Île-de-France / province</a:t>
            </a:r>
          </a:p>
          <a:p xmlns:a="http://schemas.openxmlformats.org/drawingml/2006/main">
            <a:pPr algn="l">
              <a:defRPr sz="1500" b="0">
                <a:solidFill>
                  <a:srgbClr val="FFFFFF"/>
                </a:solidFill>
              </a:defRPr>
            </a:pPr>
            <a:r>
              <a:rPr sz="1500" b="0">
                <a:solidFill>
                  <a:srgbClr val="FFFFFF"/>
                </a:solidFill>
              </a:rPr>
              <a:t>Indices et variations annuelles</a:t>
            </a:r>
          </a:p>
        </p:txBody>
      </p:sp>
      <p:sp>
        <p:nvSpPr>
          <p:cNvPr id="19" name="insee-html-grain">
            <a:extLst xmlns:a="http://schemas.openxmlformats.org/drawingml/2006/main">
              <a:ext uri="{FF2B5EF4-FFF2-40B4-BE49-F238E27FC236}">
                <a16:creationId xmlns:a16="http://schemas.microsoft.com/office/drawing/2014/main" id="{6967C5AB-D3E6-4A6F-A9F1-0CDBAAC1C028}"/>
              </a:ext>
            </a:extLst>
          </p:cNvPr>
          <p:cNvSpPr>
            <a:spLocks xmlns:a="http://schemas.openxmlformats.org/drawingml/2006/main" noGrp="1"/>
          </p:cNvSpPr>
          <p:nvPr/>
        </p:nvSpPr>
        <p:spPr>
          <a:xfrm xmlns:a="http://schemas.openxmlformats.org/drawingml/2006/main">
            <a:off x="8153400" y="5010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E8D9BF"/>
                </a:solidFill>
              </a:defRPr>
            </a:pPr>
            <a:r>
              <a:rPr sz="1275" b="1">
                <a:solidFill>
                  <a:srgbClr val="E8D9BF"/>
                </a:solidFill>
              </a:rPr>
              <a:t>Polling ≠ fréquence de publication</a:t>
            </a:r>
          </a:p>
        </p:txBody>
      </p:sp>
    </p:spTree>
    <p:extLst>
      <p:ext uri="{BB962C8B-B14F-4D97-AF65-F5344CB8AC3E}">
        <p14:creationId xmlns:p14="http://schemas.microsoft.com/office/powerpoint/2010/main" val="554482298"/>
      </p:ext>
    </p:extLst>
  </p:cSld>
</p:sld>
</file>

<file path=ppt/slides/slide4.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30" name="kicker-4">
            <a:extLst xmlns:a="http://schemas.openxmlformats.org/drawingml/2006/main">
              <a:ext uri="{FF2B5EF4-FFF2-40B4-BE49-F238E27FC236}">
                <a16:creationId xmlns:a16="http://schemas.microsoft.com/office/drawing/2014/main" id="{6B8B036F-16A3-49A2-8F0E-249224CA35EA}"/>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PIPELINE GÉNÉRAL</a:t>
            </a:r>
          </a:p>
        </p:txBody>
      </p:sp>
      <p:sp>
        <p:nvSpPr>
          <p:cNvPr id="2" name="title-4">
            <a:extLst xmlns:a="http://schemas.openxmlformats.org/drawingml/2006/main">
              <a:ext uri="{FF2B5EF4-FFF2-40B4-BE49-F238E27FC236}">
                <a16:creationId xmlns:a16="http://schemas.microsoft.com/office/drawing/2014/main" id="{2A89FA5B-A9F9-4839-9257-6B5DB88581FE}"/>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Une chaîne complète, de la source à la décision</a:t>
            </a:r>
          </a:p>
        </p:txBody>
      </p:sp>
      <p:sp>
        <p:nvSpPr>
          <p:cNvPr id="3" name="rule-4">
            <a:extLst xmlns:a="http://schemas.openxmlformats.org/drawingml/2006/main">
              <a:ext uri="{FF2B5EF4-FFF2-40B4-BE49-F238E27FC236}">
                <a16:creationId xmlns:a16="http://schemas.microsoft.com/office/drawing/2014/main" id="{118A4B16-216C-40C2-8903-DE45F2286932}"/>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4">
            <a:extLst xmlns:a="http://schemas.openxmlformats.org/drawingml/2006/main">
              <a:ext uri="{FF2B5EF4-FFF2-40B4-BE49-F238E27FC236}">
                <a16:creationId xmlns:a16="http://schemas.microsoft.com/office/drawing/2014/main" id="{EE7014FC-F514-4E7D-A990-B78EC1DF197F}"/>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04</a:t>
            </a:r>
          </a:p>
        </p:txBody>
      </p:sp>
      <p:sp>
        <p:nvSpPr>
          <p:cNvPr id="5" name="pipe-arrow-0">
            <a:extLst xmlns:a="http://schemas.openxmlformats.org/drawingml/2006/main">
              <a:ext uri="{FF2B5EF4-FFF2-40B4-BE49-F238E27FC236}">
                <a16:creationId xmlns:a16="http://schemas.microsoft.com/office/drawing/2014/main" id="{58D6BCE8-D796-4310-AC0F-0AE0C331AC46}"/>
              </a:ext>
            </a:extLst>
          </p:cNvPr>
          <p:cNvSpPr>
            <a:spLocks xmlns:a="http://schemas.openxmlformats.org/drawingml/2006/main" noGrp="1"/>
          </p:cNvSpPr>
          <p:nvPr/>
        </p:nvSpPr>
        <p:spPr>
          <a:xfrm xmlns:a="http://schemas.openxmlformats.org/drawingml/2006/main">
            <a:off x="2019300" y="3162300"/>
            <a:ext cx="4762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6" name="pipe-arrow-1">
            <a:extLst xmlns:a="http://schemas.openxmlformats.org/drawingml/2006/main">
              <a:ext uri="{FF2B5EF4-FFF2-40B4-BE49-F238E27FC236}">
                <a16:creationId xmlns:a16="http://schemas.microsoft.com/office/drawing/2014/main" id="{E965429A-15CB-46C8-8583-BE5053DF8E02}"/>
              </a:ext>
            </a:extLst>
          </p:cNvPr>
          <p:cNvSpPr>
            <a:spLocks xmlns:a="http://schemas.openxmlformats.org/drawingml/2006/main" noGrp="1"/>
          </p:cNvSpPr>
          <p:nvPr/>
        </p:nvSpPr>
        <p:spPr>
          <a:xfrm xmlns:a="http://schemas.openxmlformats.org/drawingml/2006/main">
            <a:off x="4000500" y="3162300"/>
            <a:ext cx="4762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7" name="pipe-arrow-2">
            <a:extLst xmlns:a="http://schemas.openxmlformats.org/drawingml/2006/main">
              <a:ext uri="{FF2B5EF4-FFF2-40B4-BE49-F238E27FC236}">
                <a16:creationId xmlns:a16="http://schemas.microsoft.com/office/drawing/2014/main" id="{ABA95C81-2574-44A6-9B67-C1586FE41DA1}"/>
              </a:ext>
            </a:extLst>
          </p:cNvPr>
          <p:cNvSpPr>
            <a:spLocks xmlns:a="http://schemas.openxmlformats.org/drawingml/2006/main" noGrp="1"/>
          </p:cNvSpPr>
          <p:nvPr/>
        </p:nvSpPr>
        <p:spPr>
          <a:xfrm xmlns:a="http://schemas.openxmlformats.org/drawingml/2006/main">
            <a:off x="5981700" y="3162300"/>
            <a:ext cx="4762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8" name="pipe-arrow-3">
            <a:extLst xmlns:a="http://schemas.openxmlformats.org/drawingml/2006/main">
              <a:ext uri="{FF2B5EF4-FFF2-40B4-BE49-F238E27FC236}">
                <a16:creationId xmlns:a16="http://schemas.microsoft.com/office/drawing/2014/main" id="{825CDAB9-A33C-4CEF-8D99-83C07EDF25DA}"/>
              </a:ext>
            </a:extLst>
          </p:cNvPr>
          <p:cNvSpPr>
            <a:spLocks xmlns:a="http://schemas.openxmlformats.org/drawingml/2006/main" noGrp="1"/>
          </p:cNvSpPr>
          <p:nvPr/>
        </p:nvSpPr>
        <p:spPr>
          <a:xfrm xmlns:a="http://schemas.openxmlformats.org/drawingml/2006/main">
            <a:off x="7962900" y="3162300"/>
            <a:ext cx="4762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9" name="pipe-arrow-4">
            <a:extLst xmlns:a="http://schemas.openxmlformats.org/drawingml/2006/main">
              <a:ext uri="{FF2B5EF4-FFF2-40B4-BE49-F238E27FC236}">
                <a16:creationId xmlns:a16="http://schemas.microsoft.com/office/drawing/2014/main" id="{B2EDE99C-07AB-4176-B373-491EF2607C92}"/>
              </a:ext>
            </a:extLst>
          </p:cNvPr>
          <p:cNvSpPr>
            <a:spLocks xmlns:a="http://schemas.openxmlformats.org/drawingml/2006/main" noGrp="1"/>
          </p:cNvSpPr>
          <p:nvPr/>
        </p:nvSpPr>
        <p:spPr>
          <a:xfrm xmlns:a="http://schemas.openxmlformats.org/drawingml/2006/main">
            <a:off x="9944100" y="3162300"/>
            <a:ext cx="2857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10" name="pipe-node-0">
            <a:extLst xmlns:a="http://schemas.openxmlformats.org/drawingml/2006/main">
              <a:ext uri="{FF2B5EF4-FFF2-40B4-BE49-F238E27FC236}">
                <a16:creationId xmlns:a16="http://schemas.microsoft.com/office/drawing/2014/main" id="{D410184B-B85D-4EEF-ACCC-C0C662B93B7B}"/>
              </a:ext>
            </a:extLst>
          </p:cNvPr>
          <p:cNvSpPr>
            <a:spLocks xmlns:a="http://schemas.openxmlformats.org/drawingml/2006/main" noGrp="1"/>
          </p:cNvSpPr>
          <p:nvPr/>
        </p:nvSpPr>
        <p:spPr>
          <a:xfrm xmlns:a="http://schemas.openxmlformats.org/drawingml/2006/main">
            <a:off x="666750" y="2400300"/>
            <a:ext cx="1352550" cy="1524000"/>
          </a:xfrm>
          <a:prstGeom xmlns:a="http://schemas.openxmlformats.org/drawingml/2006/main" prst="roundRect">
            <a:avLst>
              <a:gd name="adj" fmla="val 12676"/>
            </a:avLst>
          </a:prstGeom>
          <a:solidFill xmlns:a="http://schemas.openxmlformats.org/drawingml/2006/main">
            <a:srgbClr val="FFFFFF"/>
          </a:solidFill>
          <a:ln xmlns:a="http://schemas.openxmlformats.org/drawingml/2006/main" w="11430">
            <a:solidFill>
              <a:srgbClr val="C8D5D1"/>
            </a:solidFill>
            <a:prstDash val="solid"/>
          </a:ln>
        </p:spPr>
      </p:sp>
      <p:sp>
        <p:nvSpPr>
          <p:cNvPr id="11" name="pipe-h-0">
            <a:extLst xmlns:a="http://schemas.openxmlformats.org/drawingml/2006/main">
              <a:ext uri="{FF2B5EF4-FFF2-40B4-BE49-F238E27FC236}">
                <a16:creationId xmlns:a16="http://schemas.microsoft.com/office/drawing/2014/main" id="{F47CB9C6-B5B4-4BE2-B84C-6A90FA9AB44B}"/>
              </a:ext>
            </a:extLst>
          </p:cNvPr>
          <p:cNvSpPr>
            <a:spLocks xmlns:a="http://schemas.openxmlformats.org/drawingml/2006/main" noGrp="1"/>
          </p:cNvSpPr>
          <p:nvPr/>
        </p:nvSpPr>
        <p:spPr>
          <a:xfrm xmlns:a="http://schemas.openxmlformats.org/drawingml/2006/main">
            <a:off x="781050" y="26479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Sources</a:t>
            </a:r>
          </a:p>
        </p:txBody>
      </p:sp>
      <p:sp>
        <p:nvSpPr>
          <p:cNvPr id="12" name="pipe-b-0">
            <a:extLst xmlns:a="http://schemas.openxmlformats.org/drawingml/2006/main">
              <a:ext uri="{FF2B5EF4-FFF2-40B4-BE49-F238E27FC236}">
                <a16:creationId xmlns:a16="http://schemas.microsoft.com/office/drawing/2014/main" id="{B1D3228E-0D39-4708-B20F-AAD53254D7F4}"/>
              </a:ext>
            </a:extLst>
          </p:cNvPr>
          <p:cNvSpPr>
            <a:spLocks xmlns:a="http://schemas.openxmlformats.org/drawingml/2006/main" noGrp="1"/>
          </p:cNvSpPr>
          <p:nvPr/>
        </p:nvSpPr>
        <p:spPr>
          <a:xfrm xmlns:a="http://schemas.openxmlformats.org/drawingml/2006/main">
            <a:off x="781050" y="314325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DVF · INSEE</a:t>
            </a:r>
          </a:p>
        </p:txBody>
      </p:sp>
      <p:sp>
        <p:nvSpPr>
          <p:cNvPr id="13" name="pipe-node-1">
            <a:extLst xmlns:a="http://schemas.openxmlformats.org/drawingml/2006/main">
              <a:ext uri="{FF2B5EF4-FFF2-40B4-BE49-F238E27FC236}">
                <a16:creationId xmlns:a16="http://schemas.microsoft.com/office/drawing/2014/main" id="{FF24D101-158D-4233-AFD2-1927B384E5EC}"/>
              </a:ext>
            </a:extLst>
          </p:cNvPr>
          <p:cNvSpPr>
            <a:spLocks xmlns:a="http://schemas.openxmlformats.org/drawingml/2006/main" noGrp="1"/>
          </p:cNvSpPr>
          <p:nvPr/>
        </p:nvSpPr>
        <p:spPr>
          <a:xfrm xmlns:a="http://schemas.openxmlformats.org/drawingml/2006/main">
            <a:off x="2647950" y="2400300"/>
            <a:ext cx="1352550" cy="1524000"/>
          </a:xfrm>
          <a:prstGeom xmlns:a="http://schemas.openxmlformats.org/drawingml/2006/main" prst="roundRect">
            <a:avLst>
              <a:gd name="adj" fmla="val 12676"/>
            </a:avLst>
          </a:prstGeom>
          <a:solidFill xmlns:a="http://schemas.openxmlformats.org/drawingml/2006/main">
            <a:srgbClr val="FFFFFF"/>
          </a:solidFill>
          <a:ln xmlns:a="http://schemas.openxmlformats.org/drawingml/2006/main" w="11430">
            <a:solidFill>
              <a:srgbClr val="C8D5D1"/>
            </a:solidFill>
            <a:prstDash val="solid"/>
          </a:ln>
        </p:spPr>
      </p:sp>
      <p:sp>
        <p:nvSpPr>
          <p:cNvPr id="14" name="pipe-h-1">
            <a:extLst xmlns:a="http://schemas.openxmlformats.org/drawingml/2006/main">
              <a:ext uri="{FF2B5EF4-FFF2-40B4-BE49-F238E27FC236}">
                <a16:creationId xmlns:a16="http://schemas.microsoft.com/office/drawing/2014/main" id="{C348216E-E185-4466-8E6D-A054EA7762F7}"/>
              </a:ext>
            </a:extLst>
          </p:cNvPr>
          <p:cNvSpPr>
            <a:spLocks xmlns:a="http://schemas.openxmlformats.org/drawingml/2006/main" noGrp="1"/>
          </p:cNvSpPr>
          <p:nvPr/>
        </p:nvSpPr>
        <p:spPr>
          <a:xfrm xmlns:a="http://schemas.openxmlformats.org/drawingml/2006/main">
            <a:off x="2762250" y="26479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ETL</a:t>
            </a:r>
          </a:p>
        </p:txBody>
      </p:sp>
      <p:sp>
        <p:nvSpPr>
          <p:cNvPr id="15" name="pipe-b-1">
            <a:extLst xmlns:a="http://schemas.openxmlformats.org/drawingml/2006/main">
              <a:ext uri="{FF2B5EF4-FFF2-40B4-BE49-F238E27FC236}">
                <a16:creationId xmlns:a16="http://schemas.microsoft.com/office/drawing/2014/main" id="{CCCD2F4B-3093-4689-904D-899F75DB2FC1}"/>
              </a:ext>
            </a:extLst>
          </p:cNvPr>
          <p:cNvSpPr>
            <a:spLocks xmlns:a="http://schemas.openxmlformats.org/drawingml/2006/main" noGrp="1"/>
          </p:cNvSpPr>
          <p:nvPr/>
        </p:nvSpPr>
        <p:spPr>
          <a:xfrm xmlns:a="http://schemas.openxmlformats.org/drawingml/2006/main">
            <a:off x="2762250" y="314325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pandas</a:t>
            </a:r>
          </a:p>
        </p:txBody>
      </p:sp>
      <p:sp>
        <p:nvSpPr>
          <p:cNvPr id="16" name="pipe-node-2">
            <a:extLst xmlns:a="http://schemas.openxmlformats.org/drawingml/2006/main">
              <a:ext uri="{FF2B5EF4-FFF2-40B4-BE49-F238E27FC236}">
                <a16:creationId xmlns:a16="http://schemas.microsoft.com/office/drawing/2014/main" id="{D1CA043C-A1AE-4031-AED0-74DA04261CD1}"/>
              </a:ext>
            </a:extLst>
          </p:cNvPr>
          <p:cNvSpPr>
            <a:spLocks xmlns:a="http://schemas.openxmlformats.org/drawingml/2006/main" noGrp="1"/>
          </p:cNvSpPr>
          <p:nvPr/>
        </p:nvSpPr>
        <p:spPr>
          <a:xfrm xmlns:a="http://schemas.openxmlformats.org/drawingml/2006/main">
            <a:off x="4629150" y="2400300"/>
            <a:ext cx="1352550" cy="1524000"/>
          </a:xfrm>
          <a:prstGeom xmlns:a="http://schemas.openxmlformats.org/drawingml/2006/main" prst="roundRect">
            <a:avLst>
              <a:gd name="adj" fmla="val 12676"/>
            </a:avLst>
          </a:prstGeom>
          <a:solidFill xmlns:a="http://schemas.openxmlformats.org/drawingml/2006/main">
            <a:srgbClr val="FFFFFF"/>
          </a:solidFill>
          <a:ln xmlns:a="http://schemas.openxmlformats.org/drawingml/2006/main" w="11430">
            <a:solidFill>
              <a:srgbClr val="C8D5D1"/>
            </a:solidFill>
            <a:prstDash val="solid"/>
          </a:ln>
        </p:spPr>
      </p:sp>
      <p:sp>
        <p:nvSpPr>
          <p:cNvPr id="17" name="pipe-h-2">
            <a:extLst xmlns:a="http://schemas.openxmlformats.org/drawingml/2006/main">
              <a:ext uri="{FF2B5EF4-FFF2-40B4-BE49-F238E27FC236}">
                <a16:creationId xmlns:a16="http://schemas.microsoft.com/office/drawing/2014/main" id="{6ED9E4A3-B5DD-4589-87CB-1B4735B9C7A8}"/>
              </a:ext>
            </a:extLst>
          </p:cNvPr>
          <p:cNvSpPr>
            <a:spLocks xmlns:a="http://schemas.openxmlformats.org/drawingml/2006/main" noGrp="1"/>
          </p:cNvSpPr>
          <p:nvPr/>
        </p:nvSpPr>
        <p:spPr>
          <a:xfrm xmlns:a="http://schemas.openxmlformats.org/drawingml/2006/main">
            <a:off x="4743450" y="26479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Stockage</a:t>
            </a:r>
          </a:p>
        </p:txBody>
      </p:sp>
      <p:sp>
        <p:nvSpPr>
          <p:cNvPr id="18" name="pipe-b-2">
            <a:extLst xmlns:a="http://schemas.openxmlformats.org/drawingml/2006/main">
              <a:ext uri="{FF2B5EF4-FFF2-40B4-BE49-F238E27FC236}">
                <a16:creationId xmlns:a16="http://schemas.microsoft.com/office/drawing/2014/main" id="{5C06C0EB-963C-455A-A29E-0C6C19347EDA}"/>
              </a:ext>
            </a:extLst>
          </p:cNvPr>
          <p:cNvSpPr>
            <a:spLocks xmlns:a="http://schemas.openxmlformats.org/drawingml/2006/main" noGrp="1"/>
          </p:cNvSpPr>
          <p:nvPr/>
        </p:nvSpPr>
        <p:spPr>
          <a:xfrm xmlns:a="http://schemas.openxmlformats.org/drawingml/2006/main">
            <a:off x="4743450" y="314325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CSV · Parquet</a:t>
            </a:r>
          </a:p>
          <a:p xmlns:a="http://schemas.openxmlformats.org/drawingml/2006/main">
            <a:pPr algn="ctr">
              <a:defRPr sz="1200" b="0">
                <a:solidFill>
                  <a:srgbClr val="62706D"/>
                </a:solidFill>
              </a:defRPr>
            </a:pPr>
            <a:r>
              <a:rPr sz="1200" b="0">
                <a:solidFill>
                  <a:srgbClr val="62706D"/>
                </a:solidFill>
              </a:rPr>
              <a:t>SQLite</a:t>
            </a:r>
          </a:p>
        </p:txBody>
      </p:sp>
      <p:sp>
        <p:nvSpPr>
          <p:cNvPr id="19" name="pipe-node-3">
            <a:extLst xmlns:a="http://schemas.openxmlformats.org/drawingml/2006/main">
              <a:ext uri="{FF2B5EF4-FFF2-40B4-BE49-F238E27FC236}">
                <a16:creationId xmlns:a16="http://schemas.microsoft.com/office/drawing/2014/main" id="{5C9F1A83-FD0D-44A6-8502-05A95D890AFE}"/>
              </a:ext>
            </a:extLst>
          </p:cNvPr>
          <p:cNvSpPr>
            <a:spLocks xmlns:a="http://schemas.openxmlformats.org/drawingml/2006/main" noGrp="1"/>
          </p:cNvSpPr>
          <p:nvPr/>
        </p:nvSpPr>
        <p:spPr>
          <a:xfrm xmlns:a="http://schemas.openxmlformats.org/drawingml/2006/main">
            <a:off x="6610350" y="2400300"/>
            <a:ext cx="1352550" cy="1524000"/>
          </a:xfrm>
          <a:prstGeom xmlns:a="http://schemas.openxmlformats.org/drawingml/2006/main" prst="roundRect">
            <a:avLst>
              <a:gd name="adj" fmla="val 12676"/>
            </a:avLst>
          </a:prstGeom>
          <a:solidFill xmlns:a="http://schemas.openxmlformats.org/drawingml/2006/main">
            <a:srgbClr val="FFFFFF"/>
          </a:solidFill>
          <a:ln xmlns:a="http://schemas.openxmlformats.org/drawingml/2006/main" w="11430">
            <a:solidFill>
              <a:srgbClr val="C8D5D1"/>
            </a:solidFill>
            <a:prstDash val="solid"/>
          </a:ln>
        </p:spPr>
      </p:sp>
      <p:sp>
        <p:nvSpPr>
          <p:cNvPr id="20" name="pipe-h-3">
            <a:extLst xmlns:a="http://schemas.openxmlformats.org/drawingml/2006/main">
              <a:ext uri="{FF2B5EF4-FFF2-40B4-BE49-F238E27FC236}">
                <a16:creationId xmlns:a16="http://schemas.microsoft.com/office/drawing/2014/main" id="{19514975-B753-46E9-8423-58D5664E9E6B}"/>
              </a:ext>
            </a:extLst>
          </p:cNvPr>
          <p:cNvSpPr>
            <a:spLocks xmlns:a="http://schemas.openxmlformats.org/drawingml/2006/main" noGrp="1"/>
          </p:cNvSpPr>
          <p:nvPr/>
        </p:nvSpPr>
        <p:spPr>
          <a:xfrm xmlns:a="http://schemas.openxmlformats.org/drawingml/2006/main">
            <a:off x="6724650" y="26479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Calcul</a:t>
            </a:r>
          </a:p>
        </p:txBody>
      </p:sp>
      <p:sp>
        <p:nvSpPr>
          <p:cNvPr id="21" name="pipe-b-3">
            <a:extLst xmlns:a="http://schemas.openxmlformats.org/drawingml/2006/main">
              <a:ext uri="{FF2B5EF4-FFF2-40B4-BE49-F238E27FC236}">
                <a16:creationId xmlns:a16="http://schemas.microsoft.com/office/drawing/2014/main" id="{9E808F9A-41DC-41CC-B089-334C16DA697D}"/>
              </a:ext>
            </a:extLst>
          </p:cNvPr>
          <p:cNvSpPr>
            <a:spLocks xmlns:a="http://schemas.openxmlformats.org/drawingml/2006/main" noGrp="1"/>
          </p:cNvSpPr>
          <p:nvPr/>
        </p:nvSpPr>
        <p:spPr>
          <a:xfrm xmlns:a="http://schemas.openxmlformats.org/drawingml/2006/main">
            <a:off x="6724650" y="314325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Spark</a:t>
            </a:r>
          </a:p>
        </p:txBody>
      </p:sp>
      <p:sp>
        <p:nvSpPr>
          <p:cNvPr id="22" name="pipe-node-4">
            <a:extLst xmlns:a="http://schemas.openxmlformats.org/drawingml/2006/main">
              <a:ext uri="{FF2B5EF4-FFF2-40B4-BE49-F238E27FC236}">
                <a16:creationId xmlns:a16="http://schemas.microsoft.com/office/drawing/2014/main" id="{74E4D55D-C698-4C90-A392-3520C9C1D9E4}"/>
              </a:ext>
            </a:extLst>
          </p:cNvPr>
          <p:cNvSpPr>
            <a:spLocks xmlns:a="http://schemas.openxmlformats.org/drawingml/2006/main" noGrp="1"/>
          </p:cNvSpPr>
          <p:nvPr/>
        </p:nvSpPr>
        <p:spPr>
          <a:xfrm xmlns:a="http://schemas.openxmlformats.org/drawingml/2006/main">
            <a:off x="8591550" y="2400300"/>
            <a:ext cx="1352550" cy="1524000"/>
          </a:xfrm>
          <a:prstGeom xmlns:a="http://schemas.openxmlformats.org/drawingml/2006/main" prst="roundRect">
            <a:avLst>
              <a:gd name="adj" fmla="val 12676"/>
            </a:avLst>
          </a:prstGeom>
          <a:solidFill xmlns:a="http://schemas.openxmlformats.org/drawingml/2006/main">
            <a:srgbClr val="FFFFFF"/>
          </a:solidFill>
          <a:ln xmlns:a="http://schemas.openxmlformats.org/drawingml/2006/main" w="11430">
            <a:solidFill>
              <a:srgbClr val="C8D5D1"/>
            </a:solidFill>
            <a:prstDash val="solid"/>
          </a:ln>
        </p:spPr>
      </p:sp>
      <p:sp>
        <p:nvSpPr>
          <p:cNvPr id="23" name="pipe-h-4">
            <a:extLst xmlns:a="http://schemas.openxmlformats.org/drawingml/2006/main">
              <a:ext uri="{FF2B5EF4-FFF2-40B4-BE49-F238E27FC236}">
                <a16:creationId xmlns:a16="http://schemas.microsoft.com/office/drawing/2014/main" id="{E2B4CDD3-76FA-43B3-B2B7-DC1010EE0679}"/>
              </a:ext>
            </a:extLst>
          </p:cNvPr>
          <p:cNvSpPr>
            <a:spLocks xmlns:a="http://schemas.openxmlformats.org/drawingml/2006/main" noGrp="1"/>
          </p:cNvSpPr>
          <p:nvPr/>
        </p:nvSpPr>
        <p:spPr>
          <a:xfrm xmlns:a="http://schemas.openxmlformats.org/drawingml/2006/main">
            <a:off x="8705850" y="26479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Serving</a:t>
            </a:r>
          </a:p>
        </p:txBody>
      </p:sp>
      <p:sp>
        <p:nvSpPr>
          <p:cNvPr id="24" name="pipe-b-4">
            <a:extLst xmlns:a="http://schemas.openxmlformats.org/drawingml/2006/main">
              <a:ext uri="{FF2B5EF4-FFF2-40B4-BE49-F238E27FC236}">
                <a16:creationId xmlns:a16="http://schemas.microsoft.com/office/drawing/2014/main" id="{313A97CE-BC4A-49D1-8B7B-359623C1FE83}"/>
              </a:ext>
            </a:extLst>
          </p:cNvPr>
          <p:cNvSpPr>
            <a:spLocks xmlns:a="http://schemas.openxmlformats.org/drawingml/2006/main" noGrp="1"/>
          </p:cNvSpPr>
          <p:nvPr/>
        </p:nvSpPr>
        <p:spPr>
          <a:xfrm xmlns:a="http://schemas.openxmlformats.org/drawingml/2006/main">
            <a:off x="8705850" y="314325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SQLite · Mongo</a:t>
            </a:r>
          </a:p>
        </p:txBody>
      </p:sp>
      <p:sp>
        <p:nvSpPr>
          <p:cNvPr id="25" name="pipe-node-5">
            <a:extLst xmlns:a="http://schemas.openxmlformats.org/drawingml/2006/main">
              <a:ext uri="{FF2B5EF4-FFF2-40B4-BE49-F238E27FC236}">
                <a16:creationId xmlns:a16="http://schemas.microsoft.com/office/drawing/2014/main" id="{504FB194-25EC-48BE-A2A3-80946DE24118}"/>
              </a:ext>
            </a:extLst>
          </p:cNvPr>
          <p:cNvSpPr>
            <a:spLocks xmlns:a="http://schemas.openxmlformats.org/drawingml/2006/main" noGrp="1"/>
          </p:cNvSpPr>
          <p:nvPr/>
        </p:nvSpPr>
        <p:spPr>
          <a:xfrm xmlns:a="http://schemas.openxmlformats.org/drawingml/2006/main">
            <a:off x="10382250" y="2400300"/>
            <a:ext cx="1200150" cy="1524000"/>
          </a:xfrm>
          <a:prstGeom xmlns:a="http://schemas.openxmlformats.org/drawingml/2006/main" prst="roundRect">
            <a:avLst>
              <a:gd name="adj" fmla="val 14286"/>
            </a:avLst>
          </a:prstGeom>
          <a:solidFill xmlns:a="http://schemas.openxmlformats.org/drawingml/2006/main">
            <a:srgbClr val="153D3A"/>
          </a:solidFill>
          <a:ln xmlns:a="http://schemas.openxmlformats.org/drawingml/2006/main" w="11430">
            <a:solidFill>
              <a:srgbClr val="153D3A"/>
            </a:solidFill>
            <a:prstDash val="solid"/>
          </a:ln>
        </p:spPr>
      </p:sp>
      <p:sp>
        <p:nvSpPr>
          <p:cNvPr id="26" name="pipe-h-5">
            <a:extLst xmlns:a="http://schemas.openxmlformats.org/drawingml/2006/main">
              <a:ext uri="{FF2B5EF4-FFF2-40B4-BE49-F238E27FC236}">
                <a16:creationId xmlns:a16="http://schemas.microsoft.com/office/drawing/2014/main" id="{00006D0F-7DD9-40EE-B7A4-71138E5528ED}"/>
              </a:ext>
            </a:extLst>
          </p:cNvPr>
          <p:cNvSpPr>
            <a:spLocks xmlns:a="http://schemas.openxmlformats.org/drawingml/2006/main" noGrp="1"/>
          </p:cNvSpPr>
          <p:nvPr/>
        </p:nvSpPr>
        <p:spPr>
          <a:xfrm xmlns:a="http://schemas.openxmlformats.org/drawingml/2006/main">
            <a:off x="10496550" y="2647950"/>
            <a:ext cx="97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Analyse</a:t>
            </a:r>
          </a:p>
        </p:txBody>
      </p:sp>
      <p:sp>
        <p:nvSpPr>
          <p:cNvPr id="27" name="pipe-b-5">
            <a:extLst xmlns:a="http://schemas.openxmlformats.org/drawingml/2006/main">
              <a:ext uri="{FF2B5EF4-FFF2-40B4-BE49-F238E27FC236}">
                <a16:creationId xmlns:a16="http://schemas.microsoft.com/office/drawing/2014/main" id="{D4F96AFF-349C-4782-8E3D-14FBA512218B}"/>
              </a:ext>
            </a:extLst>
          </p:cNvPr>
          <p:cNvSpPr>
            <a:spLocks xmlns:a="http://schemas.openxmlformats.org/drawingml/2006/main" noGrp="1"/>
          </p:cNvSpPr>
          <p:nvPr/>
        </p:nvSpPr>
        <p:spPr>
          <a:xfrm xmlns:a="http://schemas.openxmlformats.org/drawingml/2006/main">
            <a:off x="10496550" y="3143250"/>
            <a:ext cx="971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DCEDE7"/>
                </a:solidFill>
              </a:defRPr>
            </a:pPr>
            <a:r>
              <a:rPr sz="1200" b="0">
                <a:solidFill>
                  <a:srgbClr val="DCEDE7"/>
                </a:solidFill>
              </a:rPr>
              <a:t>Streamlit</a:t>
            </a:r>
          </a:p>
        </p:txBody>
      </p:sp>
      <p:sp>
        <p:nvSpPr>
          <p:cNvPr id="28" name="pipeline-note">
            <a:extLst xmlns:a="http://schemas.openxmlformats.org/drawingml/2006/main">
              <a:ext uri="{FF2B5EF4-FFF2-40B4-BE49-F238E27FC236}">
                <a16:creationId xmlns:a16="http://schemas.microsoft.com/office/drawing/2014/main" id="{9B671994-145C-4408-8B1F-628467014E86}"/>
              </a:ext>
            </a:extLst>
          </p:cNvPr>
          <p:cNvSpPr>
            <a:spLocks xmlns:a="http://schemas.openxmlformats.org/drawingml/2006/main" noGrp="1"/>
          </p:cNvSpPr>
          <p:nvPr/>
        </p:nvSpPr>
        <p:spPr>
          <a:xfrm xmlns:a="http://schemas.openxmlformats.org/drawingml/2006/main">
            <a:off x="1809750" y="4629150"/>
            <a:ext cx="8572500" cy="819150"/>
          </a:xfrm>
          <a:prstGeom xmlns:a="http://schemas.openxmlformats.org/drawingml/2006/main" prst="roundRect">
            <a:avLst>
              <a:gd name="adj" fmla="val 18605"/>
            </a:avLst>
          </a:prstGeom>
          <a:solidFill xmlns:a="http://schemas.openxmlformats.org/drawingml/2006/main">
            <a:srgbClr val="DCEDE7"/>
          </a:solidFill>
          <a:ln xmlns:a="http://schemas.openxmlformats.org/drawingml/2006/main" w="11430">
            <a:solidFill>
              <a:srgbClr val="DCEDE7"/>
            </a:solidFill>
            <a:prstDash val="solid"/>
          </a:ln>
        </p:spPr>
      </p:sp>
      <p:sp>
        <p:nvSpPr>
          <p:cNvPr id="29" name="pipeline-note-text">
            <a:extLst xmlns:a="http://schemas.openxmlformats.org/drawingml/2006/main">
              <a:ext uri="{FF2B5EF4-FFF2-40B4-BE49-F238E27FC236}">
                <a16:creationId xmlns:a16="http://schemas.microsoft.com/office/drawing/2014/main" id="{C2D92495-22D1-4DEA-A1B0-FF7E16B9C121}"/>
              </a:ext>
            </a:extLst>
          </p:cNvPr>
          <p:cNvSpPr>
            <a:spLocks xmlns:a="http://schemas.openxmlformats.org/drawingml/2006/main" noGrp="1"/>
          </p:cNvSpPr>
          <p:nvPr/>
        </p:nvSpPr>
        <p:spPr>
          <a:xfrm xmlns:a="http://schemas.openxmlformats.org/drawingml/2006/main">
            <a:off x="2143125" y="4857750"/>
            <a:ext cx="790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53D3A"/>
                </a:solidFill>
              </a:defRPr>
            </a:pPr>
            <a:r>
              <a:rPr sz="1575" b="1">
                <a:solidFill>
                  <a:srgbClr val="153D3A"/>
                </a:solidFill>
              </a:rPr>
              <a:t>Le détail reste disponible dans SQLite ; Spark prépare les vues départementales pour accélérer l’exploration.</a:t>
            </a:r>
          </a:p>
        </p:txBody>
      </p:sp>
    </p:spTree>
    <p:extLst>
      <p:ext uri="{BB962C8B-B14F-4D97-AF65-F5344CB8AC3E}">
        <p14:creationId xmlns:p14="http://schemas.microsoft.com/office/powerpoint/2010/main" val="41462980"/>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38" name="kicker-5">
            <a:extLst xmlns:a="http://schemas.openxmlformats.org/drawingml/2006/main">
              <a:ext uri="{FF2B5EF4-FFF2-40B4-BE49-F238E27FC236}">
                <a16:creationId xmlns:a16="http://schemas.microsoft.com/office/drawing/2014/main" id="{03243B6B-C187-4AA5-8552-BEE2AE5E14CA}"/>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PILE TECHNIQUE</a:t>
            </a:r>
          </a:p>
        </p:txBody>
      </p:sp>
      <p:sp>
        <p:nvSpPr>
          <p:cNvPr id="2" name="title-5">
            <a:extLst xmlns:a="http://schemas.openxmlformats.org/drawingml/2006/main">
              <a:ext uri="{FF2B5EF4-FFF2-40B4-BE49-F238E27FC236}">
                <a16:creationId xmlns:a16="http://schemas.microsoft.com/office/drawing/2014/main" id="{328FA446-18F7-4468-8861-2FBCED354460}"/>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Les bibliothèques sont choisies selon le travail à réaliser</a:t>
            </a:r>
          </a:p>
        </p:txBody>
      </p:sp>
      <p:sp>
        <p:nvSpPr>
          <p:cNvPr id="3" name="rule-5">
            <a:extLst xmlns:a="http://schemas.openxmlformats.org/drawingml/2006/main">
              <a:ext uri="{FF2B5EF4-FFF2-40B4-BE49-F238E27FC236}">
                <a16:creationId xmlns:a16="http://schemas.microsoft.com/office/drawing/2014/main" id="{9A8CBF2C-F4EF-4C19-BCBC-5ABC8C2ACEB3}"/>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5">
            <a:extLst xmlns:a="http://schemas.openxmlformats.org/drawingml/2006/main">
              <a:ext uri="{FF2B5EF4-FFF2-40B4-BE49-F238E27FC236}">
                <a16:creationId xmlns:a16="http://schemas.microsoft.com/office/drawing/2014/main" id="{55653455-11C4-4EE5-9681-F81E80835A26}"/>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05</a:t>
            </a:r>
          </a:p>
        </p:txBody>
      </p:sp>
      <p:sp>
        <p:nvSpPr>
          <p:cNvPr id="5" name="lib-0">
            <a:extLst xmlns:a="http://schemas.openxmlformats.org/drawingml/2006/main">
              <a:ext uri="{FF2B5EF4-FFF2-40B4-BE49-F238E27FC236}">
                <a16:creationId xmlns:a16="http://schemas.microsoft.com/office/drawing/2014/main" id="{D1ABA023-0C37-49C7-B526-22ED6C34718B}"/>
              </a:ext>
            </a:extLst>
          </p:cNvPr>
          <p:cNvSpPr>
            <a:spLocks xmlns:a="http://schemas.openxmlformats.org/drawingml/2006/main" noGrp="1"/>
          </p:cNvSpPr>
          <p:nvPr/>
        </p:nvSpPr>
        <p:spPr>
          <a:xfrm xmlns:a="http://schemas.openxmlformats.org/drawingml/2006/main">
            <a:off x="609600" y="1657350"/>
            <a:ext cx="51435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11430">
            <a:solidFill>
              <a:srgbClr val="C8D5D1"/>
            </a:solidFill>
            <a:prstDash val="solid"/>
          </a:ln>
        </p:spPr>
      </p:sp>
      <p:sp>
        <p:nvSpPr>
          <p:cNvPr id="6" name="lib-a-0">
            <a:extLst xmlns:a="http://schemas.openxmlformats.org/drawingml/2006/main">
              <a:ext uri="{FF2B5EF4-FFF2-40B4-BE49-F238E27FC236}">
                <a16:creationId xmlns:a16="http://schemas.microsoft.com/office/drawing/2014/main" id="{C12E60A5-FB2D-4127-B8B5-CD633D0A529E}"/>
              </a:ext>
            </a:extLst>
          </p:cNvPr>
          <p:cNvSpPr>
            <a:spLocks xmlns:a="http://schemas.openxmlformats.org/drawingml/2006/main" noGrp="1"/>
          </p:cNvSpPr>
          <p:nvPr/>
        </p:nvSpPr>
        <p:spPr>
          <a:xfrm xmlns:a="http://schemas.openxmlformats.org/drawingml/2006/main">
            <a:off x="609600" y="1657350"/>
            <a:ext cx="76200" cy="781050"/>
          </a:xfrm>
          <a:prstGeom xmlns:a="http://schemas.openxmlformats.org/drawingml/2006/main" prst="roundRect">
            <a:avLst>
              <a:gd name="adj" fmla="val 50000"/>
            </a:avLst>
          </a:prstGeom>
          <a:solidFill xmlns:a="http://schemas.openxmlformats.org/drawingml/2006/main">
            <a:srgbClr val="1F6F5F"/>
          </a:solidFill>
          <a:ln xmlns:a="http://schemas.openxmlformats.org/drawingml/2006/main" w="11430">
            <a:solidFill>
              <a:srgbClr val="1F6F5F"/>
            </a:solidFill>
            <a:prstDash val="solid"/>
          </a:ln>
        </p:spPr>
      </p:sp>
      <p:sp>
        <p:nvSpPr>
          <p:cNvPr id="7" name="lib-h-0">
            <a:extLst xmlns:a="http://schemas.openxmlformats.org/drawingml/2006/main">
              <a:ext uri="{FF2B5EF4-FFF2-40B4-BE49-F238E27FC236}">
                <a16:creationId xmlns:a16="http://schemas.microsoft.com/office/drawing/2014/main" id="{8732A385-D950-4039-9A70-6B2B3C53DC73}"/>
              </a:ext>
            </a:extLst>
          </p:cNvPr>
          <p:cNvSpPr>
            <a:spLocks xmlns:a="http://schemas.openxmlformats.org/drawingml/2006/main" noGrp="1"/>
          </p:cNvSpPr>
          <p:nvPr/>
        </p:nvSpPr>
        <p:spPr>
          <a:xfrm xmlns:a="http://schemas.openxmlformats.org/drawingml/2006/main">
            <a:off x="857250" y="17907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02A2A"/>
                </a:solidFill>
              </a:defRPr>
            </a:pPr>
            <a:r>
              <a:rPr sz="1575" b="1">
                <a:solidFill>
                  <a:srgbClr val="102A2A"/>
                </a:solidFill>
              </a:rPr>
              <a:t>pandas</a:t>
            </a:r>
          </a:p>
        </p:txBody>
      </p:sp>
      <p:sp>
        <p:nvSpPr>
          <p:cNvPr id="8" name="lib-b-0">
            <a:extLst xmlns:a="http://schemas.openxmlformats.org/drawingml/2006/main">
              <a:ext uri="{FF2B5EF4-FFF2-40B4-BE49-F238E27FC236}">
                <a16:creationId xmlns:a16="http://schemas.microsoft.com/office/drawing/2014/main" id="{1E097EC7-D91C-4830-9CC7-EC1A6072B9CA}"/>
              </a:ext>
            </a:extLst>
          </p:cNvPr>
          <p:cNvSpPr>
            <a:spLocks xmlns:a="http://schemas.openxmlformats.org/drawingml/2006/main" noGrp="1"/>
          </p:cNvSpPr>
          <p:nvPr/>
        </p:nvSpPr>
        <p:spPr>
          <a:xfrm xmlns:a="http://schemas.openxmlformats.org/drawingml/2006/main">
            <a:off x="2743200" y="18002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ingestion, nettoyage, jointures</a:t>
            </a:r>
          </a:p>
        </p:txBody>
      </p:sp>
      <p:sp>
        <p:nvSpPr>
          <p:cNvPr id="9" name="lib-1">
            <a:extLst xmlns:a="http://schemas.openxmlformats.org/drawingml/2006/main">
              <a:ext uri="{FF2B5EF4-FFF2-40B4-BE49-F238E27FC236}">
                <a16:creationId xmlns:a16="http://schemas.microsoft.com/office/drawing/2014/main" id="{A0909F10-F4AF-4213-A590-6B5B9124D1CD}"/>
              </a:ext>
            </a:extLst>
          </p:cNvPr>
          <p:cNvSpPr>
            <a:spLocks xmlns:a="http://schemas.openxmlformats.org/drawingml/2006/main" noGrp="1"/>
          </p:cNvSpPr>
          <p:nvPr/>
        </p:nvSpPr>
        <p:spPr>
          <a:xfrm xmlns:a="http://schemas.openxmlformats.org/drawingml/2006/main">
            <a:off x="6096000" y="1657350"/>
            <a:ext cx="51435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11430">
            <a:solidFill>
              <a:srgbClr val="C8D5D1"/>
            </a:solidFill>
            <a:prstDash val="solid"/>
          </a:ln>
        </p:spPr>
      </p:sp>
      <p:sp>
        <p:nvSpPr>
          <p:cNvPr id="10" name="lib-a-1">
            <a:extLst xmlns:a="http://schemas.openxmlformats.org/drawingml/2006/main">
              <a:ext uri="{FF2B5EF4-FFF2-40B4-BE49-F238E27FC236}">
                <a16:creationId xmlns:a16="http://schemas.microsoft.com/office/drawing/2014/main" id="{7C339360-4215-4B3A-8938-3E9CE9CA11B8}"/>
              </a:ext>
            </a:extLst>
          </p:cNvPr>
          <p:cNvSpPr>
            <a:spLocks xmlns:a="http://schemas.openxmlformats.org/drawingml/2006/main" noGrp="1"/>
          </p:cNvSpPr>
          <p:nvPr/>
        </p:nvSpPr>
        <p:spPr>
          <a:xfrm xmlns:a="http://schemas.openxmlformats.org/drawingml/2006/main">
            <a:off x="6096000" y="1657350"/>
            <a:ext cx="76200" cy="781050"/>
          </a:xfrm>
          <a:prstGeom xmlns:a="http://schemas.openxmlformats.org/drawingml/2006/main" prst="roundRect">
            <a:avLst>
              <a:gd name="adj" fmla="val 50000"/>
            </a:avLst>
          </a:prstGeom>
          <a:solidFill xmlns:a="http://schemas.openxmlformats.org/drawingml/2006/main">
            <a:srgbClr val="D66B4D"/>
          </a:solidFill>
          <a:ln xmlns:a="http://schemas.openxmlformats.org/drawingml/2006/main" w="11430">
            <a:solidFill>
              <a:srgbClr val="D66B4D"/>
            </a:solidFill>
            <a:prstDash val="solid"/>
          </a:ln>
        </p:spPr>
      </p:sp>
      <p:sp>
        <p:nvSpPr>
          <p:cNvPr id="11" name="lib-h-1">
            <a:extLst xmlns:a="http://schemas.openxmlformats.org/drawingml/2006/main">
              <a:ext uri="{FF2B5EF4-FFF2-40B4-BE49-F238E27FC236}">
                <a16:creationId xmlns:a16="http://schemas.microsoft.com/office/drawing/2014/main" id="{EDCB60F9-ADDF-483B-95F7-9A5C12081F8B}"/>
              </a:ext>
            </a:extLst>
          </p:cNvPr>
          <p:cNvSpPr>
            <a:spLocks xmlns:a="http://schemas.openxmlformats.org/drawingml/2006/main" noGrp="1"/>
          </p:cNvSpPr>
          <p:nvPr/>
        </p:nvSpPr>
        <p:spPr>
          <a:xfrm xmlns:a="http://schemas.openxmlformats.org/drawingml/2006/main">
            <a:off x="6343650" y="17907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02A2A"/>
                </a:solidFill>
              </a:defRPr>
            </a:pPr>
            <a:r>
              <a:rPr sz="1575" b="1">
                <a:solidFill>
                  <a:srgbClr val="102A2A"/>
                </a:solidFill>
              </a:rPr>
              <a:t>PySpark</a:t>
            </a:r>
          </a:p>
        </p:txBody>
      </p:sp>
      <p:sp>
        <p:nvSpPr>
          <p:cNvPr id="12" name="lib-b-1">
            <a:extLst xmlns:a="http://schemas.openxmlformats.org/drawingml/2006/main">
              <a:ext uri="{FF2B5EF4-FFF2-40B4-BE49-F238E27FC236}">
                <a16:creationId xmlns:a16="http://schemas.microsoft.com/office/drawing/2014/main" id="{C97C1167-D9CE-47CF-A519-0141307410F8}"/>
              </a:ext>
            </a:extLst>
          </p:cNvPr>
          <p:cNvSpPr>
            <a:spLocks xmlns:a="http://schemas.openxmlformats.org/drawingml/2006/main" noGrp="1"/>
          </p:cNvSpPr>
          <p:nvPr/>
        </p:nvSpPr>
        <p:spPr>
          <a:xfrm xmlns:a="http://schemas.openxmlformats.org/drawingml/2006/main">
            <a:off x="8229600" y="18002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pré-agrégation distribuée DVF</a:t>
            </a:r>
          </a:p>
        </p:txBody>
      </p:sp>
      <p:sp>
        <p:nvSpPr>
          <p:cNvPr id="13" name="lib-2">
            <a:extLst xmlns:a="http://schemas.openxmlformats.org/drawingml/2006/main">
              <a:ext uri="{FF2B5EF4-FFF2-40B4-BE49-F238E27FC236}">
                <a16:creationId xmlns:a16="http://schemas.microsoft.com/office/drawing/2014/main" id="{1A546423-B803-4F5C-9626-BD60785D1E36}"/>
              </a:ext>
            </a:extLst>
          </p:cNvPr>
          <p:cNvSpPr>
            <a:spLocks xmlns:a="http://schemas.openxmlformats.org/drawingml/2006/main" noGrp="1"/>
          </p:cNvSpPr>
          <p:nvPr/>
        </p:nvSpPr>
        <p:spPr>
          <a:xfrm xmlns:a="http://schemas.openxmlformats.org/drawingml/2006/main">
            <a:off x="609600" y="2647950"/>
            <a:ext cx="51435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11430">
            <a:solidFill>
              <a:srgbClr val="C8D5D1"/>
            </a:solidFill>
            <a:prstDash val="solid"/>
          </a:ln>
        </p:spPr>
      </p:sp>
      <p:sp>
        <p:nvSpPr>
          <p:cNvPr id="14" name="lib-a-2">
            <a:extLst xmlns:a="http://schemas.openxmlformats.org/drawingml/2006/main">
              <a:ext uri="{FF2B5EF4-FFF2-40B4-BE49-F238E27FC236}">
                <a16:creationId xmlns:a16="http://schemas.microsoft.com/office/drawing/2014/main" id="{59FEA34A-64BE-4D6B-95A5-F37880C927F6}"/>
              </a:ext>
            </a:extLst>
          </p:cNvPr>
          <p:cNvSpPr>
            <a:spLocks xmlns:a="http://schemas.openxmlformats.org/drawingml/2006/main" noGrp="1"/>
          </p:cNvSpPr>
          <p:nvPr/>
        </p:nvSpPr>
        <p:spPr>
          <a:xfrm xmlns:a="http://schemas.openxmlformats.org/drawingml/2006/main">
            <a:off x="609600" y="2647950"/>
            <a:ext cx="76200" cy="781050"/>
          </a:xfrm>
          <a:prstGeom xmlns:a="http://schemas.openxmlformats.org/drawingml/2006/main" prst="roundRect">
            <a:avLst>
              <a:gd name="adj" fmla="val 50000"/>
            </a:avLst>
          </a:prstGeom>
          <a:solidFill xmlns:a="http://schemas.openxmlformats.org/drawingml/2006/main">
            <a:srgbClr val="3C7891"/>
          </a:solidFill>
          <a:ln xmlns:a="http://schemas.openxmlformats.org/drawingml/2006/main" w="11430">
            <a:solidFill>
              <a:srgbClr val="3C7891"/>
            </a:solidFill>
            <a:prstDash val="solid"/>
          </a:ln>
        </p:spPr>
      </p:sp>
      <p:sp>
        <p:nvSpPr>
          <p:cNvPr id="15" name="lib-h-2">
            <a:extLst xmlns:a="http://schemas.openxmlformats.org/drawingml/2006/main">
              <a:ext uri="{FF2B5EF4-FFF2-40B4-BE49-F238E27FC236}">
                <a16:creationId xmlns:a16="http://schemas.microsoft.com/office/drawing/2014/main" id="{D8B3D43F-3ABC-4717-9507-F49E39AB2C1E}"/>
              </a:ext>
            </a:extLst>
          </p:cNvPr>
          <p:cNvSpPr>
            <a:spLocks xmlns:a="http://schemas.openxmlformats.org/drawingml/2006/main" noGrp="1"/>
          </p:cNvSpPr>
          <p:nvPr/>
        </p:nvSpPr>
        <p:spPr>
          <a:xfrm xmlns:a="http://schemas.openxmlformats.org/drawingml/2006/main">
            <a:off x="857250" y="2781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02A2A"/>
                </a:solidFill>
              </a:defRPr>
            </a:pPr>
            <a:r>
              <a:rPr sz="1575" b="1">
                <a:solidFill>
                  <a:srgbClr val="102A2A"/>
                </a:solidFill>
              </a:rPr>
              <a:t>sqlite3 / SQLAlchemy</a:t>
            </a:r>
          </a:p>
        </p:txBody>
      </p:sp>
      <p:sp>
        <p:nvSpPr>
          <p:cNvPr id="16" name="lib-b-2">
            <a:extLst xmlns:a="http://schemas.openxmlformats.org/drawingml/2006/main">
              <a:ext uri="{FF2B5EF4-FFF2-40B4-BE49-F238E27FC236}">
                <a16:creationId xmlns:a16="http://schemas.microsoft.com/office/drawing/2014/main" id="{DC955DC5-6D4E-48B0-A9FD-626589A551C8}"/>
              </a:ext>
            </a:extLst>
          </p:cNvPr>
          <p:cNvSpPr>
            <a:spLocks xmlns:a="http://schemas.openxmlformats.org/drawingml/2006/main" noGrp="1"/>
          </p:cNvSpPr>
          <p:nvPr/>
        </p:nvSpPr>
        <p:spPr>
          <a:xfrm xmlns:a="http://schemas.openxmlformats.org/drawingml/2006/main">
            <a:off x="2743200" y="27908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stockage et chargement SQL</a:t>
            </a:r>
          </a:p>
        </p:txBody>
      </p:sp>
      <p:sp>
        <p:nvSpPr>
          <p:cNvPr id="17" name="lib-3">
            <a:extLst xmlns:a="http://schemas.openxmlformats.org/drawingml/2006/main">
              <a:ext uri="{FF2B5EF4-FFF2-40B4-BE49-F238E27FC236}">
                <a16:creationId xmlns:a16="http://schemas.microsoft.com/office/drawing/2014/main" id="{F008FFB4-1AA3-4136-8510-3154936E76E6}"/>
              </a:ext>
            </a:extLst>
          </p:cNvPr>
          <p:cNvSpPr>
            <a:spLocks xmlns:a="http://schemas.openxmlformats.org/drawingml/2006/main" noGrp="1"/>
          </p:cNvSpPr>
          <p:nvPr/>
        </p:nvSpPr>
        <p:spPr>
          <a:xfrm xmlns:a="http://schemas.openxmlformats.org/drawingml/2006/main">
            <a:off x="6096000" y="2647950"/>
            <a:ext cx="51435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11430">
            <a:solidFill>
              <a:srgbClr val="C8D5D1"/>
            </a:solidFill>
            <a:prstDash val="solid"/>
          </a:ln>
        </p:spPr>
      </p:sp>
      <p:sp>
        <p:nvSpPr>
          <p:cNvPr id="18" name="lib-a-3">
            <a:extLst xmlns:a="http://schemas.openxmlformats.org/drawingml/2006/main">
              <a:ext uri="{FF2B5EF4-FFF2-40B4-BE49-F238E27FC236}">
                <a16:creationId xmlns:a16="http://schemas.microsoft.com/office/drawing/2014/main" id="{E13F0ACE-ABC9-4731-ACB9-EFF51933EEFC}"/>
              </a:ext>
            </a:extLst>
          </p:cNvPr>
          <p:cNvSpPr>
            <a:spLocks xmlns:a="http://schemas.openxmlformats.org/drawingml/2006/main" noGrp="1"/>
          </p:cNvSpPr>
          <p:nvPr/>
        </p:nvSpPr>
        <p:spPr>
          <a:xfrm xmlns:a="http://schemas.openxmlformats.org/drawingml/2006/main">
            <a:off x="6096000" y="2647950"/>
            <a:ext cx="76200" cy="781050"/>
          </a:xfrm>
          <a:prstGeom xmlns:a="http://schemas.openxmlformats.org/drawingml/2006/main" prst="roundRect">
            <a:avLst>
              <a:gd name="adj" fmla="val 50000"/>
            </a:avLst>
          </a:prstGeom>
          <a:solidFill xmlns:a="http://schemas.openxmlformats.org/drawingml/2006/main">
            <a:srgbClr val="153D3A"/>
          </a:solidFill>
          <a:ln xmlns:a="http://schemas.openxmlformats.org/drawingml/2006/main" w="11430">
            <a:solidFill>
              <a:srgbClr val="153D3A"/>
            </a:solidFill>
            <a:prstDash val="solid"/>
          </a:ln>
        </p:spPr>
      </p:sp>
      <p:sp>
        <p:nvSpPr>
          <p:cNvPr id="19" name="lib-h-3">
            <a:extLst xmlns:a="http://schemas.openxmlformats.org/drawingml/2006/main">
              <a:ext uri="{FF2B5EF4-FFF2-40B4-BE49-F238E27FC236}">
                <a16:creationId xmlns:a16="http://schemas.microsoft.com/office/drawing/2014/main" id="{57FC24B6-DCB3-4D07-B2EE-FF7E39C18C1D}"/>
              </a:ext>
            </a:extLst>
          </p:cNvPr>
          <p:cNvSpPr>
            <a:spLocks xmlns:a="http://schemas.openxmlformats.org/drawingml/2006/main" noGrp="1"/>
          </p:cNvSpPr>
          <p:nvPr/>
        </p:nvSpPr>
        <p:spPr>
          <a:xfrm xmlns:a="http://schemas.openxmlformats.org/drawingml/2006/main">
            <a:off x="6343650" y="2781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02A2A"/>
                </a:solidFill>
              </a:defRPr>
            </a:pPr>
            <a:r>
              <a:rPr sz="1575" b="1">
                <a:solidFill>
                  <a:srgbClr val="102A2A"/>
                </a:solidFill>
              </a:rPr>
              <a:t>PyMongo</a:t>
            </a:r>
          </a:p>
        </p:txBody>
      </p:sp>
      <p:sp>
        <p:nvSpPr>
          <p:cNvPr id="20" name="lib-b-3">
            <a:extLst xmlns:a="http://schemas.openxmlformats.org/drawingml/2006/main">
              <a:ext uri="{FF2B5EF4-FFF2-40B4-BE49-F238E27FC236}">
                <a16:creationId xmlns:a16="http://schemas.microsoft.com/office/drawing/2014/main" id="{3F4AF501-7B29-4975-8750-4B8A5295C41F}"/>
              </a:ext>
            </a:extLst>
          </p:cNvPr>
          <p:cNvSpPr>
            <a:spLocks xmlns:a="http://schemas.openxmlformats.org/drawingml/2006/main" noGrp="1"/>
          </p:cNvSpPr>
          <p:nvPr/>
        </p:nvSpPr>
        <p:spPr>
          <a:xfrm xmlns:a="http://schemas.openxmlformats.org/drawingml/2006/main">
            <a:off x="8229600" y="27908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documents, index uniques, upserts</a:t>
            </a:r>
          </a:p>
        </p:txBody>
      </p:sp>
      <p:sp>
        <p:nvSpPr>
          <p:cNvPr id="21" name="lib-4">
            <a:extLst xmlns:a="http://schemas.openxmlformats.org/drawingml/2006/main">
              <a:ext uri="{FF2B5EF4-FFF2-40B4-BE49-F238E27FC236}">
                <a16:creationId xmlns:a16="http://schemas.microsoft.com/office/drawing/2014/main" id="{461E8D07-43BE-47EF-A32C-0174CC43C22E}"/>
              </a:ext>
            </a:extLst>
          </p:cNvPr>
          <p:cNvSpPr>
            <a:spLocks xmlns:a="http://schemas.openxmlformats.org/drawingml/2006/main" noGrp="1"/>
          </p:cNvSpPr>
          <p:nvPr/>
        </p:nvSpPr>
        <p:spPr>
          <a:xfrm xmlns:a="http://schemas.openxmlformats.org/drawingml/2006/main">
            <a:off x="609600" y="3638550"/>
            <a:ext cx="51435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11430">
            <a:solidFill>
              <a:srgbClr val="C8D5D1"/>
            </a:solidFill>
            <a:prstDash val="solid"/>
          </a:ln>
        </p:spPr>
      </p:sp>
      <p:sp>
        <p:nvSpPr>
          <p:cNvPr id="22" name="lib-a-4">
            <a:extLst xmlns:a="http://schemas.openxmlformats.org/drawingml/2006/main">
              <a:ext uri="{FF2B5EF4-FFF2-40B4-BE49-F238E27FC236}">
                <a16:creationId xmlns:a16="http://schemas.microsoft.com/office/drawing/2014/main" id="{233AA52A-424E-4E27-87ED-2029F1DE9242}"/>
              </a:ext>
            </a:extLst>
          </p:cNvPr>
          <p:cNvSpPr>
            <a:spLocks xmlns:a="http://schemas.openxmlformats.org/drawingml/2006/main" noGrp="1"/>
          </p:cNvSpPr>
          <p:nvPr/>
        </p:nvSpPr>
        <p:spPr>
          <a:xfrm xmlns:a="http://schemas.openxmlformats.org/drawingml/2006/main">
            <a:off x="609600" y="3638550"/>
            <a:ext cx="76200" cy="781050"/>
          </a:xfrm>
          <a:prstGeom xmlns:a="http://schemas.openxmlformats.org/drawingml/2006/main" prst="roundRect">
            <a:avLst>
              <a:gd name="adj" fmla="val 50000"/>
            </a:avLst>
          </a:prstGeom>
          <a:solidFill xmlns:a="http://schemas.openxmlformats.org/drawingml/2006/main">
            <a:srgbClr val="1F6F5F"/>
          </a:solidFill>
          <a:ln xmlns:a="http://schemas.openxmlformats.org/drawingml/2006/main" w="11430">
            <a:solidFill>
              <a:srgbClr val="1F6F5F"/>
            </a:solidFill>
            <a:prstDash val="solid"/>
          </a:ln>
        </p:spPr>
      </p:sp>
      <p:sp>
        <p:nvSpPr>
          <p:cNvPr id="23" name="lib-h-4">
            <a:extLst xmlns:a="http://schemas.openxmlformats.org/drawingml/2006/main">
              <a:ext uri="{FF2B5EF4-FFF2-40B4-BE49-F238E27FC236}">
                <a16:creationId xmlns:a16="http://schemas.microsoft.com/office/drawing/2014/main" id="{F4628EB6-200F-485B-801E-01AA6C3FD312}"/>
              </a:ext>
            </a:extLst>
          </p:cNvPr>
          <p:cNvSpPr>
            <a:spLocks xmlns:a="http://schemas.openxmlformats.org/drawingml/2006/main" noGrp="1"/>
          </p:cNvSpPr>
          <p:nvPr/>
        </p:nvSpPr>
        <p:spPr>
          <a:xfrm xmlns:a="http://schemas.openxmlformats.org/drawingml/2006/main">
            <a:off x="857250" y="37719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02A2A"/>
                </a:solidFill>
              </a:defRPr>
            </a:pPr>
            <a:r>
              <a:rPr sz="1575" b="1">
                <a:solidFill>
                  <a:srgbClr val="102A2A"/>
                </a:solidFill>
              </a:rPr>
              <a:t>Streamlit</a:t>
            </a:r>
          </a:p>
        </p:txBody>
      </p:sp>
      <p:sp>
        <p:nvSpPr>
          <p:cNvPr id="24" name="lib-b-4">
            <a:extLst xmlns:a="http://schemas.openxmlformats.org/drawingml/2006/main">
              <a:ext uri="{FF2B5EF4-FFF2-40B4-BE49-F238E27FC236}">
                <a16:creationId xmlns:a16="http://schemas.microsoft.com/office/drawing/2014/main" id="{027C0160-511E-4EFA-9B7B-CCC7E1CF27CE}"/>
              </a:ext>
            </a:extLst>
          </p:cNvPr>
          <p:cNvSpPr>
            <a:spLocks xmlns:a="http://schemas.openxmlformats.org/drawingml/2006/main" noGrp="1"/>
          </p:cNvSpPr>
          <p:nvPr/>
        </p:nvSpPr>
        <p:spPr>
          <a:xfrm xmlns:a="http://schemas.openxmlformats.org/drawingml/2006/main">
            <a:off x="2743200" y="37814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interface et interaction</a:t>
            </a:r>
          </a:p>
        </p:txBody>
      </p:sp>
      <p:sp>
        <p:nvSpPr>
          <p:cNvPr id="25" name="lib-5">
            <a:extLst xmlns:a="http://schemas.openxmlformats.org/drawingml/2006/main">
              <a:ext uri="{FF2B5EF4-FFF2-40B4-BE49-F238E27FC236}">
                <a16:creationId xmlns:a16="http://schemas.microsoft.com/office/drawing/2014/main" id="{A062E0E6-1FB2-4634-9949-53FDD0DEF9C5}"/>
              </a:ext>
            </a:extLst>
          </p:cNvPr>
          <p:cNvSpPr>
            <a:spLocks xmlns:a="http://schemas.openxmlformats.org/drawingml/2006/main" noGrp="1"/>
          </p:cNvSpPr>
          <p:nvPr/>
        </p:nvSpPr>
        <p:spPr>
          <a:xfrm xmlns:a="http://schemas.openxmlformats.org/drawingml/2006/main">
            <a:off x="6096000" y="3638550"/>
            <a:ext cx="51435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11430">
            <a:solidFill>
              <a:srgbClr val="C8D5D1"/>
            </a:solidFill>
            <a:prstDash val="solid"/>
          </a:ln>
        </p:spPr>
      </p:sp>
      <p:sp>
        <p:nvSpPr>
          <p:cNvPr id="26" name="lib-a-5">
            <a:extLst xmlns:a="http://schemas.openxmlformats.org/drawingml/2006/main">
              <a:ext uri="{FF2B5EF4-FFF2-40B4-BE49-F238E27FC236}">
                <a16:creationId xmlns:a16="http://schemas.microsoft.com/office/drawing/2014/main" id="{B49A83B7-81F5-4837-B408-7C1F126A79A5}"/>
              </a:ext>
            </a:extLst>
          </p:cNvPr>
          <p:cNvSpPr>
            <a:spLocks xmlns:a="http://schemas.openxmlformats.org/drawingml/2006/main" noGrp="1"/>
          </p:cNvSpPr>
          <p:nvPr/>
        </p:nvSpPr>
        <p:spPr>
          <a:xfrm xmlns:a="http://schemas.openxmlformats.org/drawingml/2006/main">
            <a:off x="6096000" y="3638550"/>
            <a:ext cx="76200" cy="781050"/>
          </a:xfrm>
          <a:prstGeom xmlns:a="http://schemas.openxmlformats.org/drawingml/2006/main" prst="roundRect">
            <a:avLst>
              <a:gd name="adj" fmla="val 50000"/>
            </a:avLst>
          </a:prstGeom>
          <a:solidFill xmlns:a="http://schemas.openxmlformats.org/drawingml/2006/main">
            <a:srgbClr val="D66B4D"/>
          </a:solidFill>
          <a:ln xmlns:a="http://schemas.openxmlformats.org/drawingml/2006/main" w="11430">
            <a:solidFill>
              <a:srgbClr val="D66B4D"/>
            </a:solidFill>
            <a:prstDash val="solid"/>
          </a:ln>
        </p:spPr>
      </p:sp>
      <p:sp>
        <p:nvSpPr>
          <p:cNvPr id="27" name="lib-h-5">
            <a:extLst xmlns:a="http://schemas.openxmlformats.org/drawingml/2006/main">
              <a:ext uri="{FF2B5EF4-FFF2-40B4-BE49-F238E27FC236}">
                <a16:creationId xmlns:a16="http://schemas.microsoft.com/office/drawing/2014/main" id="{0948FF6E-6487-4299-A620-0CD4C0850652}"/>
              </a:ext>
            </a:extLst>
          </p:cNvPr>
          <p:cNvSpPr>
            <a:spLocks xmlns:a="http://schemas.openxmlformats.org/drawingml/2006/main" noGrp="1"/>
          </p:cNvSpPr>
          <p:nvPr/>
        </p:nvSpPr>
        <p:spPr>
          <a:xfrm xmlns:a="http://schemas.openxmlformats.org/drawingml/2006/main">
            <a:off x="6343650" y="37719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02A2A"/>
                </a:solidFill>
              </a:defRPr>
            </a:pPr>
            <a:r>
              <a:rPr sz="1575" b="1">
                <a:solidFill>
                  <a:srgbClr val="102A2A"/>
                </a:solidFill>
              </a:rPr>
              <a:t>GeoPandas / Folium</a:t>
            </a:r>
          </a:p>
        </p:txBody>
      </p:sp>
      <p:sp>
        <p:nvSpPr>
          <p:cNvPr id="28" name="lib-b-5">
            <a:extLst xmlns:a="http://schemas.openxmlformats.org/drawingml/2006/main">
              <a:ext uri="{FF2B5EF4-FFF2-40B4-BE49-F238E27FC236}">
                <a16:creationId xmlns:a16="http://schemas.microsoft.com/office/drawing/2014/main" id="{6BC0D587-561D-4413-B3EF-FA135354E7BC}"/>
              </a:ext>
            </a:extLst>
          </p:cNvPr>
          <p:cNvSpPr>
            <a:spLocks xmlns:a="http://schemas.openxmlformats.org/drawingml/2006/main" noGrp="1"/>
          </p:cNvSpPr>
          <p:nvPr/>
        </p:nvSpPr>
        <p:spPr>
          <a:xfrm xmlns:a="http://schemas.openxmlformats.org/drawingml/2006/main">
            <a:off x="8229600" y="37814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jointures et cartes</a:t>
            </a:r>
          </a:p>
        </p:txBody>
      </p:sp>
      <p:sp>
        <p:nvSpPr>
          <p:cNvPr id="29" name="lib-6">
            <a:extLst xmlns:a="http://schemas.openxmlformats.org/drawingml/2006/main">
              <a:ext uri="{FF2B5EF4-FFF2-40B4-BE49-F238E27FC236}">
                <a16:creationId xmlns:a16="http://schemas.microsoft.com/office/drawing/2014/main" id="{3B8B3D4C-0282-44E1-91D8-875755214273}"/>
              </a:ext>
            </a:extLst>
          </p:cNvPr>
          <p:cNvSpPr>
            <a:spLocks xmlns:a="http://schemas.openxmlformats.org/drawingml/2006/main" noGrp="1"/>
          </p:cNvSpPr>
          <p:nvPr/>
        </p:nvSpPr>
        <p:spPr>
          <a:xfrm xmlns:a="http://schemas.openxmlformats.org/drawingml/2006/main">
            <a:off x="609600" y="4629150"/>
            <a:ext cx="51435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11430">
            <a:solidFill>
              <a:srgbClr val="C8D5D1"/>
            </a:solidFill>
            <a:prstDash val="solid"/>
          </a:ln>
        </p:spPr>
      </p:sp>
      <p:sp>
        <p:nvSpPr>
          <p:cNvPr id="30" name="lib-a-6">
            <a:extLst xmlns:a="http://schemas.openxmlformats.org/drawingml/2006/main">
              <a:ext uri="{FF2B5EF4-FFF2-40B4-BE49-F238E27FC236}">
                <a16:creationId xmlns:a16="http://schemas.microsoft.com/office/drawing/2014/main" id="{487ACDBB-C025-4557-90CA-07C37C9F7764}"/>
              </a:ext>
            </a:extLst>
          </p:cNvPr>
          <p:cNvSpPr>
            <a:spLocks xmlns:a="http://schemas.openxmlformats.org/drawingml/2006/main" noGrp="1"/>
          </p:cNvSpPr>
          <p:nvPr/>
        </p:nvSpPr>
        <p:spPr>
          <a:xfrm xmlns:a="http://schemas.openxmlformats.org/drawingml/2006/main">
            <a:off x="609600" y="4629150"/>
            <a:ext cx="76200" cy="781050"/>
          </a:xfrm>
          <a:prstGeom xmlns:a="http://schemas.openxmlformats.org/drawingml/2006/main" prst="roundRect">
            <a:avLst>
              <a:gd name="adj" fmla="val 50000"/>
            </a:avLst>
          </a:prstGeom>
          <a:solidFill xmlns:a="http://schemas.openxmlformats.org/drawingml/2006/main">
            <a:srgbClr val="3C7891"/>
          </a:solidFill>
          <a:ln xmlns:a="http://schemas.openxmlformats.org/drawingml/2006/main" w="11430">
            <a:solidFill>
              <a:srgbClr val="3C7891"/>
            </a:solidFill>
            <a:prstDash val="solid"/>
          </a:ln>
        </p:spPr>
      </p:sp>
      <p:sp>
        <p:nvSpPr>
          <p:cNvPr id="31" name="lib-h-6">
            <a:extLst xmlns:a="http://schemas.openxmlformats.org/drawingml/2006/main">
              <a:ext uri="{FF2B5EF4-FFF2-40B4-BE49-F238E27FC236}">
                <a16:creationId xmlns:a16="http://schemas.microsoft.com/office/drawing/2014/main" id="{A516E481-B877-4784-93C5-006147C61AC8}"/>
              </a:ext>
            </a:extLst>
          </p:cNvPr>
          <p:cNvSpPr>
            <a:spLocks xmlns:a="http://schemas.openxmlformats.org/drawingml/2006/main" noGrp="1"/>
          </p:cNvSpPr>
          <p:nvPr/>
        </p:nvSpPr>
        <p:spPr>
          <a:xfrm xmlns:a="http://schemas.openxmlformats.org/drawingml/2006/main">
            <a:off x="857250" y="4762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02A2A"/>
                </a:solidFill>
              </a:defRPr>
            </a:pPr>
            <a:r>
              <a:rPr sz="1575" b="1">
                <a:solidFill>
                  <a:srgbClr val="102A2A"/>
                </a:solidFill>
              </a:rPr>
              <a:t>Altair / Matplotlib</a:t>
            </a:r>
          </a:p>
        </p:txBody>
      </p:sp>
      <p:sp>
        <p:nvSpPr>
          <p:cNvPr id="32" name="lib-b-6">
            <a:extLst xmlns:a="http://schemas.openxmlformats.org/drawingml/2006/main">
              <a:ext uri="{FF2B5EF4-FFF2-40B4-BE49-F238E27FC236}">
                <a16:creationId xmlns:a16="http://schemas.microsoft.com/office/drawing/2014/main" id="{6F187760-90EE-41E3-9F97-127AA96FF008}"/>
              </a:ext>
            </a:extLst>
          </p:cNvPr>
          <p:cNvSpPr>
            <a:spLocks xmlns:a="http://schemas.openxmlformats.org/drawingml/2006/main" noGrp="1"/>
          </p:cNvSpPr>
          <p:nvPr/>
        </p:nvSpPr>
        <p:spPr>
          <a:xfrm xmlns:a="http://schemas.openxmlformats.org/drawingml/2006/main">
            <a:off x="2743200" y="47720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graphiques et corrélations</a:t>
            </a:r>
          </a:p>
        </p:txBody>
      </p:sp>
      <p:sp>
        <p:nvSpPr>
          <p:cNvPr id="33" name="lib-7">
            <a:extLst xmlns:a="http://schemas.openxmlformats.org/drawingml/2006/main">
              <a:ext uri="{FF2B5EF4-FFF2-40B4-BE49-F238E27FC236}">
                <a16:creationId xmlns:a16="http://schemas.microsoft.com/office/drawing/2014/main" id="{8FFF57A3-8EBE-4ED6-AA60-B33820D4F4D9}"/>
              </a:ext>
            </a:extLst>
          </p:cNvPr>
          <p:cNvSpPr>
            <a:spLocks xmlns:a="http://schemas.openxmlformats.org/drawingml/2006/main" noGrp="1"/>
          </p:cNvSpPr>
          <p:nvPr/>
        </p:nvSpPr>
        <p:spPr>
          <a:xfrm xmlns:a="http://schemas.openxmlformats.org/drawingml/2006/main">
            <a:off x="6096000" y="4629150"/>
            <a:ext cx="51435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11430">
            <a:solidFill>
              <a:srgbClr val="C8D5D1"/>
            </a:solidFill>
            <a:prstDash val="solid"/>
          </a:ln>
        </p:spPr>
      </p:sp>
      <p:sp>
        <p:nvSpPr>
          <p:cNvPr id="34" name="lib-a-7">
            <a:extLst xmlns:a="http://schemas.openxmlformats.org/drawingml/2006/main">
              <a:ext uri="{FF2B5EF4-FFF2-40B4-BE49-F238E27FC236}">
                <a16:creationId xmlns:a16="http://schemas.microsoft.com/office/drawing/2014/main" id="{F01F1A9A-700F-4359-8696-6A7C1BA6B0FB}"/>
              </a:ext>
            </a:extLst>
          </p:cNvPr>
          <p:cNvSpPr>
            <a:spLocks xmlns:a="http://schemas.openxmlformats.org/drawingml/2006/main" noGrp="1"/>
          </p:cNvSpPr>
          <p:nvPr/>
        </p:nvSpPr>
        <p:spPr>
          <a:xfrm xmlns:a="http://schemas.openxmlformats.org/drawingml/2006/main">
            <a:off x="6096000" y="4629150"/>
            <a:ext cx="76200" cy="781050"/>
          </a:xfrm>
          <a:prstGeom xmlns:a="http://schemas.openxmlformats.org/drawingml/2006/main" prst="roundRect">
            <a:avLst>
              <a:gd name="adj" fmla="val 50000"/>
            </a:avLst>
          </a:prstGeom>
          <a:solidFill xmlns:a="http://schemas.openxmlformats.org/drawingml/2006/main">
            <a:srgbClr val="153D3A"/>
          </a:solidFill>
          <a:ln xmlns:a="http://schemas.openxmlformats.org/drawingml/2006/main" w="11430">
            <a:solidFill>
              <a:srgbClr val="153D3A"/>
            </a:solidFill>
            <a:prstDash val="solid"/>
          </a:ln>
        </p:spPr>
      </p:sp>
      <p:sp>
        <p:nvSpPr>
          <p:cNvPr id="35" name="lib-h-7">
            <a:extLst xmlns:a="http://schemas.openxmlformats.org/drawingml/2006/main">
              <a:ext uri="{FF2B5EF4-FFF2-40B4-BE49-F238E27FC236}">
                <a16:creationId xmlns:a16="http://schemas.microsoft.com/office/drawing/2014/main" id="{749EE200-7AAB-4A50-B433-E8A1534064A9}"/>
              </a:ext>
            </a:extLst>
          </p:cNvPr>
          <p:cNvSpPr>
            <a:spLocks xmlns:a="http://schemas.openxmlformats.org/drawingml/2006/main" noGrp="1"/>
          </p:cNvSpPr>
          <p:nvPr/>
        </p:nvSpPr>
        <p:spPr>
          <a:xfrm xmlns:a="http://schemas.openxmlformats.org/drawingml/2006/main">
            <a:off x="6343650" y="4762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02A2A"/>
                </a:solidFill>
              </a:defRPr>
            </a:pPr>
            <a:r>
              <a:rPr sz="1575" b="1">
                <a:solidFill>
                  <a:srgbClr val="102A2A"/>
                </a:solidFill>
              </a:rPr>
              <a:t>Requests / BeautifulSoup</a:t>
            </a:r>
          </a:p>
        </p:txBody>
      </p:sp>
      <p:sp>
        <p:nvSpPr>
          <p:cNvPr id="36" name="lib-b-7">
            <a:extLst xmlns:a="http://schemas.openxmlformats.org/drawingml/2006/main">
              <a:ext uri="{FF2B5EF4-FFF2-40B4-BE49-F238E27FC236}">
                <a16:creationId xmlns:a16="http://schemas.microsoft.com/office/drawing/2014/main" id="{FC8081BA-5659-40C1-AFE1-96B03BB06308}"/>
              </a:ext>
            </a:extLst>
          </p:cNvPr>
          <p:cNvSpPr>
            <a:spLocks xmlns:a="http://schemas.openxmlformats.org/drawingml/2006/main" noGrp="1"/>
          </p:cNvSpPr>
          <p:nvPr/>
        </p:nvSpPr>
        <p:spPr>
          <a:xfrm xmlns:a="http://schemas.openxmlformats.org/drawingml/2006/main">
            <a:off x="8229600" y="47720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collecte et parsing HTML</a:t>
            </a:r>
          </a:p>
        </p:txBody>
      </p:sp>
      <p:sp>
        <p:nvSpPr>
          <p:cNvPr id="37" name="lib-foot">
            <a:extLst xmlns:a="http://schemas.openxmlformats.org/drawingml/2006/main">
              <a:ext uri="{FF2B5EF4-FFF2-40B4-BE49-F238E27FC236}">
                <a16:creationId xmlns:a16="http://schemas.microsoft.com/office/drawing/2014/main" id="{18F06EF2-1A31-494B-94D2-B3F41ABE4BB3}"/>
              </a:ext>
            </a:extLst>
          </p:cNvPr>
          <p:cNvSpPr>
            <a:spLocks xmlns:a="http://schemas.openxmlformats.org/drawingml/2006/main" noGrp="1"/>
          </p:cNvSpPr>
          <p:nvPr/>
        </p:nvSpPr>
        <p:spPr>
          <a:xfrm xmlns:a="http://schemas.openxmlformats.org/drawingml/2006/main">
            <a:off x="1238250" y="59055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F6F5F"/>
                </a:solidFill>
              </a:defRPr>
            </a:pPr>
            <a:r>
              <a:rPr sz="1425" b="1">
                <a:solidFill>
                  <a:srgbClr val="1F6F5F"/>
                </a:solidFill>
              </a:rPr>
              <a:t>Traitement en mémoire, calcul distribué, stockage local et visualisation web.</a:t>
            </a:r>
          </a:p>
        </p:txBody>
      </p:sp>
    </p:spTree>
    <p:extLst>
      <p:ext uri="{BB962C8B-B14F-4D97-AF65-F5344CB8AC3E}">
        <p14:creationId xmlns:p14="http://schemas.microsoft.com/office/powerpoint/2010/main" val="1173049036"/>
      </p:ext>
    </p:extLst>
  </p:cSld>
</p:sld>
</file>

<file path=ppt/slides/slide6.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6" name="kicker-6">
            <a:extLst xmlns:a="http://schemas.openxmlformats.org/drawingml/2006/main">
              <a:ext uri="{FF2B5EF4-FFF2-40B4-BE49-F238E27FC236}">
                <a16:creationId xmlns:a16="http://schemas.microsoft.com/office/drawing/2014/main" id="{BEFF2408-15CD-4FEC-8095-88D194632C7A}"/>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FONCTIONNEMENT DU CODE</a:t>
            </a:r>
          </a:p>
        </p:txBody>
      </p:sp>
      <p:sp>
        <p:nvSpPr>
          <p:cNvPr id="2" name="title-6">
            <a:extLst xmlns:a="http://schemas.openxmlformats.org/drawingml/2006/main">
              <a:ext uri="{FF2B5EF4-FFF2-40B4-BE49-F238E27FC236}">
                <a16:creationId xmlns:a16="http://schemas.microsoft.com/office/drawing/2014/main" id="{A3FFA22F-0951-49AB-87B2-A02A6E1DBDE7}"/>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Le code DVF transforme un fichier brut en faits rejouables</a:t>
            </a:r>
          </a:p>
        </p:txBody>
      </p:sp>
      <p:sp>
        <p:nvSpPr>
          <p:cNvPr id="3" name="rule-6">
            <a:extLst xmlns:a="http://schemas.openxmlformats.org/drawingml/2006/main">
              <a:ext uri="{FF2B5EF4-FFF2-40B4-BE49-F238E27FC236}">
                <a16:creationId xmlns:a16="http://schemas.microsoft.com/office/drawing/2014/main" id="{00FFAE23-1BFE-48F4-A9D1-D64F4E2C03D9}"/>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6">
            <a:extLst xmlns:a="http://schemas.openxmlformats.org/drawingml/2006/main">
              <a:ext uri="{FF2B5EF4-FFF2-40B4-BE49-F238E27FC236}">
                <a16:creationId xmlns:a16="http://schemas.microsoft.com/office/drawing/2014/main" id="{E205D35E-3E8F-4254-8B34-BDB9C7787D66}"/>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06</a:t>
            </a:r>
          </a:p>
        </p:txBody>
      </p:sp>
      <p:sp>
        <p:nvSpPr>
          <p:cNvPr id="5" name="dvfc-a-0">
            <a:extLst xmlns:a="http://schemas.openxmlformats.org/drawingml/2006/main">
              <a:ext uri="{FF2B5EF4-FFF2-40B4-BE49-F238E27FC236}">
                <a16:creationId xmlns:a16="http://schemas.microsoft.com/office/drawing/2014/main" id="{B5092678-80A2-4283-AFA6-9BE53123CC2F}"/>
              </a:ext>
            </a:extLst>
          </p:cNvPr>
          <p:cNvSpPr>
            <a:spLocks xmlns:a="http://schemas.openxmlformats.org/drawingml/2006/main" noGrp="1"/>
          </p:cNvSpPr>
          <p:nvPr/>
        </p:nvSpPr>
        <p:spPr>
          <a:xfrm xmlns:a="http://schemas.openxmlformats.org/drawingml/2006/main">
            <a:off x="2266950" y="3048000"/>
            <a:ext cx="4000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6" name="dvfc-a-1">
            <a:extLst xmlns:a="http://schemas.openxmlformats.org/drawingml/2006/main">
              <a:ext uri="{FF2B5EF4-FFF2-40B4-BE49-F238E27FC236}">
                <a16:creationId xmlns:a16="http://schemas.microsoft.com/office/drawing/2014/main" id="{626B1452-4004-4C27-9DF7-F1F3D730C277}"/>
              </a:ext>
            </a:extLst>
          </p:cNvPr>
          <p:cNvSpPr>
            <a:spLocks xmlns:a="http://schemas.openxmlformats.org/drawingml/2006/main" noGrp="1"/>
          </p:cNvSpPr>
          <p:nvPr/>
        </p:nvSpPr>
        <p:spPr>
          <a:xfrm xmlns:a="http://schemas.openxmlformats.org/drawingml/2006/main">
            <a:off x="4533900" y="3048000"/>
            <a:ext cx="4000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7" name="dvfc-a-2">
            <a:extLst xmlns:a="http://schemas.openxmlformats.org/drawingml/2006/main">
              <a:ext uri="{FF2B5EF4-FFF2-40B4-BE49-F238E27FC236}">
                <a16:creationId xmlns:a16="http://schemas.microsoft.com/office/drawing/2014/main" id="{B078DEB1-1FC6-4923-AF8F-2B91FF156C10}"/>
              </a:ext>
            </a:extLst>
          </p:cNvPr>
          <p:cNvSpPr>
            <a:spLocks xmlns:a="http://schemas.openxmlformats.org/drawingml/2006/main" noGrp="1"/>
          </p:cNvSpPr>
          <p:nvPr/>
        </p:nvSpPr>
        <p:spPr>
          <a:xfrm xmlns:a="http://schemas.openxmlformats.org/drawingml/2006/main">
            <a:off x="6800850" y="3048000"/>
            <a:ext cx="4000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8" name="dvfc-a-3">
            <a:extLst xmlns:a="http://schemas.openxmlformats.org/drawingml/2006/main">
              <a:ext uri="{FF2B5EF4-FFF2-40B4-BE49-F238E27FC236}">
                <a16:creationId xmlns:a16="http://schemas.microsoft.com/office/drawing/2014/main" id="{55EA92A7-E1F7-4552-A46C-3CA8D31F4202}"/>
              </a:ext>
            </a:extLst>
          </p:cNvPr>
          <p:cNvSpPr>
            <a:spLocks xmlns:a="http://schemas.openxmlformats.org/drawingml/2006/main" noGrp="1"/>
          </p:cNvSpPr>
          <p:nvPr/>
        </p:nvSpPr>
        <p:spPr>
          <a:xfrm xmlns:a="http://schemas.openxmlformats.org/drawingml/2006/main">
            <a:off x="9067800" y="3048000"/>
            <a:ext cx="4000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9" name="dvfc-0">
            <a:extLst xmlns:a="http://schemas.openxmlformats.org/drawingml/2006/main">
              <a:ext uri="{FF2B5EF4-FFF2-40B4-BE49-F238E27FC236}">
                <a16:creationId xmlns:a16="http://schemas.microsoft.com/office/drawing/2014/main" id="{E802FC8D-D8E1-409E-8FB1-2C87C5856D92}"/>
              </a:ext>
            </a:extLst>
          </p:cNvPr>
          <p:cNvSpPr>
            <a:spLocks xmlns:a="http://schemas.openxmlformats.org/drawingml/2006/main" noGrp="1"/>
          </p:cNvSpPr>
          <p:nvPr/>
        </p:nvSpPr>
        <p:spPr>
          <a:xfrm xmlns:a="http://schemas.openxmlformats.org/drawingml/2006/main">
            <a:off x="609600" y="2286000"/>
            <a:ext cx="1657350" cy="1562100"/>
          </a:xfrm>
          <a:prstGeom xmlns:a="http://schemas.openxmlformats.org/drawingml/2006/main" prst="roundRect">
            <a:avLst>
              <a:gd name="adj" fmla="val 10976"/>
            </a:avLst>
          </a:prstGeom>
          <a:solidFill xmlns:a="http://schemas.openxmlformats.org/drawingml/2006/main">
            <a:srgbClr val="FFFFFF"/>
          </a:solidFill>
          <a:ln xmlns:a="http://schemas.openxmlformats.org/drawingml/2006/main" w="11430">
            <a:solidFill>
              <a:srgbClr val="C8D5D1"/>
            </a:solidFill>
            <a:prstDash val="solid"/>
          </a:ln>
        </p:spPr>
      </p:sp>
      <p:sp>
        <p:nvSpPr>
          <p:cNvPr id="10" name="dvfc-h-0">
            <a:extLst xmlns:a="http://schemas.openxmlformats.org/drawingml/2006/main">
              <a:ext uri="{FF2B5EF4-FFF2-40B4-BE49-F238E27FC236}">
                <a16:creationId xmlns:a16="http://schemas.microsoft.com/office/drawing/2014/main" id="{7B3998A4-BA31-44C8-B2E5-8BA082ABC0DD}"/>
              </a:ext>
            </a:extLst>
          </p:cNvPr>
          <p:cNvSpPr>
            <a:spLocks xmlns:a="http://schemas.openxmlformats.org/drawingml/2006/main" noGrp="1"/>
          </p:cNvSpPr>
          <p:nvPr/>
        </p:nvSpPr>
        <p:spPr>
          <a:xfrm xmlns:a="http://schemas.openxmlformats.org/drawingml/2006/main">
            <a:off x="742950" y="2533650"/>
            <a:ext cx="139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read_csv</a:t>
            </a:r>
          </a:p>
        </p:txBody>
      </p:sp>
      <p:sp>
        <p:nvSpPr>
          <p:cNvPr id="11" name="dvfc-b-0">
            <a:extLst xmlns:a="http://schemas.openxmlformats.org/drawingml/2006/main">
              <a:ext uri="{FF2B5EF4-FFF2-40B4-BE49-F238E27FC236}">
                <a16:creationId xmlns:a16="http://schemas.microsoft.com/office/drawing/2014/main" id="{5347D49D-144D-4CA4-871F-61202891A9F6}"/>
              </a:ext>
            </a:extLst>
          </p:cNvPr>
          <p:cNvSpPr>
            <a:spLocks xmlns:a="http://schemas.openxmlformats.org/drawingml/2006/main" noGrp="1"/>
          </p:cNvSpPr>
          <p:nvPr/>
        </p:nvSpPr>
        <p:spPr>
          <a:xfrm xmlns:a="http://schemas.openxmlformats.org/drawingml/2006/main">
            <a:off x="742950" y="3048000"/>
            <a:ext cx="1390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séparateur |</a:t>
            </a:r>
          </a:p>
          <a:p xmlns:a="http://schemas.openxmlformats.org/drawingml/2006/main">
            <a:pPr algn="ctr">
              <a:defRPr sz="1200" b="0">
                <a:solidFill>
                  <a:srgbClr val="62706D"/>
                </a:solidFill>
              </a:defRPr>
            </a:pPr>
            <a:r>
              <a:rPr sz="1200" b="0">
                <a:solidFill>
                  <a:srgbClr val="62706D"/>
                </a:solidFill>
              </a:rPr>
              <a:t>lecture du brut</a:t>
            </a:r>
          </a:p>
        </p:txBody>
      </p:sp>
      <p:sp>
        <p:nvSpPr>
          <p:cNvPr id="12" name="dvfc-1">
            <a:extLst xmlns:a="http://schemas.openxmlformats.org/drawingml/2006/main">
              <a:ext uri="{FF2B5EF4-FFF2-40B4-BE49-F238E27FC236}">
                <a16:creationId xmlns:a16="http://schemas.microsoft.com/office/drawing/2014/main" id="{FA5ECDD7-B478-46FB-B31B-6DE01541EE8C}"/>
              </a:ext>
            </a:extLst>
          </p:cNvPr>
          <p:cNvSpPr>
            <a:spLocks xmlns:a="http://schemas.openxmlformats.org/drawingml/2006/main" noGrp="1"/>
          </p:cNvSpPr>
          <p:nvPr/>
        </p:nvSpPr>
        <p:spPr>
          <a:xfrm xmlns:a="http://schemas.openxmlformats.org/drawingml/2006/main">
            <a:off x="2876550" y="2286000"/>
            <a:ext cx="1657350" cy="1562100"/>
          </a:xfrm>
          <a:prstGeom xmlns:a="http://schemas.openxmlformats.org/drawingml/2006/main" prst="roundRect">
            <a:avLst>
              <a:gd name="adj" fmla="val 10976"/>
            </a:avLst>
          </a:prstGeom>
          <a:solidFill xmlns:a="http://schemas.openxmlformats.org/drawingml/2006/main">
            <a:srgbClr val="FFFFFF"/>
          </a:solidFill>
          <a:ln xmlns:a="http://schemas.openxmlformats.org/drawingml/2006/main" w="11430">
            <a:solidFill>
              <a:srgbClr val="C8D5D1"/>
            </a:solidFill>
            <a:prstDash val="solid"/>
          </a:ln>
        </p:spPr>
      </p:sp>
      <p:sp>
        <p:nvSpPr>
          <p:cNvPr id="13" name="dvfc-h-1">
            <a:extLst xmlns:a="http://schemas.openxmlformats.org/drawingml/2006/main">
              <a:ext uri="{FF2B5EF4-FFF2-40B4-BE49-F238E27FC236}">
                <a16:creationId xmlns:a16="http://schemas.microsoft.com/office/drawing/2014/main" id="{D3AD5576-44EF-49F4-95A0-6800E1FB5C16}"/>
              </a:ext>
            </a:extLst>
          </p:cNvPr>
          <p:cNvSpPr>
            <a:spLocks xmlns:a="http://schemas.openxmlformats.org/drawingml/2006/main" noGrp="1"/>
          </p:cNvSpPr>
          <p:nvPr/>
        </p:nvSpPr>
        <p:spPr>
          <a:xfrm xmlns:a="http://schemas.openxmlformats.org/drawingml/2006/main">
            <a:off x="3009900" y="2533650"/>
            <a:ext cx="139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normaliser</a:t>
            </a:r>
          </a:p>
        </p:txBody>
      </p:sp>
      <p:sp>
        <p:nvSpPr>
          <p:cNvPr id="14" name="dvfc-b-1">
            <a:extLst xmlns:a="http://schemas.openxmlformats.org/drawingml/2006/main">
              <a:ext uri="{FF2B5EF4-FFF2-40B4-BE49-F238E27FC236}">
                <a16:creationId xmlns:a16="http://schemas.microsoft.com/office/drawing/2014/main" id="{487FEA80-3FDE-4A25-92EA-2BE2489F067D}"/>
              </a:ext>
            </a:extLst>
          </p:cNvPr>
          <p:cNvSpPr>
            <a:spLocks xmlns:a="http://schemas.openxmlformats.org/drawingml/2006/main" noGrp="1"/>
          </p:cNvSpPr>
          <p:nvPr/>
        </p:nvSpPr>
        <p:spPr>
          <a:xfrm xmlns:a="http://schemas.openxmlformats.org/drawingml/2006/main">
            <a:off x="3009900" y="3048000"/>
            <a:ext cx="1390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NFKD · minuscules</a:t>
            </a:r>
          </a:p>
          <a:p xmlns:a="http://schemas.openxmlformats.org/drawingml/2006/main">
            <a:pPr algn="ctr">
              <a:defRPr sz="1200" b="0">
                <a:solidFill>
                  <a:srgbClr val="62706D"/>
                </a:solidFill>
              </a:defRPr>
            </a:pPr>
            <a:r>
              <a:rPr sz="1200" b="0">
                <a:solidFill>
                  <a:srgbClr val="62706D"/>
                </a:solidFill>
              </a:rPr>
              <a:t>colonnes ASCII</a:t>
            </a:r>
          </a:p>
        </p:txBody>
      </p:sp>
      <p:sp>
        <p:nvSpPr>
          <p:cNvPr id="15" name="dvfc-2">
            <a:extLst xmlns:a="http://schemas.openxmlformats.org/drawingml/2006/main">
              <a:ext uri="{FF2B5EF4-FFF2-40B4-BE49-F238E27FC236}">
                <a16:creationId xmlns:a16="http://schemas.microsoft.com/office/drawing/2014/main" id="{5D9080CB-6199-4675-AE8C-3B338131F118}"/>
              </a:ext>
            </a:extLst>
          </p:cNvPr>
          <p:cNvSpPr>
            <a:spLocks xmlns:a="http://schemas.openxmlformats.org/drawingml/2006/main" noGrp="1"/>
          </p:cNvSpPr>
          <p:nvPr/>
        </p:nvSpPr>
        <p:spPr>
          <a:xfrm xmlns:a="http://schemas.openxmlformats.org/drawingml/2006/main">
            <a:off x="5143500" y="2286000"/>
            <a:ext cx="1657350" cy="1562100"/>
          </a:xfrm>
          <a:prstGeom xmlns:a="http://schemas.openxmlformats.org/drawingml/2006/main" prst="roundRect">
            <a:avLst>
              <a:gd name="adj" fmla="val 10976"/>
            </a:avLst>
          </a:prstGeom>
          <a:solidFill xmlns:a="http://schemas.openxmlformats.org/drawingml/2006/main">
            <a:srgbClr val="FFFFFF"/>
          </a:solidFill>
          <a:ln xmlns:a="http://schemas.openxmlformats.org/drawingml/2006/main" w="11430">
            <a:solidFill>
              <a:srgbClr val="C8D5D1"/>
            </a:solidFill>
            <a:prstDash val="solid"/>
          </a:ln>
        </p:spPr>
      </p:sp>
      <p:sp>
        <p:nvSpPr>
          <p:cNvPr id="16" name="dvfc-h-2">
            <a:extLst xmlns:a="http://schemas.openxmlformats.org/drawingml/2006/main">
              <a:ext uri="{FF2B5EF4-FFF2-40B4-BE49-F238E27FC236}">
                <a16:creationId xmlns:a16="http://schemas.microsoft.com/office/drawing/2014/main" id="{47B08381-FEB5-4FB0-9330-461BECB89CBA}"/>
              </a:ext>
            </a:extLst>
          </p:cNvPr>
          <p:cNvSpPr>
            <a:spLocks xmlns:a="http://schemas.openxmlformats.org/drawingml/2006/main" noGrp="1"/>
          </p:cNvSpPr>
          <p:nvPr/>
        </p:nvSpPr>
        <p:spPr>
          <a:xfrm xmlns:a="http://schemas.openxmlformats.org/drawingml/2006/main">
            <a:off x="5276850" y="2533650"/>
            <a:ext cx="139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convertir</a:t>
            </a:r>
          </a:p>
        </p:txBody>
      </p:sp>
      <p:sp>
        <p:nvSpPr>
          <p:cNvPr id="17" name="dvfc-b-2">
            <a:extLst xmlns:a="http://schemas.openxmlformats.org/drawingml/2006/main">
              <a:ext uri="{FF2B5EF4-FFF2-40B4-BE49-F238E27FC236}">
                <a16:creationId xmlns:a16="http://schemas.microsoft.com/office/drawing/2014/main" id="{B3DE8565-20FC-4384-B4BB-0D241934352E}"/>
              </a:ext>
            </a:extLst>
          </p:cNvPr>
          <p:cNvSpPr>
            <a:spLocks xmlns:a="http://schemas.openxmlformats.org/drawingml/2006/main" noGrp="1"/>
          </p:cNvSpPr>
          <p:nvPr/>
        </p:nvSpPr>
        <p:spPr>
          <a:xfrm xmlns:a="http://schemas.openxmlformats.org/drawingml/2006/main">
            <a:off x="5276850" y="3048000"/>
            <a:ext cx="1390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dates · nombres</a:t>
            </a:r>
          </a:p>
          <a:p xmlns:a="http://schemas.openxmlformats.org/drawingml/2006/main">
            <a:pPr algn="ctr">
              <a:defRPr sz="1200" b="0">
                <a:solidFill>
                  <a:srgbClr val="62706D"/>
                </a:solidFill>
              </a:defRPr>
            </a:pPr>
            <a:r>
              <a:rPr sz="1200" b="0">
                <a:solidFill>
                  <a:srgbClr val="62706D"/>
                </a:solidFill>
              </a:rPr>
              <a:t>codes postaux</a:t>
            </a:r>
          </a:p>
        </p:txBody>
      </p:sp>
      <p:sp>
        <p:nvSpPr>
          <p:cNvPr id="18" name="dvfc-3">
            <a:extLst xmlns:a="http://schemas.openxmlformats.org/drawingml/2006/main">
              <a:ext uri="{FF2B5EF4-FFF2-40B4-BE49-F238E27FC236}">
                <a16:creationId xmlns:a16="http://schemas.microsoft.com/office/drawing/2014/main" id="{52D4F75B-8A70-460D-BD6D-775B1003BF30}"/>
              </a:ext>
            </a:extLst>
          </p:cNvPr>
          <p:cNvSpPr>
            <a:spLocks xmlns:a="http://schemas.openxmlformats.org/drawingml/2006/main" noGrp="1"/>
          </p:cNvSpPr>
          <p:nvPr/>
        </p:nvSpPr>
        <p:spPr>
          <a:xfrm xmlns:a="http://schemas.openxmlformats.org/drawingml/2006/main">
            <a:off x="7410450" y="2286000"/>
            <a:ext cx="1657350" cy="1562100"/>
          </a:xfrm>
          <a:prstGeom xmlns:a="http://schemas.openxmlformats.org/drawingml/2006/main" prst="roundRect">
            <a:avLst>
              <a:gd name="adj" fmla="val 10976"/>
            </a:avLst>
          </a:prstGeom>
          <a:solidFill xmlns:a="http://schemas.openxmlformats.org/drawingml/2006/main">
            <a:srgbClr val="FFFFFF"/>
          </a:solidFill>
          <a:ln xmlns:a="http://schemas.openxmlformats.org/drawingml/2006/main" w="11430">
            <a:solidFill>
              <a:srgbClr val="C8D5D1"/>
            </a:solidFill>
            <a:prstDash val="solid"/>
          </a:ln>
        </p:spPr>
      </p:sp>
      <p:sp>
        <p:nvSpPr>
          <p:cNvPr id="19" name="dvfc-h-3">
            <a:extLst xmlns:a="http://schemas.openxmlformats.org/drawingml/2006/main">
              <a:ext uri="{FF2B5EF4-FFF2-40B4-BE49-F238E27FC236}">
                <a16:creationId xmlns:a16="http://schemas.microsoft.com/office/drawing/2014/main" id="{636ECAEF-8831-4EB2-9689-4AE53FE3EA8C}"/>
              </a:ext>
            </a:extLst>
          </p:cNvPr>
          <p:cNvSpPr>
            <a:spLocks xmlns:a="http://schemas.openxmlformats.org/drawingml/2006/main" noGrp="1"/>
          </p:cNvSpPr>
          <p:nvPr/>
        </p:nvSpPr>
        <p:spPr>
          <a:xfrm xmlns:a="http://schemas.openxmlformats.org/drawingml/2006/main">
            <a:off x="7543800" y="2533650"/>
            <a:ext cx="139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filtrer</a:t>
            </a:r>
          </a:p>
        </p:txBody>
      </p:sp>
      <p:sp>
        <p:nvSpPr>
          <p:cNvPr id="20" name="dvfc-b-3">
            <a:extLst xmlns:a="http://schemas.openxmlformats.org/drawingml/2006/main">
              <a:ext uri="{FF2B5EF4-FFF2-40B4-BE49-F238E27FC236}">
                <a16:creationId xmlns:a16="http://schemas.microsoft.com/office/drawing/2014/main" id="{1225E83E-807C-45CE-8ED0-CB92AA15B728}"/>
              </a:ext>
            </a:extLst>
          </p:cNvPr>
          <p:cNvSpPr>
            <a:spLocks xmlns:a="http://schemas.openxmlformats.org/drawingml/2006/main" noGrp="1"/>
          </p:cNvSpPr>
          <p:nvPr/>
        </p:nvSpPr>
        <p:spPr>
          <a:xfrm xmlns:a="http://schemas.openxmlformats.org/drawingml/2006/main">
            <a:off x="7543800" y="3048000"/>
            <a:ext cx="1390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doublons · valeurs</a:t>
            </a:r>
          </a:p>
          <a:p xmlns:a="http://schemas.openxmlformats.org/drawingml/2006/main">
            <a:pPr algn="ctr">
              <a:defRPr sz="1200" b="0">
                <a:solidFill>
                  <a:srgbClr val="62706D"/>
                </a:solidFill>
              </a:defRPr>
            </a:pPr>
            <a:r>
              <a:rPr sz="1200" b="0">
                <a:solidFill>
                  <a:srgbClr val="62706D"/>
                </a:solidFill>
              </a:rPr>
              <a:t>symboliques</a:t>
            </a:r>
          </a:p>
        </p:txBody>
      </p:sp>
      <p:sp>
        <p:nvSpPr>
          <p:cNvPr id="21" name="dvfc-4">
            <a:extLst xmlns:a="http://schemas.openxmlformats.org/drawingml/2006/main">
              <a:ext uri="{FF2B5EF4-FFF2-40B4-BE49-F238E27FC236}">
                <a16:creationId xmlns:a16="http://schemas.microsoft.com/office/drawing/2014/main" id="{E125475F-12F5-4B76-9EB6-6C4C96F931BE}"/>
              </a:ext>
            </a:extLst>
          </p:cNvPr>
          <p:cNvSpPr>
            <a:spLocks xmlns:a="http://schemas.openxmlformats.org/drawingml/2006/main" noGrp="1"/>
          </p:cNvSpPr>
          <p:nvPr/>
        </p:nvSpPr>
        <p:spPr>
          <a:xfrm xmlns:a="http://schemas.openxmlformats.org/drawingml/2006/main">
            <a:off x="9677400" y="2286000"/>
            <a:ext cx="1657350" cy="1562100"/>
          </a:xfrm>
          <a:prstGeom xmlns:a="http://schemas.openxmlformats.org/drawingml/2006/main" prst="roundRect">
            <a:avLst>
              <a:gd name="adj" fmla="val 10976"/>
            </a:avLst>
          </a:prstGeom>
          <a:solidFill xmlns:a="http://schemas.openxmlformats.org/drawingml/2006/main">
            <a:srgbClr val="153D3A"/>
          </a:solidFill>
          <a:ln xmlns:a="http://schemas.openxmlformats.org/drawingml/2006/main" w="11430">
            <a:solidFill>
              <a:srgbClr val="153D3A"/>
            </a:solidFill>
            <a:prstDash val="solid"/>
          </a:ln>
        </p:spPr>
      </p:sp>
      <p:sp>
        <p:nvSpPr>
          <p:cNvPr id="22" name="dvfc-h-4">
            <a:extLst xmlns:a="http://schemas.openxmlformats.org/drawingml/2006/main">
              <a:ext uri="{FF2B5EF4-FFF2-40B4-BE49-F238E27FC236}">
                <a16:creationId xmlns:a16="http://schemas.microsoft.com/office/drawing/2014/main" id="{55E64B6E-ABB9-4332-AC53-DF5A1759D6CE}"/>
              </a:ext>
            </a:extLst>
          </p:cNvPr>
          <p:cNvSpPr>
            <a:spLocks xmlns:a="http://schemas.openxmlformats.org/drawingml/2006/main" noGrp="1"/>
          </p:cNvSpPr>
          <p:nvPr/>
        </p:nvSpPr>
        <p:spPr>
          <a:xfrm xmlns:a="http://schemas.openxmlformats.org/drawingml/2006/main">
            <a:off x="9810750" y="2533650"/>
            <a:ext cx="139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to_csv</a:t>
            </a:r>
          </a:p>
        </p:txBody>
      </p:sp>
      <p:sp>
        <p:nvSpPr>
          <p:cNvPr id="23" name="dvfc-b-4">
            <a:extLst xmlns:a="http://schemas.openxmlformats.org/drawingml/2006/main">
              <a:ext uri="{FF2B5EF4-FFF2-40B4-BE49-F238E27FC236}">
                <a16:creationId xmlns:a16="http://schemas.microsoft.com/office/drawing/2014/main" id="{A4A1C053-7403-4517-80DB-936949865A6E}"/>
              </a:ext>
            </a:extLst>
          </p:cNvPr>
          <p:cNvSpPr>
            <a:spLocks xmlns:a="http://schemas.openxmlformats.org/drawingml/2006/main" noGrp="1"/>
          </p:cNvSpPr>
          <p:nvPr/>
        </p:nvSpPr>
        <p:spPr>
          <a:xfrm xmlns:a="http://schemas.openxmlformats.org/drawingml/2006/main">
            <a:off x="9810750" y="3048000"/>
            <a:ext cx="1390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DCEDE7"/>
                </a:solidFill>
              </a:defRPr>
            </a:pPr>
            <a:r>
              <a:rPr sz="1200" b="0">
                <a:solidFill>
                  <a:srgbClr val="DCEDE7"/>
                </a:solidFill>
              </a:rPr>
              <a:t>transactions_2024.csv</a:t>
            </a:r>
          </a:p>
        </p:txBody>
      </p:sp>
      <p:sp>
        <p:nvSpPr>
          <p:cNvPr id="24" name="dvfc-code">
            <a:extLst xmlns:a="http://schemas.openxmlformats.org/drawingml/2006/main">
              <a:ext uri="{FF2B5EF4-FFF2-40B4-BE49-F238E27FC236}">
                <a16:creationId xmlns:a16="http://schemas.microsoft.com/office/drawing/2014/main" id="{DACD0FFF-EF23-4360-8F84-233A45077708}"/>
              </a:ext>
            </a:extLst>
          </p:cNvPr>
          <p:cNvSpPr>
            <a:spLocks xmlns:a="http://schemas.openxmlformats.org/drawingml/2006/main" noGrp="1"/>
          </p:cNvSpPr>
          <p:nvPr/>
        </p:nvSpPr>
        <p:spPr>
          <a:xfrm xmlns:a="http://schemas.openxmlformats.org/drawingml/2006/main">
            <a:off x="1714500" y="4457700"/>
            <a:ext cx="8763000" cy="914400"/>
          </a:xfrm>
          <a:prstGeom xmlns:a="http://schemas.openxmlformats.org/drawingml/2006/main" prst="roundRect">
            <a:avLst>
              <a:gd name="adj" fmla="val 16667"/>
            </a:avLst>
          </a:prstGeom>
          <a:solidFill xmlns:a="http://schemas.openxmlformats.org/drawingml/2006/main">
            <a:srgbClr val="DCEDE7"/>
          </a:solidFill>
          <a:ln xmlns:a="http://schemas.openxmlformats.org/drawingml/2006/main" w="11430">
            <a:solidFill>
              <a:srgbClr val="DCEDE7"/>
            </a:solidFill>
            <a:prstDash val="solid"/>
          </a:ln>
        </p:spPr>
      </p:sp>
      <p:sp>
        <p:nvSpPr>
          <p:cNvPr id="25" name="dvfc-code-t">
            <a:extLst xmlns:a="http://schemas.openxmlformats.org/drawingml/2006/main">
              <a:ext uri="{FF2B5EF4-FFF2-40B4-BE49-F238E27FC236}">
                <a16:creationId xmlns:a16="http://schemas.microsoft.com/office/drawing/2014/main" id="{6D034A32-1DE1-40ED-9AA4-C214FB828E24}"/>
              </a:ext>
            </a:extLst>
          </p:cNvPr>
          <p:cNvSpPr>
            <a:spLocks xmlns:a="http://schemas.openxmlformats.org/drawingml/2006/main" noGrp="1"/>
          </p:cNvSpPr>
          <p:nvPr/>
        </p:nvSpPr>
        <p:spPr>
          <a:xfrm xmlns:a="http://schemas.openxmlformats.org/drawingml/2006/main">
            <a:off x="2019300" y="4724400"/>
            <a:ext cx="8153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53D3A"/>
                </a:solidFill>
              </a:defRPr>
            </a:pPr>
            <a:r>
              <a:rPr sz="1350" b="1">
                <a:solidFill>
                  <a:srgbClr val="153D3A"/>
                </a:solidFill>
              </a:rPr>
              <a:t>TARGET_COLS limite le schéma · errors='coerce' transforme les valeurs invalides · replace évite les doublons au rejeu</a:t>
            </a:r>
          </a:p>
        </p:txBody>
      </p:sp>
    </p:spTree>
    <p:extLst>
      <p:ext uri="{BB962C8B-B14F-4D97-AF65-F5344CB8AC3E}">
        <p14:creationId xmlns:p14="http://schemas.microsoft.com/office/powerpoint/2010/main" val="99942276"/>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9" name="kicker-7">
            <a:extLst xmlns:a="http://schemas.openxmlformats.org/drawingml/2006/main">
              <a:ext uri="{FF2B5EF4-FFF2-40B4-BE49-F238E27FC236}">
                <a16:creationId xmlns:a16="http://schemas.microsoft.com/office/drawing/2014/main" id="{D79B645E-36BE-4B80-B1DF-9ED2DAE3B65A}"/>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ETL SOCIO-ÉCONOMIQUE</a:t>
            </a:r>
          </a:p>
        </p:txBody>
      </p:sp>
      <p:sp>
        <p:nvSpPr>
          <p:cNvPr id="2" name="title-7">
            <a:extLst xmlns:a="http://schemas.openxmlformats.org/drawingml/2006/main">
              <a:ext uri="{FF2B5EF4-FFF2-40B4-BE49-F238E27FC236}">
                <a16:creationId xmlns:a16="http://schemas.microsoft.com/office/drawing/2014/main" id="{31427D3B-D040-478F-A36C-CEE8FE7B6F69}"/>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Les indicateurs INSEE demandent des règles géographiques</a:t>
            </a:r>
          </a:p>
        </p:txBody>
      </p:sp>
      <p:sp>
        <p:nvSpPr>
          <p:cNvPr id="3" name="rule-7">
            <a:extLst xmlns:a="http://schemas.openxmlformats.org/drawingml/2006/main">
              <a:ext uri="{FF2B5EF4-FFF2-40B4-BE49-F238E27FC236}">
                <a16:creationId xmlns:a16="http://schemas.microsoft.com/office/drawing/2014/main" id="{674CDF5A-A6A3-46A4-883F-51D9929FD6AC}"/>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7">
            <a:extLst xmlns:a="http://schemas.openxmlformats.org/drawingml/2006/main">
              <a:ext uri="{FF2B5EF4-FFF2-40B4-BE49-F238E27FC236}">
                <a16:creationId xmlns:a16="http://schemas.microsoft.com/office/drawing/2014/main" id="{54FB8D68-503E-49A6-AC78-4F6BC2621530}"/>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07</a:t>
            </a:r>
          </a:p>
        </p:txBody>
      </p:sp>
      <p:sp>
        <p:nvSpPr>
          <p:cNvPr id="5" name="insee-left">
            <a:extLst xmlns:a="http://schemas.openxmlformats.org/drawingml/2006/main">
              <a:ext uri="{FF2B5EF4-FFF2-40B4-BE49-F238E27FC236}">
                <a16:creationId xmlns:a16="http://schemas.microsoft.com/office/drawing/2014/main" id="{F5838771-B58E-474C-BBAC-E2769A4BEE26}"/>
              </a:ext>
            </a:extLst>
          </p:cNvPr>
          <p:cNvSpPr>
            <a:spLocks xmlns:a="http://schemas.openxmlformats.org/drawingml/2006/main" noGrp="1"/>
          </p:cNvSpPr>
          <p:nvPr/>
        </p:nvSpPr>
        <p:spPr>
          <a:xfrm xmlns:a="http://schemas.openxmlformats.org/drawingml/2006/main">
            <a:off x="609600" y="1657350"/>
            <a:ext cx="4000500" cy="3829050"/>
          </a:xfrm>
          <a:prstGeom xmlns:a="http://schemas.openxmlformats.org/drawingml/2006/main" prst="roundRect">
            <a:avLst>
              <a:gd name="adj" fmla="val 4975"/>
            </a:avLst>
          </a:prstGeom>
          <a:solidFill xmlns:a="http://schemas.openxmlformats.org/drawingml/2006/main">
            <a:srgbClr val="FFFFFF"/>
          </a:solidFill>
          <a:ln xmlns:a="http://schemas.openxmlformats.org/drawingml/2006/main" w="11430">
            <a:solidFill>
              <a:srgbClr val="C8D5D1"/>
            </a:solidFill>
            <a:prstDash val="solid"/>
          </a:ln>
        </p:spPr>
      </p:sp>
      <p:sp>
        <p:nvSpPr>
          <p:cNvPr id="6" name="insee-left-h">
            <a:extLst xmlns:a="http://schemas.openxmlformats.org/drawingml/2006/main">
              <a:ext uri="{FF2B5EF4-FFF2-40B4-BE49-F238E27FC236}">
                <a16:creationId xmlns:a16="http://schemas.microsoft.com/office/drawing/2014/main" id="{E6B96774-7D50-413A-BD19-DE7AD927AD05}"/>
              </a:ext>
            </a:extLst>
          </p:cNvPr>
          <p:cNvSpPr>
            <a:spLocks xmlns:a="http://schemas.openxmlformats.org/drawingml/2006/main" noGrp="1"/>
          </p:cNvSpPr>
          <p:nvPr/>
        </p:nvSpPr>
        <p:spPr>
          <a:xfrm xmlns:a="http://schemas.openxmlformats.org/drawingml/2006/main">
            <a:off x="914400" y="20002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2A"/>
                </a:solidFill>
              </a:defRPr>
            </a:pPr>
            <a:r>
              <a:rPr sz="1875" b="1">
                <a:solidFill>
                  <a:srgbClr val="102A2A"/>
                </a:solidFill>
              </a:rPr>
              <a:t>Quatre traitements</a:t>
            </a:r>
          </a:p>
        </p:txBody>
      </p:sp>
      <p:sp>
        <p:nvSpPr>
          <p:cNvPr id="7" name="insee-left-b">
            <a:extLst xmlns:a="http://schemas.openxmlformats.org/drawingml/2006/main">
              <a:ext uri="{FF2B5EF4-FFF2-40B4-BE49-F238E27FC236}">
                <a16:creationId xmlns:a16="http://schemas.microsoft.com/office/drawing/2014/main" id="{6EC0FBCA-E4BD-4B56-993E-E809C989DD10}"/>
              </a:ext>
            </a:extLst>
          </p:cNvPr>
          <p:cNvSpPr>
            <a:spLocks xmlns:a="http://schemas.openxmlformats.org/drawingml/2006/main" noGrp="1"/>
          </p:cNvSpPr>
          <p:nvPr/>
        </p:nvSpPr>
        <p:spPr>
          <a:xfrm xmlns:a="http://schemas.openxmlformats.org/drawingml/2006/main">
            <a:off x="914400" y="2686050"/>
            <a:ext cx="3048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62706D"/>
                </a:solidFill>
              </a:defRPr>
            </a:pPr>
            <a:r>
              <a:rPr sz="1650" b="0">
                <a:solidFill>
                  <a:srgbClr val="62706D"/>
                </a:solidFill>
              </a:rPr>
              <a:t>Population → somme</a:t>
            </a:r>
          </a:p>
          <a:p xmlns:a="http://schemas.openxmlformats.org/drawingml/2006/main">
            <a:pPr algn="l">
              <a:defRPr sz="1650" b="0">
                <a:solidFill>
                  <a:srgbClr val="62706D"/>
                </a:solidFill>
              </a:defRPr>
            </a:pPr>
            <a:r>
              <a:rPr sz="1650" b="0">
                <a:solidFill>
                  <a:srgbClr val="62706D"/>
                </a:solidFill>
              </a:rPr>
              <a:t>Revenu → médiane</a:t>
            </a:r>
          </a:p>
          <a:p xmlns:a="http://schemas.openxmlformats.org/drawingml/2006/main">
            <a:pPr algn="l">
              <a:defRPr sz="1650" b="0">
                <a:solidFill>
                  <a:srgbClr val="62706D"/>
                </a:solidFill>
              </a:defRPr>
            </a:pPr>
            <a:r>
              <a:rPr sz="1650" b="0">
                <a:solidFill>
                  <a:srgbClr val="62706D"/>
                </a:solidFill>
              </a:rPr>
              <a:t>Chômage → moyenne</a:t>
            </a:r>
          </a:p>
          <a:p xmlns:a="http://schemas.openxmlformats.org/drawingml/2006/main">
            <a:pPr algn="l">
              <a:defRPr sz="1650" b="0">
                <a:solidFill>
                  <a:srgbClr val="62706D"/>
                </a:solidFill>
              </a:defRPr>
            </a:pPr>
            <a:r>
              <a:rPr sz="1650" b="0">
                <a:solidFill>
                  <a:srgbClr val="62706D"/>
                </a:solidFill>
              </a:rPr>
              <a:t>Pauvreté → moyenne</a:t>
            </a:r>
          </a:p>
        </p:txBody>
      </p:sp>
      <p:sp>
        <p:nvSpPr>
          <p:cNvPr id="8" name="insee-left-f">
            <a:extLst xmlns:a="http://schemas.openxmlformats.org/drawingml/2006/main">
              <a:ext uri="{FF2B5EF4-FFF2-40B4-BE49-F238E27FC236}">
                <a16:creationId xmlns:a16="http://schemas.microsoft.com/office/drawing/2014/main" id="{B00E946C-F6A6-4DE4-83C1-34EE347EC7DD}"/>
              </a:ext>
            </a:extLst>
          </p:cNvPr>
          <p:cNvSpPr>
            <a:spLocks xmlns:a="http://schemas.openxmlformats.org/drawingml/2006/main" noGrp="1"/>
          </p:cNvSpPr>
          <p:nvPr/>
        </p:nvSpPr>
        <p:spPr>
          <a:xfrm xmlns:a="http://schemas.openxmlformats.org/drawingml/2006/main">
            <a:off x="914400" y="48006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F6F5F"/>
                </a:solidFill>
              </a:defRPr>
            </a:pPr>
            <a:r>
              <a:rPr sz="1275" b="1">
                <a:solidFill>
                  <a:srgbClr val="1F6F5F"/>
                </a:solidFill>
              </a:rPr>
              <a:t>CSV / Excel → pandas → CSV, Parquet, SQLite</a:t>
            </a:r>
          </a:p>
        </p:txBody>
      </p:sp>
      <p:sp>
        <p:nvSpPr>
          <p:cNvPr id="9" name="insee-right">
            <a:extLst xmlns:a="http://schemas.openxmlformats.org/drawingml/2006/main">
              <a:ext uri="{FF2B5EF4-FFF2-40B4-BE49-F238E27FC236}">
                <a16:creationId xmlns:a16="http://schemas.microsoft.com/office/drawing/2014/main" id="{9EF2E14C-A7B6-488D-B27B-378447D6E9E7}"/>
              </a:ext>
            </a:extLst>
          </p:cNvPr>
          <p:cNvSpPr>
            <a:spLocks xmlns:a="http://schemas.openxmlformats.org/drawingml/2006/main" noGrp="1"/>
          </p:cNvSpPr>
          <p:nvPr/>
        </p:nvSpPr>
        <p:spPr>
          <a:xfrm xmlns:a="http://schemas.openxmlformats.org/drawingml/2006/main">
            <a:off x="5048250" y="1657350"/>
            <a:ext cx="6534150" cy="3829050"/>
          </a:xfrm>
          <a:prstGeom xmlns:a="http://schemas.openxmlformats.org/drawingml/2006/main" prst="roundRect">
            <a:avLst>
              <a:gd name="adj" fmla="val 4975"/>
            </a:avLst>
          </a:prstGeom>
          <a:solidFill xmlns:a="http://schemas.openxmlformats.org/drawingml/2006/main">
            <a:srgbClr val="153D3A"/>
          </a:solidFill>
          <a:ln xmlns:a="http://schemas.openxmlformats.org/drawingml/2006/main" w="11430">
            <a:solidFill>
              <a:srgbClr val="153D3A"/>
            </a:solidFill>
            <a:prstDash val="solid"/>
          </a:ln>
        </p:spPr>
      </p:sp>
      <p:sp>
        <p:nvSpPr>
          <p:cNvPr id="10" name="insee-right-h">
            <a:extLst xmlns:a="http://schemas.openxmlformats.org/drawingml/2006/main">
              <a:ext uri="{FF2B5EF4-FFF2-40B4-BE49-F238E27FC236}">
                <a16:creationId xmlns:a16="http://schemas.microsoft.com/office/drawing/2014/main" id="{5C298ADD-2512-41B3-AD6B-F15DB1D05C96}"/>
              </a:ext>
            </a:extLst>
          </p:cNvPr>
          <p:cNvSpPr>
            <a:spLocks xmlns:a="http://schemas.openxmlformats.org/drawingml/2006/main" noGrp="1"/>
          </p:cNvSpPr>
          <p:nvPr/>
        </p:nvSpPr>
        <p:spPr>
          <a:xfrm xmlns:a="http://schemas.openxmlformats.org/drawingml/2006/main">
            <a:off x="5391150" y="200025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La clé géographique doit rester une chaîne</a:t>
            </a:r>
          </a:p>
        </p:txBody>
      </p:sp>
      <p:sp>
        <p:nvSpPr>
          <p:cNvPr id="11" name="geo-a-0">
            <a:extLst xmlns:a="http://schemas.openxmlformats.org/drawingml/2006/main">
              <a:ext uri="{FF2B5EF4-FFF2-40B4-BE49-F238E27FC236}">
                <a16:creationId xmlns:a16="http://schemas.microsoft.com/office/drawing/2014/main" id="{E15F4530-7298-4D59-9A7A-403AFDBECC9D}"/>
              </a:ext>
            </a:extLst>
          </p:cNvPr>
          <p:cNvSpPr>
            <a:spLocks xmlns:a="http://schemas.openxmlformats.org/drawingml/2006/main" noGrp="1"/>
          </p:cNvSpPr>
          <p:nvPr/>
        </p:nvSpPr>
        <p:spPr>
          <a:xfrm xmlns:a="http://schemas.openxmlformats.org/drawingml/2006/main">
            <a:off x="5391150" y="27051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E8D9BF"/>
                </a:solidFill>
              </a:defRPr>
            </a:pPr>
            <a:r>
              <a:rPr sz="1500" b="1">
                <a:solidFill>
                  <a:srgbClr val="E8D9BF"/>
                </a:solidFill>
              </a:rPr>
              <a:t>01</a:t>
            </a:r>
          </a:p>
        </p:txBody>
      </p:sp>
      <p:sp>
        <p:nvSpPr>
          <p:cNvPr id="12" name="geo-b-0">
            <a:extLst xmlns:a="http://schemas.openxmlformats.org/drawingml/2006/main">
              <a:ext uri="{FF2B5EF4-FFF2-40B4-BE49-F238E27FC236}">
                <a16:creationId xmlns:a16="http://schemas.microsoft.com/office/drawing/2014/main" id="{DFD5BE55-D103-4C89-94F5-F7F5B28A699D}"/>
              </a:ext>
            </a:extLst>
          </p:cNvPr>
          <p:cNvSpPr>
            <a:spLocks xmlns:a="http://schemas.openxmlformats.org/drawingml/2006/main" noGrp="1"/>
          </p:cNvSpPr>
          <p:nvPr/>
        </p:nvSpPr>
        <p:spPr>
          <a:xfrm xmlns:a="http://schemas.openxmlformats.org/drawingml/2006/main">
            <a:off x="6819900" y="27051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CEDE7"/>
                </a:solidFill>
              </a:defRPr>
            </a:pPr>
            <a:r>
              <a:rPr sz="1350" b="0">
                <a:solidFill>
                  <a:srgbClr val="DCEDE7"/>
                </a:solidFill>
              </a:rPr>
              <a:t>zéro initial conservé</a:t>
            </a:r>
          </a:p>
        </p:txBody>
      </p:sp>
      <p:sp>
        <p:nvSpPr>
          <p:cNvPr id="13" name="geo-a-1">
            <a:extLst xmlns:a="http://schemas.openxmlformats.org/drawingml/2006/main">
              <a:ext uri="{FF2B5EF4-FFF2-40B4-BE49-F238E27FC236}">
                <a16:creationId xmlns:a16="http://schemas.microsoft.com/office/drawing/2014/main" id="{0591A071-C4E2-4E61-A0AA-14C80F86EFE9}"/>
              </a:ext>
            </a:extLst>
          </p:cNvPr>
          <p:cNvSpPr>
            <a:spLocks xmlns:a="http://schemas.openxmlformats.org/drawingml/2006/main" noGrp="1"/>
          </p:cNvSpPr>
          <p:nvPr/>
        </p:nvSpPr>
        <p:spPr>
          <a:xfrm xmlns:a="http://schemas.openxmlformats.org/drawingml/2006/main">
            <a:off x="5391150" y="32956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E8D9BF"/>
                </a:solidFill>
              </a:defRPr>
            </a:pPr>
            <a:r>
              <a:rPr sz="1500" b="1">
                <a:solidFill>
                  <a:srgbClr val="E8D9BF"/>
                </a:solidFill>
              </a:rPr>
              <a:t>2A / 2B</a:t>
            </a:r>
          </a:p>
        </p:txBody>
      </p:sp>
      <p:sp>
        <p:nvSpPr>
          <p:cNvPr id="14" name="geo-b-1">
            <a:extLst xmlns:a="http://schemas.openxmlformats.org/drawingml/2006/main">
              <a:ext uri="{FF2B5EF4-FFF2-40B4-BE49-F238E27FC236}">
                <a16:creationId xmlns:a16="http://schemas.microsoft.com/office/drawing/2014/main" id="{7A5E89D7-DE29-49EE-81C8-02FE69349D18}"/>
              </a:ext>
            </a:extLst>
          </p:cNvPr>
          <p:cNvSpPr>
            <a:spLocks xmlns:a="http://schemas.openxmlformats.org/drawingml/2006/main" noGrp="1"/>
          </p:cNvSpPr>
          <p:nvPr/>
        </p:nvSpPr>
        <p:spPr>
          <a:xfrm xmlns:a="http://schemas.openxmlformats.org/drawingml/2006/main">
            <a:off x="6819900" y="32956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CEDE7"/>
                </a:solidFill>
              </a:defRPr>
            </a:pPr>
            <a:r>
              <a:rPr sz="1350" b="0">
                <a:solidFill>
                  <a:srgbClr val="DCEDE7"/>
                </a:solidFill>
              </a:rPr>
              <a:t>Corse traitée explicitement</a:t>
            </a:r>
          </a:p>
        </p:txBody>
      </p:sp>
      <p:sp>
        <p:nvSpPr>
          <p:cNvPr id="15" name="geo-a-2">
            <a:extLst xmlns:a="http://schemas.openxmlformats.org/drawingml/2006/main">
              <a:ext uri="{FF2B5EF4-FFF2-40B4-BE49-F238E27FC236}">
                <a16:creationId xmlns:a16="http://schemas.microsoft.com/office/drawing/2014/main" id="{A7C1569C-B938-44A8-A690-94205B68FA91}"/>
              </a:ext>
            </a:extLst>
          </p:cNvPr>
          <p:cNvSpPr>
            <a:spLocks xmlns:a="http://schemas.openxmlformats.org/drawingml/2006/main" noGrp="1"/>
          </p:cNvSpPr>
          <p:nvPr/>
        </p:nvSpPr>
        <p:spPr>
          <a:xfrm xmlns:a="http://schemas.openxmlformats.org/drawingml/2006/main">
            <a:off x="5391150" y="38862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E8D9BF"/>
                </a:solidFill>
              </a:defRPr>
            </a:pPr>
            <a:r>
              <a:rPr sz="1500" b="1">
                <a:solidFill>
                  <a:srgbClr val="E8D9BF"/>
                </a:solidFill>
              </a:rPr>
              <a:t>971…</a:t>
            </a:r>
          </a:p>
        </p:txBody>
      </p:sp>
      <p:sp>
        <p:nvSpPr>
          <p:cNvPr id="16" name="geo-b-2">
            <a:extLst xmlns:a="http://schemas.openxmlformats.org/drawingml/2006/main">
              <a:ext uri="{FF2B5EF4-FFF2-40B4-BE49-F238E27FC236}">
                <a16:creationId xmlns:a16="http://schemas.microsoft.com/office/drawing/2014/main" id="{F0AFF2B4-BF9C-4634-9ACD-80F37AB1E919}"/>
              </a:ext>
            </a:extLst>
          </p:cNvPr>
          <p:cNvSpPr>
            <a:spLocks xmlns:a="http://schemas.openxmlformats.org/drawingml/2006/main" noGrp="1"/>
          </p:cNvSpPr>
          <p:nvPr/>
        </p:nvSpPr>
        <p:spPr>
          <a:xfrm xmlns:a="http://schemas.openxmlformats.org/drawingml/2006/main">
            <a:off x="6819900" y="38862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CEDE7"/>
                </a:solidFill>
              </a:defRPr>
            </a:pPr>
            <a:r>
              <a:rPr sz="1350" b="0">
                <a:solidFill>
                  <a:srgbClr val="DCEDE7"/>
                </a:solidFill>
              </a:rPr>
              <a:t>DOM sur trois chiffres</a:t>
            </a:r>
          </a:p>
        </p:txBody>
      </p:sp>
      <p:sp>
        <p:nvSpPr>
          <p:cNvPr id="17" name="geo-a-3">
            <a:extLst xmlns:a="http://schemas.openxmlformats.org/drawingml/2006/main">
              <a:ext uri="{FF2B5EF4-FFF2-40B4-BE49-F238E27FC236}">
                <a16:creationId xmlns:a16="http://schemas.microsoft.com/office/drawing/2014/main" id="{D2F5B9EF-702C-44A9-ADF0-FF70052F4141}"/>
              </a:ext>
            </a:extLst>
          </p:cNvPr>
          <p:cNvSpPr>
            <a:spLocks xmlns:a="http://schemas.openxmlformats.org/drawingml/2006/main" noGrp="1"/>
          </p:cNvSpPr>
          <p:nvPr/>
        </p:nvSpPr>
        <p:spPr>
          <a:xfrm xmlns:a="http://schemas.openxmlformats.org/drawingml/2006/main">
            <a:off x="5391150" y="44767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E8D9BF"/>
                </a:solidFill>
              </a:defRPr>
            </a:pPr>
            <a:r>
              <a:rPr sz="1500" b="1">
                <a:solidFill>
                  <a:srgbClr val="E8D9BF"/>
                </a:solidFill>
              </a:rPr>
              <a:t>DEP → REG</a:t>
            </a:r>
          </a:p>
        </p:txBody>
      </p:sp>
      <p:sp>
        <p:nvSpPr>
          <p:cNvPr id="18" name="geo-b-3">
            <a:extLst xmlns:a="http://schemas.openxmlformats.org/drawingml/2006/main">
              <a:ext uri="{FF2B5EF4-FFF2-40B4-BE49-F238E27FC236}">
                <a16:creationId xmlns:a16="http://schemas.microsoft.com/office/drawing/2014/main" id="{CB23040E-93DA-4499-BE67-A1162E7A5591}"/>
              </a:ext>
            </a:extLst>
          </p:cNvPr>
          <p:cNvSpPr>
            <a:spLocks xmlns:a="http://schemas.openxmlformats.org/drawingml/2006/main" noGrp="1"/>
          </p:cNvSpPr>
          <p:nvPr/>
        </p:nvSpPr>
        <p:spPr>
          <a:xfrm xmlns:a="http://schemas.openxmlformats.org/drawingml/2006/main">
            <a:off x="6819900" y="44767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CEDE7"/>
                </a:solidFill>
              </a:defRPr>
            </a:pPr>
            <a:r>
              <a:rPr sz="1350" b="0">
                <a:solidFill>
                  <a:srgbClr val="DCEDE7"/>
                </a:solidFill>
              </a:rPr>
              <a:t>jointure par référentiel</a:t>
            </a:r>
          </a:p>
        </p:txBody>
      </p:sp>
    </p:spTree>
    <p:extLst>
      <p:ext uri="{BB962C8B-B14F-4D97-AF65-F5344CB8AC3E}">
        <p14:creationId xmlns:p14="http://schemas.microsoft.com/office/powerpoint/2010/main" val="1031071994"/>
      </p:ext>
    </p:extLst>
  </p:cSld>
</p:sld>
</file>

<file path=ppt/slides/slide8.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6" name="kicker-8">
            <a:extLst xmlns:a="http://schemas.openxmlformats.org/drawingml/2006/main">
              <a:ext uri="{FF2B5EF4-FFF2-40B4-BE49-F238E27FC236}">
                <a16:creationId xmlns:a16="http://schemas.microsoft.com/office/drawing/2014/main" id="{32802263-49A9-42BD-895E-847DC91FAD7B}"/>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FORMATS DE DONNÉES</a:t>
            </a:r>
          </a:p>
        </p:txBody>
      </p:sp>
      <p:sp>
        <p:nvSpPr>
          <p:cNvPr id="2" name="title-8">
            <a:extLst xmlns:a="http://schemas.openxmlformats.org/drawingml/2006/main">
              <a:ext uri="{FF2B5EF4-FFF2-40B4-BE49-F238E27FC236}">
                <a16:creationId xmlns:a16="http://schemas.microsoft.com/office/drawing/2014/main" id="{0BB346CB-5E6F-47AC-A2A7-BA5DA380BC3F}"/>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Chaque format répond à un mode d’accès différent</a:t>
            </a:r>
          </a:p>
        </p:txBody>
      </p:sp>
      <p:sp>
        <p:nvSpPr>
          <p:cNvPr id="3" name="rule-8">
            <a:extLst xmlns:a="http://schemas.openxmlformats.org/drawingml/2006/main">
              <a:ext uri="{FF2B5EF4-FFF2-40B4-BE49-F238E27FC236}">
                <a16:creationId xmlns:a16="http://schemas.microsoft.com/office/drawing/2014/main" id="{E20A97E8-E57F-471D-B358-9A563BE91B81}"/>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8">
            <a:extLst xmlns:a="http://schemas.openxmlformats.org/drawingml/2006/main">
              <a:ext uri="{FF2B5EF4-FFF2-40B4-BE49-F238E27FC236}">
                <a16:creationId xmlns:a16="http://schemas.microsoft.com/office/drawing/2014/main" id="{D807452A-170F-496F-B755-5C83DA02873B}"/>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08</a:t>
            </a:r>
          </a:p>
        </p:txBody>
      </p:sp>
      <p:sp>
        <p:nvSpPr>
          <p:cNvPr id="5" name="fmt-0">
            <a:extLst xmlns:a="http://schemas.openxmlformats.org/drawingml/2006/main">
              <a:ext uri="{FF2B5EF4-FFF2-40B4-BE49-F238E27FC236}">
                <a16:creationId xmlns:a16="http://schemas.microsoft.com/office/drawing/2014/main" id="{42C66BB6-FABF-4396-8932-AD3669B6DA4B}"/>
              </a:ext>
            </a:extLst>
          </p:cNvPr>
          <p:cNvSpPr>
            <a:spLocks xmlns:a="http://schemas.openxmlformats.org/drawingml/2006/main" noGrp="1"/>
          </p:cNvSpPr>
          <p:nvPr/>
        </p:nvSpPr>
        <p:spPr>
          <a:xfrm xmlns:a="http://schemas.openxmlformats.org/drawingml/2006/main">
            <a:off x="609600" y="1809750"/>
            <a:ext cx="2381250" cy="32766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1430">
            <a:solidFill>
              <a:srgbClr val="C8D5D1"/>
            </a:solidFill>
            <a:prstDash val="solid"/>
          </a:ln>
        </p:spPr>
      </p:sp>
      <p:sp>
        <p:nvSpPr>
          <p:cNvPr id="6" name="fmt-top-0">
            <a:extLst xmlns:a="http://schemas.openxmlformats.org/drawingml/2006/main">
              <a:ext uri="{FF2B5EF4-FFF2-40B4-BE49-F238E27FC236}">
                <a16:creationId xmlns:a16="http://schemas.microsoft.com/office/drawing/2014/main" id="{631D5D3A-6D1E-41FA-8807-0F6EE62E2A21}"/>
              </a:ext>
            </a:extLst>
          </p:cNvPr>
          <p:cNvSpPr>
            <a:spLocks xmlns:a="http://schemas.openxmlformats.org/drawingml/2006/main" noGrp="1"/>
          </p:cNvSpPr>
          <p:nvPr/>
        </p:nvSpPr>
        <p:spPr>
          <a:xfrm xmlns:a="http://schemas.openxmlformats.org/drawingml/2006/main">
            <a:off x="609600" y="1809750"/>
            <a:ext cx="2381250" cy="114300"/>
          </a:xfrm>
          <a:prstGeom xmlns:a="http://schemas.openxmlformats.org/drawingml/2006/main" prst="roundRect">
            <a:avLst>
              <a:gd name="adj" fmla="val 41667"/>
            </a:avLst>
          </a:prstGeom>
          <a:solidFill xmlns:a="http://schemas.openxmlformats.org/drawingml/2006/main">
            <a:srgbClr val="D66B4D"/>
          </a:solidFill>
          <a:ln xmlns:a="http://schemas.openxmlformats.org/drawingml/2006/main" w="11430">
            <a:solidFill>
              <a:srgbClr val="D66B4D"/>
            </a:solidFill>
            <a:prstDash val="solid"/>
          </a:ln>
        </p:spPr>
      </p:sp>
      <p:sp>
        <p:nvSpPr>
          <p:cNvPr id="7" name="fmt-h-0">
            <a:extLst xmlns:a="http://schemas.openxmlformats.org/drawingml/2006/main">
              <a:ext uri="{FF2B5EF4-FFF2-40B4-BE49-F238E27FC236}">
                <a16:creationId xmlns:a16="http://schemas.microsoft.com/office/drawing/2014/main" id="{BC5BB291-8E4E-4ECA-81AF-3E9F6D9A4DBC}"/>
              </a:ext>
            </a:extLst>
          </p:cNvPr>
          <p:cNvSpPr>
            <a:spLocks xmlns:a="http://schemas.openxmlformats.org/drawingml/2006/main" noGrp="1"/>
          </p:cNvSpPr>
          <p:nvPr/>
        </p:nvSpPr>
        <p:spPr>
          <a:xfrm xmlns:a="http://schemas.openxmlformats.org/drawingml/2006/main">
            <a:off x="838200" y="22098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02A2A"/>
                </a:solidFill>
              </a:defRPr>
            </a:pPr>
            <a:r>
              <a:rPr sz="2100" b="1">
                <a:solidFill>
                  <a:srgbClr val="102A2A"/>
                </a:solidFill>
              </a:rPr>
              <a:t>CSV</a:t>
            </a:r>
          </a:p>
        </p:txBody>
      </p:sp>
      <p:sp>
        <p:nvSpPr>
          <p:cNvPr id="8" name="fmt-sub-0">
            <a:extLst xmlns:a="http://schemas.openxmlformats.org/drawingml/2006/main">
              <a:ext uri="{FF2B5EF4-FFF2-40B4-BE49-F238E27FC236}">
                <a16:creationId xmlns:a16="http://schemas.microsoft.com/office/drawing/2014/main" id="{7D34E1A9-BB3B-45BA-993E-EBDFB108BBD9}"/>
              </a:ext>
            </a:extLst>
          </p:cNvPr>
          <p:cNvSpPr>
            <a:spLocks xmlns:a="http://schemas.openxmlformats.org/drawingml/2006/main" noGrp="1"/>
          </p:cNvSpPr>
          <p:nvPr/>
        </p:nvSpPr>
        <p:spPr>
          <a:xfrm xmlns:a="http://schemas.openxmlformats.org/drawingml/2006/main">
            <a:off x="838200" y="27813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66B4D"/>
                </a:solidFill>
              </a:defRPr>
            </a:pPr>
            <a:r>
              <a:rPr sz="1350" b="1">
                <a:solidFill>
                  <a:srgbClr val="D66B4D"/>
                </a:solidFill>
              </a:rPr>
              <a:t>échange simple</a:t>
            </a:r>
          </a:p>
        </p:txBody>
      </p:sp>
      <p:sp>
        <p:nvSpPr>
          <p:cNvPr id="9" name="fmt-b-0">
            <a:extLst xmlns:a="http://schemas.openxmlformats.org/drawingml/2006/main">
              <a:ext uri="{FF2B5EF4-FFF2-40B4-BE49-F238E27FC236}">
                <a16:creationId xmlns:a16="http://schemas.microsoft.com/office/drawing/2014/main" id="{23434AE2-3D15-4AFE-B339-1F22BD82D690}"/>
              </a:ext>
            </a:extLst>
          </p:cNvPr>
          <p:cNvSpPr>
            <a:spLocks xmlns:a="http://schemas.openxmlformats.org/drawingml/2006/main" noGrp="1"/>
          </p:cNvSpPr>
          <p:nvPr/>
        </p:nvSpPr>
        <p:spPr>
          <a:xfrm xmlns:a="http://schemas.openxmlformats.org/drawingml/2006/main">
            <a:off x="838200" y="3524250"/>
            <a:ext cx="1924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2706D"/>
                </a:solidFill>
              </a:defRPr>
            </a:pPr>
            <a:r>
              <a:rPr sz="1425" b="0">
                <a:solidFill>
                  <a:srgbClr val="62706D"/>
                </a:solidFill>
              </a:rPr>
              <a:t>lisible partout</a:t>
            </a:r>
          </a:p>
          <a:p xmlns:a="http://schemas.openxmlformats.org/drawingml/2006/main">
            <a:pPr algn="l">
              <a:defRPr sz="1425" b="0">
                <a:solidFill>
                  <a:srgbClr val="62706D"/>
                </a:solidFill>
              </a:defRPr>
            </a:pPr>
            <a:r>
              <a:rPr sz="1425" b="0">
                <a:solidFill>
                  <a:srgbClr val="62706D"/>
                </a:solidFill>
              </a:rPr>
              <a:t>scan complet coûteux</a:t>
            </a:r>
          </a:p>
        </p:txBody>
      </p:sp>
      <p:sp>
        <p:nvSpPr>
          <p:cNvPr id="10" name="fmt-1">
            <a:extLst xmlns:a="http://schemas.openxmlformats.org/drawingml/2006/main">
              <a:ext uri="{FF2B5EF4-FFF2-40B4-BE49-F238E27FC236}">
                <a16:creationId xmlns:a16="http://schemas.microsoft.com/office/drawing/2014/main" id="{94C1E9A4-58B1-47F2-A724-39EEE439E5D9}"/>
              </a:ext>
            </a:extLst>
          </p:cNvPr>
          <p:cNvSpPr>
            <a:spLocks xmlns:a="http://schemas.openxmlformats.org/drawingml/2006/main" noGrp="1"/>
          </p:cNvSpPr>
          <p:nvPr/>
        </p:nvSpPr>
        <p:spPr>
          <a:xfrm xmlns:a="http://schemas.openxmlformats.org/drawingml/2006/main">
            <a:off x="3352800" y="1809750"/>
            <a:ext cx="2381250" cy="32766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1430">
            <a:solidFill>
              <a:srgbClr val="C8D5D1"/>
            </a:solidFill>
            <a:prstDash val="solid"/>
          </a:ln>
        </p:spPr>
      </p:sp>
      <p:sp>
        <p:nvSpPr>
          <p:cNvPr id="11" name="fmt-top-1">
            <a:extLst xmlns:a="http://schemas.openxmlformats.org/drawingml/2006/main">
              <a:ext uri="{FF2B5EF4-FFF2-40B4-BE49-F238E27FC236}">
                <a16:creationId xmlns:a16="http://schemas.microsoft.com/office/drawing/2014/main" id="{3F6D340E-05A1-4DEF-9134-C4224B1A8DB9}"/>
              </a:ext>
            </a:extLst>
          </p:cNvPr>
          <p:cNvSpPr>
            <a:spLocks xmlns:a="http://schemas.openxmlformats.org/drawingml/2006/main" noGrp="1"/>
          </p:cNvSpPr>
          <p:nvPr/>
        </p:nvSpPr>
        <p:spPr>
          <a:xfrm xmlns:a="http://schemas.openxmlformats.org/drawingml/2006/main">
            <a:off x="3352800" y="1809750"/>
            <a:ext cx="2381250" cy="114300"/>
          </a:xfrm>
          <a:prstGeom xmlns:a="http://schemas.openxmlformats.org/drawingml/2006/main" prst="roundRect">
            <a:avLst>
              <a:gd name="adj" fmla="val 41667"/>
            </a:avLst>
          </a:prstGeom>
          <a:solidFill xmlns:a="http://schemas.openxmlformats.org/drawingml/2006/main">
            <a:srgbClr val="1F6F5F"/>
          </a:solidFill>
          <a:ln xmlns:a="http://schemas.openxmlformats.org/drawingml/2006/main" w="11430">
            <a:solidFill>
              <a:srgbClr val="1F6F5F"/>
            </a:solidFill>
            <a:prstDash val="solid"/>
          </a:ln>
        </p:spPr>
      </p:sp>
      <p:sp>
        <p:nvSpPr>
          <p:cNvPr id="12" name="fmt-h-1">
            <a:extLst xmlns:a="http://schemas.openxmlformats.org/drawingml/2006/main">
              <a:ext uri="{FF2B5EF4-FFF2-40B4-BE49-F238E27FC236}">
                <a16:creationId xmlns:a16="http://schemas.microsoft.com/office/drawing/2014/main" id="{AD85C853-A2B1-4033-86A1-C5B10CE0BF07}"/>
              </a:ext>
            </a:extLst>
          </p:cNvPr>
          <p:cNvSpPr>
            <a:spLocks xmlns:a="http://schemas.openxmlformats.org/drawingml/2006/main" noGrp="1"/>
          </p:cNvSpPr>
          <p:nvPr/>
        </p:nvSpPr>
        <p:spPr>
          <a:xfrm xmlns:a="http://schemas.openxmlformats.org/drawingml/2006/main">
            <a:off x="3581400" y="22098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02A2A"/>
                </a:solidFill>
              </a:defRPr>
            </a:pPr>
            <a:r>
              <a:rPr sz="2100" b="1">
                <a:solidFill>
                  <a:srgbClr val="102A2A"/>
                </a:solidFill>
              </a:rPr>
              <a:t>Parquet</a:t>
            </a:r>
          </a:p>
        </p:txBody>
      </p:sp>
      <p:sp>
        <p:nvSpPr>
          <p:cNvPr id="13" name="fmt-sub-1">
            <a:extLst xmlns:a="http://schemas.openxmlformats.org/drawingml/2006/main">
              <a:ext uri="{FF2B5EF4-FFF2-40B4-BE49-F238E27FC236}">
                <a16:creationId xmlns:a16="http://schemas.microsoft.com/office/drawing/2014/main" id="{7D61F546-6973-41A1-9755-A12CACBFAB8E}"/>
              </a:ext>
            </a:extLst>
          </p:cNvPr>
          <p:cNvSpPr>
            <a:spLocks xmlns:a="http://schemas.openxmlformats.org/drawingml/2006/main" noGrp="1"/>
          </p:cNvSpPr>
          <p:nvPr/>
        </p:nvSpPr>
        <p:spPr>
          <a:xfrm xmlns:a="http://schemas.openxmlformats.org/drawingml/2006/main">
            <a:off x="3581400" y="27813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F6F5F"/>
                </a:solidFill>
              </a:defRPr>
            </a:pPr>
            <a:r>
              <a:rPr sz="1350" b="1">
                <a:solidFill>
                  <a:srgbClr val="1F6F5F"/>
                </a:solidFill>
              </a:rPr>
              <a:t>analytique colonne</a:t>
            </a:r>
          </a:p>
        </p:txBody>
      </p:sp>
      <p:sp>
        <p:nvSpPr>
          <p:cNvPr id="14" name="fmt-b-1">
            <a:extLst xmlns:a="http://schemas.openxmlformats.org/drawingml/2006/main">
              <a:ext uri="{FF2B5EF4-FFF2-40B4-BE49-F238E27FC236}">
                <a16:creationId xmlns:a16="http://schemas.microsoft.com/office/drawing/2014/main" id="{94676C33-20F9-435C-91A1-40C07D41FB04}"/>
              </a:ext>
            </a:extLst>
          </p:cNvPr>
          <p:cNvSpPr>
            <a:spLocks xmlns:a="http://schemas.openxmlformats.org/drawingml/2006/main" noGrp="1"/>
          </p:cNvSpPr>
          <p:nvPr/>
        </p:nvSpPr>
        <p:spPr>
          <a:xfrm xmlns:a="http://schemas.openxmlformats.org/drawingml/2006/main">
            <a:off x="3581400" y="3524250"/>
            <a:ext cx="1924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2706D"/>
                </a:solidFill>
              </a:defRPr>
            </a:pPr>
            <a:r>
              <a:rPr sz="1425" b="0">
                <a:solidFill>
                  <a:srgbClr val="62706D"/>
                </a:solidFill>
              </a:rPr>
              <a:t>typé, compressé</a:t>
            </a:r>
          </a:p>
          <a:p xmlns:a="http://schemas.openxmlformats.org/drawingml/2006/main">
            <a:pPr algn="l">
              <a:defRPr sz="1425" b="0">
                <a:solidFill>
                  <a:srgbClr val="62706D"/>
                </a:solidFill>
              </a:defRPr>
            </a:pPr>
            <a:r>
              <a:rPr sz="1425" b="0">
                <a:solidFill>
                  <a:srgbClr val="62706D"/>
                </a:solidFill>
              </a:rPr>
              <a:t>lecture sélective</a:t>
            </a:r>
          </a:p>
        </p:txBody>
      </p:sp>
      <p:sp>
        <p:nvSpPr>
          <p:cNvPr id="15" name="fmt-2">
            <a:extLst xmlns:a="http://schemas.openxmlformats.org/drawingml/2006/main">
              <a:ext uri="{FF2B5EF4-FFF2-40B4-BE49-F238E27FC236}">
                <a16:creationId xmlns:a16="http://schemas.microsoft.com/office/drawing/2014/main" id="{21DAFAF0-D33D-49C7-9AA7-29967A7346AD}"/>
              </a:ext>
            </a:extLst>
          </p:cNvPr>
          <p:cNvSpPr>
            <a:spLocks xmlns:a="http://schemas.openxmlformats.org/drawingml/2006/main" noGrp="1"/>
          </p:cNvSpPr>
          <p:nvPr/>
        </p:nvSpPr>
        <p:spPr>
          <a:xfrm xmlns:a="http://schemas.openxmlformats.org/drawingml/2006/main">
            <a:off x="6096000" y="1809750"/>
            <a:ext cx="2381250" cy="32766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1430">
            <a:solidFill>
              <a:srgbClr val="C8D5D1"/>
            </a:solidFill>
            <a:prstDash val="solid"/>
          </a:ln>
        </p:spPr>
      </p:sp>
      <p:sp>
        <p:nvSpPr>
          <p:cNvPr id="16" name="fmt-top-2">
            <a:extLst xmlns:a="http://schemas.openxmlformats.org/drawingml/2006/main">
              <a:ext uri="{FF2B5EF4-FFF2-40B4-BE49-F238E27FC236}">
                <a16:creationId xmlns:a16="http://schemas.microsoft.com/office/drawing/2014/main" id="{22B025B5-3A75-4AE5-B1AF-3604DCC34273}"/>
              </a:ext>
            </a:extLst>
          </p:cNvPr>
          <p:cNvSpPr>
            <a:spLocks xmlns:a="http://schemas.openxmlformats.org/drawingml/2006/main" noGrp="1"/>
          </p:cNvSpPr>
          <p:nvPr/>
        </p:nvSpPr>
        <p:spPr>
          <a:xfrm xmlns:a="http://schemas.openxmlformats.org/drawingml/2006/main">
            <a:off x="6096000" y="1809750"/>
            <a:ext cx="2381250" cy="114300"/>
          </a:xfrm>
          <a:prstGeom xmlns:a="http://schemas.openxmlformats.org/drawingml/2006/main" prst="roundRect">
            <a:avLst>
              <a:gd name="adj" fmla="val 41667"/>
            </a:avLst>
          </a:prstGeom>
          <a:solidFill xmlns:a="http://schemas.openxmlformats.org/drawingml/2006/main">
            <a:srgbClr val="3C7891"/>
          </a:solidFill>
          <a:ln xmlns:a="http://schemas.openxmlformats.org/drawingml/2006/main" w="11430">
            <a:solidFill>
              <a:srgbClr val="3C7891"/>
            </a:solidFill>
            <a:prstDash val="solid"/>
          </a:ln>
        </p:spPr>
      </p:sp>
      <p:sp>
        <p:nvSpPr>
          <p:cNvPr id="17" name="fmt-h-2">
            <a:extLst xmlns:a="http://schemas.openxmlformats.org/drawingml/2006/main">
              <a:ext uri="{FF2B5EF4-FFF2-40B4-BE49-F238E27FC236}">
                <a16:creationId xmlns:a16="http://schemas.microsoft.com/office/drawing/2014/main" id="{91D237F9-742F-47E3-BA72-CEFE36586575}"/>
              </a:ext>
            </a:extLst>
          </p:cNvPr>
          <p:cNvSpPr>
            <a:spLocks xmlns:a="http://schemas.openxmlformats.org/drawingml/2006/main" noGrp="1"/>
          </p:cNvSpPr>
          <p:nvPr/>
        </p:nvSpPr>
        <p:spPr>
          <a:xfrm xmlns:a="http://schemas.openxmlformats.org/drawingml/2006/main">
            <a:off x="6324600" y="22098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02A2A"/>
                </a:solidFill>
              </a:defRPr>
            </a:pPr>
            <a:r>
              <a:rPr sz="2100" b="1">
                <a:solidFill>
                  <a:srgbClr val="102A2A"/>
                </a:solidFill>
              </a:rPr>
              <a:t>SQLite</a:t>
            </a:r>
          </a:p>
        </p:txBody>
      </p:sp>
      <p:sp>
        <p:nvSpPr>
          <p:cNvPr id="18" name="fmt-sub-2">
            <a:extLst xmlns:a="http://schemas.openxmlformats.org/drawingml/2006/main">
              <a:ext uri="{FF2B5EF4-FFF2-40B4-BE49-F238E27FC236}">
                <a16:creationId xmlns:a16="http://schemas.microsoft.com/office/drawing/2014/main" id="{265C985A-1775-4875-BCD4-4893BB2874F0}"/>
              </a:ext>
            </a:extLst>
          </p:cNvPr>
          <p:cNvSpPr>
            <a:spLocks xmlns:a="http://schemas.openxmlformats.org/drawingml/2006/main" noGrp="1"/>
          </p:cNvSpPr>
          <p:nvPr/>
        </p:nvSpPr>
        <p:spPr>
          <a:xfrm xmlns:a="http://schemas.openxmlformats.org/drawingml/2006/main">
            <a:off x="6324600" y="27813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3C7891"/>
                </a:solidFill>
              </a:defRPr>
            </a:pPr>
            <a:r>
              <a:rPr sz="1350" b="1">
                <a:solidFill>
                  <a:srgbClr val="3C7891"/>
                </a:solidFill>
              </a:rPr>
              <a:t>service local</a:t>
            </a:r>
          </a:p>
        </p:txBody>
      </p:sp>
      <p:sp>
        <p:nvSpPr>
          <p:cNvPr id="19" name="fmt-b-2">
            <a:extLst xmlns:a="http://schemas.openxmlformats.org/drawingml/2006/main">
              <a:ext uri="{FF2B5EF4-FFF2-40B4-BE49-F238E27FC236}">
                <a16:creationId xmlns:a16="http://schemas.microsoft.com/office/drawing/2014/main" id="{CBDA3F39-27E9-4E95-BB57-F3560A547D96}"/>
              </a:ext>
            </a:extLst>
          </p:cNvPr>
          <p:cNvSpPr>
            <a:spLocks xmlns:a="http://schemas.openxmlformats.org/drawingml/2006/main" noGrp="1"/>
          </p:cNvSpPr>
          <p:nvPr/>
        </p:nvSpPr>
        <p:spPr>
          <a:xfrm xmlns:a="http://schemas.openxmlformats.org/drawingml/2006/main">
            <a:off x="6324600" y="3524250"/>
            <a:ext cx="1924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2706D"/>
                </a:solidFill>
              </a:defRPr>
            </a:pPr>
            <a:r>
              <a:rPr sz="1425" b="0">
                <a:solidFill>
                  <a:srgbClr val="62706D"/>
                </a:solidFill>
              </a:rPr>
              <a:t>requêtes SQL, index</a:t>
            </a:r>
          </a:p>
          <a:p xmlns:a="http://schemas.openxmlformats.org/drawingml/2006/main">
            <a:pPr algn="l">
              <a:defRPr sz="1425" b="0">
                <a:solidFill>
                  <a:srgbClr val="62706D"/>
                </a:solidFill>
              </a:defRPr>
            </a:pPr>
            <a:r>
              <a:rPr sz="1425" b="0">
                <a:solidFill>
                  <a:srgbClr val="62706D"/>
                </a:solidFill>
              </a:rPr>
              <a:t>portable</a:t>
            </a:r>
          </a:p>
        </p:txBody>
      </p:sp>
      <p:sp>
        <p:nvSpPr>
          <p:cNvPr id="20" name="fmt-3">
            <a:extLst xmlns:a="http://schemas.openxmlformats.org/drawingml/2006/main">
              <a:ext uri="{FF2B5EF4-FFF2-40B4-BE49-F238E27FC236}">
                <a16:creationId xmlns:a16="http://schemas.microsoft.com/office/drawing/2014/main" id="{A5CA915E-1713-4F3A-BE45-3AF9006AD601}"/>
              </a:ext>
            </a:extLst>
          </p:cNvPr>
          <p:cNvSpPr>
            <a:spLocks xmlns:a="http://schemas.openxmlformats.org/drawingml/2006/main" noGrp="1"/>
          </p:cNvSpPr>
          <p:nvPr/>
        </p:nvSpPr>
        <p:spPr>
          <a:xfrm xmlns:a="http://schemas.openxmlformats.org/drawingml/2006/main">
            <a:off x="8839200" y="1809750"/>
            <a:ext cx="2381250" cy="32766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1430">
            <a:solidFill>
              <a:srgbClr val="C8D5D1"/>
            </a:solidFill>
            <a:prstDash val="solid"/>
          </a:ln>
        </p:spPr>
      </p:sp>
      <p:sp>
        <p:nvSpPr>
          <p:cNvPr id="21" name="fmt-top-3">
            <a:extLst xmlns:a="http://schemas.openxmlformats.org/drawingml/2006/main">
              <a:ext uri="{FF2B5EF4-FFF2-40B4-BE49-F238E27FC236}">
                <a16:creationId xmlns:a16="http://schemas.microsoft.com/office/drawing/2014/main" id="{91368066-F21C-4C0B-98FC-C35239B5EB0E}"/>
              </a:ext>
            </a:extLst>
          </p:cNvPr>
          <p:cNvSpPr>
            <a:spLocks xmlns:a="http://schemas.openxmlformats.org/drawingml/2006/main" noGrp="1"/>
          </p:cNvSpPr>
          <p:nvPr/>
        </p:nvSpPr>
        <p:spPr>
          <a:xfrm xmlns:a="http://schemas.openxmlformats.org/drawingml/2006/main">
            <a:off x="8839200" y="1809750"/>
            <a:ext cx="2381250" cy="114300"/>
          </a:xfrm>
          <a:prstGeom xmlns:a="http://schemas.openxmlformats.org/drawingml/2006/main" prst="roundRect">
            <a:avLst>
              <a:gd name="adj" fmla="val 41667"/>
            </a:avLst>
          </a:prstGeom>
          <a:solidFill xmlns:a="http://schemas.openxmlformats.org/drawingml/2006/main">
            <a:srgbClr val="153D3A"/>
          </a:solidFill>
          <a:ln xmlns:a="http://schemas.openxmlformats.org/drawingml/2006/main" w="11430">
            <a:solidFill>
              <a:srgbClr val="153D3A"/>
            </a:solidFill>
            <a:prstDash val="solid"/>
          </a:ln>
        </p:spPr>
      </p:sp>
      <p:sp>
        <p:nvSpPr>
          <p:cNvPr id="22" name="fmt-h-3">
            <a:extLst xmlns:a="http://schemas.openxmlformats.org/drawingml/2006/main">
              <a:ext uri="{FF2B5EF4-FFF2-40B4-BE49-F238E27FC236}">
                <a16:creationId xmlns:a16="http://schemas.microsoft.com/office/drawing/2014/main" id="{0610BE01-BCF9-4290-930D-21F282B33837}"/>
              </a:ext>
            </a:extLst>
          </p:cNvPr>
          <p:cNvSpPr>
            <a:spLocks xmlns:a="http://schemas.openxmlformats.org/drawingml/2006/main" noGrp="1"/>
          </p:cNvSpPr>
          <p:nvPr/>
        </p:nvSpPr>
        <p:spPr>
          <a:xfrm xmlns:a="http://schemas.openxmlformats.org/drawingml/2006/main">
            <a:off x="9067800" y="22098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02A2A"/>
                </a:solidFill>
              </a:defRPr>
            </a:pPr>
            <a:r>
              <a:rPr sz="2100" b="1">
                <a:solidFill>
                  <a:srgbClr val="102A2A"/>
                </a:solidFill>
              </a:rPr>
              <a:t>GeoJSON</a:t>
            </a:r>
          </a:p>
        </p:txBody>
      </p:sp>
      <p:sp>
        <p:nvSpPr>
          <p:cNvPr id="23" name="fmt-sub-3">
            <a:extLst xmlns:a="http://schemas.openxmlformats.org/drawingml/2006/main">
              <a:ext uri="{FF2B5EF4-FFF2-40B4-BE49-F238E27FC236}">
                <a16:creationId xmlns:a16="http://schemas.microsoft.com/office/drawing/2014/main" id="{55D534FD-3FA0-47AB-A43C-D810E7E652A7}"/>
              </a:ext>
            </a:extLst>
          </p:cNvPr>
          <p:cNvSpPr>
            <a:spLocks xmlns:a="http://schemas.openxmlformats.org/drawingml/2006/main" noGrp="1"/>
          </p:cNvSpPr>
          <p:nvPr/>
        </p:nvSpPr>
        <p:spPr>
          <a:xfrm xmlns:a="http://schemas.openxmlformats.org/drawingml/2006/main">
            <a:off x="9067800" y="27813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53D3A"/>
                </a:solidFill>
              </a:defRPr>
            </a:pPr>
            <a:r>
              <a:rPr sz="1350" b="1">
                <a:solidFill>
                  <a:srgbClr val="153D3A"/>
                </a:solidFill>
              </a:rPr>
              <a:t>géographie</a:t>
            </a:r>
          </a:p>
        </p:txBody>
      </p:sp>
      <p:sp>
        <p:nvSpPr>
          <p:cNvPr id="24" name="fmt-b-3">
            <a:extLst xmlns:a="http://schemas.openxmlformats.org/drawingml/2006/main">
              <a:ext uri="{FF2B5EF4-FFF2-40B4-BE49-F238E27FC236}">
                <a16:creationId xmlns:a16="http://schemas.microsoft.com/office/drawing/2014/main" id="{E5F2A2B4-25FC-4E89-A9D6-5B58C193740A}"/>
              </a:ext>
            </a:extLst>
          </p:cNvPr>
          <p:cNvSpPr>
            <a:spLocks xmlns:a="http://schemas.openxmlformats.org/drawingml/2006/main" noGrp="1"/>
          </p:cNvSpPr>
          <p:nvPr/>
        </p:nvSpPr>
        <p:spPr>
          <a:xfrm xmlns:a="http://schemas.openxmlformats.org/drawingml/2006/main">
            <a:off x="9067800" y="3524250"/>
            <a:ext cx="1924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2706D"/>
                </a:solidFill>
              </a:defRPr>
            </a:pPr>
            <a:r>
              <a:rPr sz="1425" b="0">
                <a:solidFill>
                  <a:srgbClr val="62706D"/>
                </a:solidFill>
              </a:rPr>
              <a:t>géométries pour</a:t>
            </a:r>
          </a:p>
          <a:p xmlns:a="http://schemas.openxmlformats.org/drawingml/2006/main">
            <a:pPr algn="l">
              <a:defRPr sz="1425" b="0">
                <a:solidFill>
                  <a:srgbClr val="62706D"/>
                </a:solidFill>
              </a:defRPr>
            </a:pPr>
            <a:r>
              <a:rPr sz="1425" b="0">
                <a:solidFill>
                  <a:srgbClr val="62706D"/>
                </a:solidFill>
              </a:rPr>
              <a:t>cartes choroplèthes</a:t>
            </a:r>
          </a:p>
        </p:txBody>
      </p:sp>
      <p:sp>
        <p:nvSpPr>
          <p:cNvPr id="25" name="fmt-foot">
            <a:extLst xmlns:a="http://schemas.openxmlformats.org/drawingml/2006/main">
              <a:ext uri="{FF2B5EF4-FFF2-40B4-BE49-F238E27FC236}">
                <a16:creationId xmlns:a16="http://schemas.microsoft.com/office/drawing/2014/main" id="{9A64CDB1-D789-439E-BD49-F3BAC9CFBF9A}"/>
              </a:ext>
            </a:extLst>
          </p:cNvPr>
          <p:cNvSpPr>
            <a:spLocks xmlns:a="http://schemas.openxmlformats.org/drawingml/2006/main" noGrp="1"/>
          </p:cNvSpPr>
          <p:nvPr/>
        </p:nvSpPr>
        <p:spPr>
          <a:xfrm xmlns:a="http://schemas.openxmlformats.org/drawingml/2006/main">
            <a:off x="1143000" y="56578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F6F5F"/>
                </a:solidFill>
              </a:defRPr>
            </a:pPr>
            <a:r>
              <a:rPr sz="1425" b="1">
                <a:solidFill>
                  <a:srgbClr val="1F6F5F"/>
                </a:solidFill>
              </a:rPr>
              <a:t>Parquet est surtout un format colonnaire, typé et compressé — pas simplement un découpage en fichiers.</a:t>
            </a:r>
          </a:p>
        </p:txBody>
      </p:sp>
    </p:spTree>
    <p:extLst>
      <p:ext uri="{BB962C8B-B14F-4D97-AF65-F5344CB8AC3E}">
        <p14:creationId xmlns:p14="http://schemas.microsoft.com/office/powerpoint/2010/main" val="1939619221"/>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5" name="kicker-9">
            <a:extLst xmlns:a="http://schemas.openxmlformats.org/drawingml/2006/main">
              <a:ext uri="{FF2B5EF4-FFF2-40B4-BE49-F238E27FC236}">
                <a16:creationId xmlns:a16="http://schemas.microsoft.com/office/drawing/2014/main" id="{A42F22A2-DF54-4539-A97A-3327FE16DAB7}"/>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PRÉPARATION DVF</a:t>
            </a:r>
          </a:p>
        </p:txBody>
      </p:sp>
      <p:sp>
        <p:nvSpPr>
          <p:cNvPr id="2" name="title-9">
            <a:extLst xmlns:a="http://schemas.openxmlformats.org/drawingml/2006/main">
              <a:ext uri="{FF2B5EF4-FFF2-40B4-BE49-F238E27FC236}">
                <a16:creationId xmlns:a16="http://schemas.microsoft.com/office/drawing/2014/main" id="{3CC51014-06C9-4D18-9112-068B8B013699}"/>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La qualité transforme le volume en base analytique fiable</a:t>
            </a:r>
          </a:p>
        </p:txBody>
      </p:sp>
      <p:sp>
        <p:nvSpPr>
          <p:cNvPr id="3" name="rule-9">
            <a:extLst xmlns:a="http://schemas.openxmlformats.org/drawingml/2006/main">
              <a:ext uri="{FF2B5EF4-FFF2-40B4-BE49-F238E27FC236}">
                <a16:creationId xmlns:a16="http://schemas.microsoft.com/office/drawing/2014/main" id="{9E36CF71-EA80-47AC-B2C1-979B5E4BDBA0}"/>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9">
            <a:extLst xmlns:a="http://schemas.openxmlformats.org/drawingml/2006/main">
              <a:ext uri="{FF2B5EF4-FFF2-40B4-BE49-F238E27FC236}">
                <a16:creationId xmlns:a16="http://schemas.microsoft.com/office/drawing/2014/main" id="{32D47DB5-1527-40FD-B69A-9B1A696019E3}"/>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09</a:t>
            </a:r>
          </a:p>
        </p:txBody>
      </p:sp>
      <p:sp>
        <p:nvSpPr>
          <p:cNvPr id="5" name="unique-bg">
            <a:extLst xmlns:a="http://schemas.openxmlformats.org/drawingml/2006/main">
              <a:ext uri="{FF2B5EF4-FFF2-40B4-BE49-F238E27FC236}">
                <a16:creationId xmlns:a16="http://schemas.microsoft.com/office/drawing/2014/main" id="{8F361D1B-8B2E-49E0-9DA0-546F00EAFF65}"/>
              </a:ext>
            </a:extLst>
          </p:cNvPr>
          <p:cNvSpPr>
            <a:spLocks xmlns:a="http://schemas.openxmlformats.org/drawingml/2006/main" noGrp="1"/>
          </p:cNvSpPr>
          <p:nvPr/>
        </p:nvSpPr>
        <p:spPr>
          <a:xfrm xmlns:a="http://schemas.openxmlformats.org/drawingml/2006/main">
            <a:off x="609600" y="1676400"/>
            <a:ext cx="4095750" cy="1409700"/>
          </a:xfrm>
          <a:prstGeom xmlns:a="http://schemas.openxmlformats.org/drawingml/2006/main" prst="roundRect">
            <a:avLst>
              <a:gd name="adj" fmla="val 12162"/>
            </a:avLst>
          </a:prstGeom>
          <a:solidFill xmlns:a="http://schemas.openxmlformats.org/drawingml/2006/main">
            <a:srgbClr val="FFFFFF"/>
          </a:solidFill>
          <a:ln xmlns:a="http://schemas.openxmlformats.org/drawingml/2006/main" w="11430">
            <a:solidFill>
              <a:srgbClr val="C8D5D1"/>
            </a:solidFill>
            <a:prstDash val="solid"/>
          </a:ln>
        </p:spPr>
      </p:sp>
      <p:sp>
        <p:nvSpPr>
          <p:cNvPr id="6" name="unique-accent">
            <a:extLst xmlns:a="http://schemas.openxmlformats.org/drawingml/2006/main">
              <a:ext uri="{FF2B5EF4-FFF2-40B4-BE49-F238E27FC236}">
                <a16:creationId xmlns:a16="http://schemas.microsoft.com/office/drawing/2014/main" id="{A47DDD11-029A-4060-9BB6-1C55D3BCB180}"/>
              </a:ext>
            </a:extLst>
          </p:cNvPr>
          <p:cNvSpPr>
            <a:spLocks xmlns:a="http://schemas.openxmlformats.org/drawingml/2006/main" noGrp="1"/>
          </p:cNvSpPr>
          <p:nvPr/>
        </p:nvSpPr>
        <p:spPr>
          <a:xfrm xmlns:a="http://schemas.openxmlformats.org/drawingml/2006/main">
            <a:off x="609600" y="1676400"/>
            <a:ext cx="95250" cy="1409700"/>
          </a:xfrm>
          <a:prstGeom xmlns:a="http://schemas.openxmlformats.org/drawingml/2006/main" prst="roundRect">
            <a:avLst>
              <a:gd name="adj" fmla="val 50000"/>
            </a:avLst>
          </a:prstGeom>
          <a:solidFill xmlns:a="http://schemas.openxmlformats.org/drawingml/2006/main">
            <a:srgbClr val="D66B4D"/>
          </a:solidFill>
          <a:ln xmlns:a="http://schemas.openxmlformats.org/drawingml/2006/main" w="11430">
            <a:solidFill>
              <a:srgbClr val="D66B4D"/>
            </a:solidFill>
            <a:prstDash val="solid"/>
          </a:ln>
        </p:spPr>
      </p:sp>
      <p:sp>
        <p:nvSpPr>
          <p:cNvPr id="7" name="unique-value">
            <a:extLst xmlns:a="http://schemas.openxmlformats.org/drawingml/2006/main">
              <a:ext uri="{FF2B5EF4-FFF2-40B4-BE49-F238E27FC236}">
                <a16:creationId xmlns:a16="http://schemas.microsoft.com/office/drawing/2014/main" id="{0A97D480-C7A0-43C2-A72B-7E9CBFFFE325}"/>
              </a:ext>
            </a:extLst>
          </p:cNvPr>
          <p:cNvSpPr>
            <a:spLocks xmlns:a="http://schemas.openxmlformats.org/drawingml/2006/main" noGrp="1"/>
          </p:cNvSpPr>
          <p:nvPr/>
        </p:nvSpPr>
        <p:spPr>
          <a:xfrm xmlns:a="http://schemas.openxmlformats.org/drawingml/2006/main">
            <a:off x="876300" y="1885950"/>
            <a:ext cx="365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2A"/>
                </a:solidFill>
              </a:defRPr>
            </a:pPr>
            <a:r>
              <a:rPr sz="2700" b="1">
                <a:solidFill>
                  <a:srgbClr val="102A2A"/>
                </a:solidFill>
              </a:rPr>
              <a:t>1 884 593</a:t>
            </a:r>
          </a:p>
        </p:txBody>
      </p:sp>
      <p:sp>
        <p:nvSpPr>
          <p:cNvPr id="8" name="unique-label">
            <a:extLst xmlns:a="http://schemas.openxmlformats.org/drawingml/2006/main">
              <a:ext uri="{FF2B5EF4-FFF2-40B4-BE49-F238E27FC236}">
                <a16:creationId xmlns:a16="http://schemas.microsoft.com/office/drawing/2014/main" id="{6957550D-9A2B-47F1-84B1-E299EA654DC0}"/>
              </a:ext>
            </a:extLst>
          </p:cNvPr>
          <p:cNvSpPr>
            <a:spLocks xmlns:a="http://schemas.openxmlformats.org/drawingml/2006/main" noGrp="1"/>
          </p:cNvSpPr>
          <p:nvPr/>
        </p:nvSpPr>
        <p:spPr>
          <a:xfrm xmlns:a="http://schemas.openxmlformats.org/drawingml/2006/main">
            <a:off x="876300" y="2514600"/>
            <a:ext cx="365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transactions DVF uniques dans la base finale</a:t>
            </a:r>
          </a:p>
        </p:txBody>
      </p:sp>
      <p:sp>
        <p:nvSpPr>
          <p:cNvPr id="9" name="formula-bg">
            <a:extLst xmlns:a="http://schemas.openxmlformats.org/drawingml/2006/main">
              <a:ext uri="{FF2B5EF4-FFF2-40B4-BE49-F238E27FC236}">
                <a16:creationId xmlns:a16="http://schemas.microsoft.com/office/drawing/2014/main" id="{084A83A2-E1D3-4488-A89F-0109FC26C077}"/>
              </a:ext>
            </a:extLst>
          </p:cNvPr>
          <p:cNvSpPr>
            <a:spLocks xmlns:a="http://schemas.openxmlformats.org/drawingml/2006/main" noGrp="1"/>
          </p:cNvSpPr>
          <p:nvPr/>
        </p:nvSpPr>
        <p:spPr>
          <a:xfrm xmlns:a="http://schemas.openxmlformats.org/drawingml/2006/main">
            <a:off x="5048250" y="1676400"/>
            <a:ext cx="6534150" cy="1409700"/>
          </a:xfrm>
          <a:prstGeom xmlns:a="http://schemas.openxmlformats.org/drawingml/2006/main" prst="roundRect">
            <a:avLst>
              <a:gd name="adj" fmla="val 12162"/>
            </a:avLst>
          </a:prstGeom>
          <a:solidFill xmlns:a="http://schemas.openxmlformats.org/drawingml/2006/main">
            <a:srgbClr val="153D3A"/>
          </a:solidFill>
          <a:ln xmlns:a="http://schemas.openxmlformats.org/drawingml/2006/main" w="11430">
            <a:solidFill>
              <a:srgbClr val="153D3A"/>
            </a:solidFill>
            <a:prstDash val="solid"/>
          </a:ln>
        </p:spPr>
      </p:sp>
      <p:sp>
        <p:nvSpPr>
          <p:cNvPr id="10" name="formula-label">
            <a:extLst xmlns:a="http://schemas.openxmlformats.org/drawingml/2006/main">
              <a:ext uri="{FF2B5EF4-FFF2-40B4-BE49-F238E27FC236}">
                <a16:creationId xmlns:a16="http://schemas.microsoft.com/office/drawing/2014/main" id="{A138716D-E503-4A35-818D-355AC697A626}"/>
              </a:ext>
            </a:extLst>
          </p:cNvPr>
          <p:cNvSpPr>
            <a:spLocks xmlns:a="http://schemas.openxmlformats.org/drawingml/2006/main" noGrp="1"/>
          </p:cNvSpPr>
          <p:nvPr/>
        </p:nvSpPr>
        <p:spPr>
          <a:xfrm xmlns:a="http://schemas.openxmlformats.org/drawingml/2006/main">
            <a:off x="5381625" y="18954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CEDE7"/>
                </a:solidFill>
              </a:defRPr>
            </a:pPr>
            <a:r>
              <a:rPr sz="975" b="1">
                <a:solidFill>
                  <a:srgbClr val="DCEDE7"/>
                </a:solidFill>
              </a:rPr>
              <a:t>INDICATEUR CENTRAL</a:t>
            </a:r>
          </a:p>
        </p:txBody>
      </p:sp>
      <p:sp>
        <p:nvSpPr>
          <p:cNvPr id="11" name="formula">
            <a:extLst xmlns:a="http://schemas.openxmlformats.org/drawingml/2006/main">
              <a:ext uri="{FF2B5EF4-FFF2-40B4-BE49-F238E27FC236}">
                <a16:creationId xmlns:a16="http://schemas.microsoft.com/office/drawing/2014/main" id="{3EC493F3-1700-409C-A266-F59CF6595DCE}"/>
              </a:ext>
            </a:extLst>
          </p:cNvPr>
          <p:cNvSpPr>
            <a:spLocks xmlns:a="http://schemas.openxmlformats.org/drawingml/2006/main" noGrp="1"/>
          </p:cNvSpPr>
          <p:nvPr/>
        </p:nvSpPr>
        <p:spPr>
          <a:xfrm xmlns:a="http://schemas.openxmlformats.org/drawingml/2006/main">
            <a:off x="5381625" y="230505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defRPr>
            </a:pPr>
            <a:r>
              <a:rPr sz="2025" b="1">
                <a:solidFill>
                  <a:srgbClr val="FFFFFF"/>
                </a:solidFill>
              </a:rPr>
              <a:t>prix au m² = valeur foncière ÷ surface bâtie</a:t>
            </a:r>
          </a:p>
        </p:txBody>
      </p:sp>
      <p:sp>
        <p:nvSpPr>
          <p:cNvPr id="12" name="quality-n-0">
            <a:extLst xmlns:a="http://schemas.openxmlformats.org/drawingml/2006/main">
              <a:ext uri="{FF2B5EF4-FFF2-40B4-BE49-F238E27FC236}">
                <a16:creationId xmlns:a16="http://schemas.microsoft.com/office/drawing/2014/main" id="{E3A3AB85-9C5E-45FB-9E6F-6AD0A37F1C73}"/>
              </a:ext>
            </a:extLst>
          </p:cNvPr>
          <p:cNvSpPr>
            <a:spLocks xmlns:a="http://schemas.openxmlformats.org/drawingml/2006/main" noGrp="1"/>
          </p:cNvSpPr>
          <p:nvPr/>
        </p:nvSpPr>
        <p:spPr>
          <a:xfrm xmlns:a="http://schemas.openxmlformats.org/drawingml/2006/main">
            <a:off x="609600" y="3714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01</a:t>
            </a:r>
          </a:p>
        </p:txBody>
      </p:sp>
      <p:sp>
        <p:nvSpPr>
          <p:cNvPr id="13" name="quality-h-0">
            <a:extLst xmlns:a="http://schemas.openxmlformats.org/drawingml/2006/main">
              <a:ext uri="{FF2B5EF4-FFF2-40B4-BE49-F238E27FC236}">
                <a16:creationId xmlns:a16="http://schemas.microsoft.com/office/drawing/2014/main" id="{6FE633F6-2FDC-4198-8AE9-9CD255852F60}"/>
              </a:ext>
            </a:extLst>
          </p:cNvPr>
          <p:cNvSpPr>
            <a:spLocks xmlns:a="http://schemas.openxmlformats.org/drawingml/2006/main" noGrp="1"/>
          </p:cNvSpPr>
          <p:nvPr/>
        </p:nvSpPr>
        <p:spPr>
          <a:xfrm xmlns:a="http://schemas.openxmlformats.org/drawingml/2006/main">
            <a:off x="609600" y="4095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Normaliser</a:t>
            </a:r>
          </a:p>
        </p:txBody>
      </p:sp>
      <p:sp>
        <p:nvSpPr>
          <p:cNvPr id="14" name="quality-b-0">
            <a:extLst xmlns:a="http://schemas.openxmlformats.org/drawingml/2006/main">
              <a:ext uri="{FF2B5EF4-FFF2-40B4-BE49-F238E27FC236}">
                <a16:creationId xmlns:a16="http://schemas.microsoft.com/office/drawing/2014/main" id="{FBC30578-D20A-44ED-866C-25078CAACCCC}"/>
              </a:ext>
            </a:extLst>
          </p:cNvPr>
          <p:cNvSpPr>
            <a:spLocks xmlns:a="http://schemas.openxmlformats.org/drawingml/2006/main" noGrp="1"/>
          </p:cNvSpPr>
          <p:nvPr/>
        </p:nvSpPr>
        <p:spPr>
          <a:xfrm xmlns:a="http://schemas.openxmlformats.org/drawingml/2006/main">
            <a:off x="609600" y="45339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dates, colonnes, codes postaux sur 5 caractères</a:t>
            </a:r>
          </a:p>
        </p:txBody>
      </p:sp>
      <p:sp>
        <p:nvSpPr>
          <p:cNvPr id="15" name="quality-n-1">
            <a:extLst xmlns:a="http://schemas.openxmlformats.org/drawingml/2006/main">
              <a:ext uri="{FF2B5EF4-FFF2-40B4-BE49-F238E27FC236}">
                <a16:creationId xmlns:a16="http://schemas.microsoft.com/office/drawing/2014/main" id="{6F5B1BEE-D99E-4F4F-A53F-23165B7F956F}"/>
              </a:ext>
            </a:extLst>
          </p:cNvPr>
          <p:cNvSpPr>
            <a:spLocks xmlns:a="http://schemas.openxmlformats.org/drawingml/2006/main" noGrp="1"/>
          </p:cNvSpPr>
          <p:nvPr/>
        </p:nvSpPr>
        <p:spPr>
          <a:xfrm xmlns:a="http://schemas.openxmlformats.org/drawingml/2006/main">
            <a:off x="3352800" y="3714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02</a:t>
            </a:r>
          </a:p>
        </p:txBody>
      </p:sp>
      <p:sp>
        <p:nvSpPr>
          <p:cNvPr id="16" name="quality-h-1">
            <a:extLst xmlns:a="http://schemas.openxmlformats.org/drawingml/2006/main">
              <a:ext uri="{FF2B5EF4-FFF2-40B4-BE49-F238E27FC236}">
                <a16:creationId xmlns:a16="http://schemas.microsoft.com/office/drawing/2014/main" id="{4F7D3AF5-EAF7-4A11-9D23-F3759471B7B7}"/>
              </a:ext>
            </a:extLst>
          </p:cNvPr>
          <p:cNvSpPr>
            <a:spLocks xmlns:a="http://schemas.openxmlformats.org/drawingml/2006/main" noGrp="1"/>
          </p:cNvSpPr>
          <p:nvPr/>
        </p:nvSpPr>
        <p:spPr>
          <a:xfrm xmlns:a="http://schemas.openxmlformats.org/drawingml/2006/main">
            <a:off x="3352800" y="4095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Dédoublonner</a:t>
            </a:r>
          </a:p>
        </p:txBody>
      </p:sp>
      <p:sp>
        <p:nvSpPr>
          <p:cNvPr id="17" name="quality-b-1">
            <a:extLst xmlns:a="http://schemas.openxmlformats.org/drawingml/2006/main">
              <a:ext uri="{FF2B5EF4-FFF2-40B4-BE49-F238E27FC236}">
                <a16:creationId xmlns:a16="http://schemas.microsoft.com/office/drawing/2014/main" id="{6EC8E6C6-7EC7-4214-80AC-F7EA129EE015}"/>
              </a:ext>
            </a:extLst>
          </p:cNvPr>
          <p:cNvSpPr>
            <a:spLocks xmlns:a="http://schemas.openxmlformats.org/drawingml/2006/main" noGrp="1"/>
          </p:cNvSpPr>
          <p:nvPr/>
        </p:nvSpPr>
        <p:spPr>
          <a:xfrm xmlns:a="http://schemas.openxmlformats.org/drawingml/2006/main">
            <a:off x="3352800" y="45339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doublons exacts supprimés avant chargement</a:t>
            </a:r>
          </a:p>
        </p:txBody>
      </p:sp>
      <p:sp>
        <p:nvSpPr>
          <p:cNvPr id="18" name="quality-n-2">
            <a:extLst xmlns:a="http://schemas.openxmlformats.org/drawingml/2006/main">
              <a:ext uri="{FF2B5EF4-FFF2-40B4-BE49-F238E27FC236}">
                <a16:creationId xmlns:a16="http://schemas.microsoft.com/office/drawing/2014/main" id="{D1BB85D4-CFE6-4E60-A53D-5E8E35369492}"/>
              </a:ext>
            </a:extLst>
          </p:cNvPr>
          <p:cNvSpPr>
            <a:spLocks xmlns:a="http://schemas.openxmlformats.org/drawingml/2006/main" noGrp="1"/>
          </p:cNvSpPr>
          <p:nvPr/>
        </p:nvSpPr>
        <p:spPr>
          <a:xfrm xmlns:a="http://schemas.openxmlformats.org/drawingml/2006/main">
            <a:off x="6096000" y="3714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03</a:t>
            </a:r>
          </a:p>
        </p:txBody>
      </p:sp>
      <p:sp>
        <p:nvSpPr>
          <p:cNvPr id="19" name="quality-h-2">
            <a:extLst xmlns:a="http://schemas.openxmlformats.org/drawingml/2006/main">
              <a:ext uri="{FF2B5EF4-FFF2-40B4-BE49-F238E27FC236}">
                <a16:creationId xmlns:a16="http://schemas.microsoft.com/office/drawing/2014/main" id="{976DF547-1A09-43C7-856A-537D42B88D06}"/>
              </a:ext>
            </a:extLst>
          </p:cNvPr>
          <p:cNvSpPr>
            <a:spLocks xmlns:a="http://schemas.openxmlformats.org/drawingml/2006/main" noGrp="1"/>
          </p:cNvSpPr>
          <p:nvPr/>
        </p:nvSpPr>
        <p:spPr>
          <a:xfrm xmlns:a="http://schemas.openxmlformats.org/drawingml/2006/main">
            <a:off x="6096000" y="4095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Valider</a:t>
            </a:r>
          </a:p>
        </p:txBody>
      </p:sp>
      <p:sp>
        <p:nvSpPr>
          <p:cNvPr id="20" name="quality-b-2">
            <a:extLst xmlns:a="http://schemas.openxmlformats.org/drawingml/2006/main">
              <a:ext uri="{FF2B5EF4-FFF2-40B4-BE49-F238E27FC236}">
                <a16:creationId xmlns:a16="http://schemas.microsoft.com/office/drawing/2014/main" id="{3199F7C8-5680-494D-83FA-4C3B2955C068}"/>
              </a:ext>
            </a:extLst>
          </p:cNvPr>
          <p:cNvSpPr>
            <a:spLocks xmlns:a="http://schemas.openxmlformats.org/drawingml/2006/main" noGrp="1"/>
          </p:cNvSpPr>
          <p:nvPr/>
        </p:nvSpPr>
        <p:spPr>
          <a:xfrm xmlns:a="http://schemas.openxmlformats.org/drawingml/2006/main">
            <a:off x="6096000" y="45339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surface &gt; 0 · valeur ≥ 1 000 € · prix/m² valide</a:t>
            </a:r>
          </a:p>
        </p:txBody>
      </p:sp>
      <p:sp>
        <p:nvSpPr>
          <p:cNvPr id="21" name="quality-n-3">
            <a:extLst xmlns:a="http://schemas.openxmlformats.org/drawingml/2006/main">
              <a:ext uri="{FF2B5EF4-FFF2-40B4-BE49-F238E27FC236}">
                <a16:creationId xmlns:a16="http://schemas.microsoft.com/office/drawing/2014/main" id="{3CBB18E0-FCB6-4F09-9CEA-64F12EE4E48B}"/>
              </a:ext>
            </a:extLst>
          </p:cNvPr>
          <p:cNvSpPr>
            <a:spLocks xmlns:a="http://schemas.openxmlformats.org/drawingml/2006/main" noGrp="1"/>
          </p:cNvSpPr>
          <p:nvPr/>
        </p:nvSpPr>
        <p:spPr>
          <a:xfrm xmlns:a="http://schemas.openxmlformats.org/drawingml/2006/main">
            <a:off x="8839200" y="3714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04</a:t>
            </a:r>
          </a:p>
        </p:txBody>
      </p:sp>
      <p:sp>
        <p:nvSpPr>
          <p:cNvPr id="22" name="quality-h-3">
            <a:extLst xmlns:a="http://schemas.openxmlformats.org/drawingml/2006/main">
              <a:ext uri="{FF2B5EF4-FFF2-40B4-BE49-F238E27FC236}">
                <a16:creationId xmlns:a16="http://schemas.microsoft.com/office/drawing/2014/main" id="{02C3E257-6EA4-41D7-92EC-8D635318FEBE}"/>
              </a:ext>
            </a:extLst>
          </p:cNvPr>
          <p:cNvSpPr>
            <a:spLocks xmlns:a="http://schemas.openxmlformats.org/drawingml/2006/main" noGrp="1"/>
          </p:cNvSpPr>
          <p:nvPr/>
        </p:nvSpPr>
        <p:spPr>
          <a:xfrm xmlns:a="http://schemas.openxmlformats.org/drawingml/2006/main">
            <a:off x="8839200" y="4095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Rejouer</a:t>
            </a:r>
          </a:p>
        </p:txBody>
      </p:sp>
      <p:sp>
        <p:nvSpPr>
          <p:cNvPr id="23" name="quality-b-3">
            <a:extLst xmlns:a="http://schemas.openxmlformats.org/drawingml/2006/main">
              <a:ext uri="{FF2B5EF4-FFF2-40B4-BE49-F238E27FC236}">
                <a16:creationId xmlns:a16="http://schemas.microsoft.com/office/drawing/2014/main" id="{81F79F04-17DA-4D45-8C47-27EAFAC709B8}"/>
              </a:ext>
            </a:extLst>
          </p:cNvPr>
          <p:cNvSpPr>
            <a:spLocks xmlns:a="http://schemas.openxmlformats.org/drawingml/2006/main" noGrp="1"/>
          </p:cNvSpPr>
          <p:nvPr/>
        </p:nvSpPr>
        <p:spPr>
          <a:xfrm xmlns:a="http://schemas.openxmlformats.org/drawingml/2006/main">
            <a:off x="8839200" y="45339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chargement replace : même batch, même résultat</a:t>
            </a:r>
          </a:p>
        </p:txBody>
      </p:sp>
      <p:sp>
        <p:nvSpPr>
          <p:cNvPr id="24" name="quality-foot">
            <a:extLst xmlns:a="http://schemas.openxmlformats.org/drawingml/2006/main">
              <a:ext uri="{FF2B5EF4-FFF2-40B4-BE49-F238E27FC236}">
                <a16:creationId xmlns:a16="http://schemas.microsoft.com/office/drawing/2014/main" id="{30543A48-ED33-4614-8725-137F9D6D993D}"/>
              </a:ext>
            </a:extLst>
          </p:cNvPr>
          <p:cNvSpPr>
            <a:spLocks xmlns:a="http://schemas.openxmlformats.org/drawingml/2006/main" noGrp="1"/>
          </p:cNvSpPr>
          <p:nvPr/>
        </p:nvSpPr>
        <p:spPr>
          <a:xfrm xmlns:a="http://schemas.openxmlformats.org/drawingml/2006/main">
            <a:off x="609600" y="5772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F6F5F"/>
                </a:solidFill>
              </a:defRPr>
            </a:pPr>
            <a:r>
              <a:rPr sz="1425" b="1">
                <a:solidFill>
                  <a:srgbClr val="1F6F5F"/>
                </a:solidFill>
              </a:rPr>
              <a:t>La preuve prioritaire est la base finale — pas le nombre de lignes supprimées.</a:t>
            </a:r>
          </a:p>
        </p:txBody>
      </p:sp>
    </p:spTree>
    <p:extLst>
      <p:ext uri="{BB962C8B-B14F-4D97-AF65-F5344CB8AC3E}">
        <p14:creationId xmlns:p14="http://schemas.microsoft.com/office/powerpoint/2010/main" val="383040432"/>
      </p:ext>
    </p:extLst>
  </p:cSld>
</p:sld>
</file>

<file path=ppt/slides/slide10.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9" name="kicker-10">
            <a:extLst xmlns:a="http://schemas.openxmlformats.org/drawingml/2006/main">
              <a:ext uri="{FF2B5EF4-FFF2-40B4-BE49-F238E27FC236}">
                <a16:creationId xmlns:a16="http://schemas.microsoft.com/office/drawing/2014/main" id="{4169550E-14FF-465E-B89A-D72038B7C3A4}"/>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CONTRAT CANONIQUE</a:t>
            </a:r>
          </a:p>
        </p:txBody>
      </p:sp>
      <p:sp>
        <p:nvSpPr>
          <p:cNvPr id="2" name="title-10">
            <a:extLst xmlns:a="http://schemas.openxmlformats.org/drawingml/2006/main">
              <a:ext uri="{FF2B5EF4-FFF2-40B4-BE49-F238E27FC236}">
                <a16:creationId xmlns:a16="http://schemas.microsoft.com/office/drawing/2014/main" id="{D672F7F9-AEF2-4947-88D7-6AD55A78CD74}"/>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Le contrat de données impose un langage commun</a:t>
            </a:r>
          </a:p>
        </p:txBody>
      </p:sp>
      <p:sp>
        <p:nvSpPr>
          <p:cNvPr id="3" name="rule-10">
            <a:extLst xmlns:a="http://schemas.openxmlformats.org/drawingml/2006/main">
              <a:ext uri="{FF2B5EF4-FFF2-40B4-BE49-F238E27FC236}">
                <a16:creationId xmlns:a16="http://schemas.microsoft.com/office/drawing/2014/main" id="{4BC49350-66CE-4108-9553-18C68372829F}"/>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0">
            <a:extLst xmlns:a="http://schemas.openxmlformats.org/drawingml/2006/main">
              <a:ext uri="{FF2B5EF4-FFF2-40B4-BE49-F238E27FC236}">
                <a16:creationId xmlns:a16="http://schemas.microsoft.com/office/drawing/2014/main" id="{17C9D9B8-DE17-4640-9E9C-A557B4D8CB41}"/>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10</a:t>
            </a:r>
          </a:p>
        </p:txBody>
      </p:sp>
      <p:sp>
        <p:nvSpPr>
          <p:cNvPr id="5" name="ct-0">
            <a:extLst xmlns:a="http://schemas.openxmlformats.org/drawingml/2006/main">
              <a:ext uri="{FF2B5EF4-FFF2-40B4-BE49-F238E27FC236}">
                <a16:creationId xmlns:a16="http://schemas.microsoft.com/office/drawing/2014/main" id="{684A9904-0781-4D39-B05F-4573577B29F0}"/>
              </a:ext>
            </a:extLst>
          </p:cNvPr>
          <p:cNvSpPr>
            <a:spLocks xmlns:a="http://schemas.openxmlformats.org/drawingml/2006/main" noGrp="1"/>
          </p:cNvSpPr>
          <p:nvPr/>
        </p:nvSpPr>
        <p:spPr>
          <a:xfrm xmlns:a="http://schemas.openxmlformats.org/drawingml/2006/main">
            <a:off x="609600" y="1809750"/>
            <a:ext cx="18669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11430">
            <a:solidFill>
              <a:srgbClr val="C8D5D1"/>
            </a:solidFill>
            <a:prstDash val="solid"/>
          </a:ln>
        </p:spPr>
      </p:sp>
      <p:sp>
        <p:nvSpPr>
          <p:cNvPr id="6" name="ct-t-0">
            <a:extLst xmlns:a="http://schemas.openxmlformats.org/drawingml/2006/main">
              <a:ext uri="{FF2B5EF4-FFF2-40B4-BE49-F238E27FC236}">
                <a16:creationId xmlns:a16="http://schemas.microsoft.com/office/drawing/2014/main" id="{D0B685E2-4AA1-4FCE-A31D-D8C9E9B347D8}"/>
              </a:ext>
            </a:extLst>
          </p:cNvPr>
          <p:cNvSpPr>
            <a:spLocks xmlns:a="http://schemas.openxmlformats.org/drawingml/2006/main" noGrp="1"/>
          </p:cNvSpPr>
          <p:nvPr/>
        </p:nvSpPr>
        <p:spPr>
          <a:xfrm xmlns:a="http://schemas.openxmlformats.org/drawingml/2006/main">
            <a:off x="723900" y="20193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SQLite</a:t>
            </a:r>
          </a:p>
        </p:txBody>
      </p:sp>
      <p:sp>
        <p:nvSpPr>
          <p:cNvPr id="7" name="ct-1">
            <a:extLst xmlns:a="http://schemas.openxmlformats.org/drawingml/2006/main">
              <a:ext uri="{FF2B5EF4-FFF2-40B4-BE49-F238E27FC236}">
                <a16:creationId xmlns:a16="http://schemas.microsoft.com/office/drawing/2014/main" id="{22212F07-FD1B-45D1-BE62-B3F451BBDF1D}"/>
              </a:ext>
            </a:extLst>
          </p:cNvPr>
          <p:cNvSpPr>
            <a:spLocks xmlns:a="http://schemas.openxmlformats.org/drawingml/2006/main" noGrp="1"/>
          </p:cNvSpPr>
          <p:nvPr/>
        </p:nvSpPr>
        <p:spPr>
          <a:xfrm xmlns:a="http://schemas.openxmlformats.org/drawingml/2006/main">
            <a:off x="2800350" y="1809750"/>
            <a:ext cx="18669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11430">
            <a:solidFill>
              <a:srgbClr val="C8D5D1"/>
            </a:solidFill>
            <a:prstDash val="solid"/>
          </a:ln>
        </p:spPr>
      </p:sp>
      <p:sp>
        <p:nvSpPr>
          <p:cNvPr id="8" name="ct-t-1">
            <a:extLst xmlns:a="http://schemas.openxmlformats.org/drawingml/2006/main">
              <a:ext uri="{FF2B5EF4-FFF2-40B4-BE49-F238E27FC236}">
                <a16:creationId xmlns:a16="http://schemas.microsoft.com/office/drawing/2014/main" id="{52F8C378-8A53-4C6D-AC81-B56E47200A09}"/>
              </a:ext>
            </a:extLst>
          </p:cNvPr>
          <p:cNvSpPr>
            <a:spLocks xmlns:a="http://schemas.openxmlformats.org/drawingml/2006/main" noGrp="1"/>
          </p:cNvSpPr>
          <p:nvPr/>
        </p:nvSpPr>
        <p:spPr>
          <a:xfrm xmlns:a="http://schemas.openxmlformats.org/drawingml/2006/main">
            <a:off x="2914650" y="20193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MongoDB</a:t>
            </a:r>
          </a:p>
        </p:txBody>
      </p:sp>
      <p:sp>
        <p:nvSpPr>
          <p:cNvPr id="9" name="ct-2">
            <a:extLst xmlns:a="http://schemas.openxmlformats.org/drawingml/2006/main">
              <a:ext uri="{FF2B5EF4-FFF2-40B4-BE49-F238E27FC236}">
                <a16:creationId xmlns:a16="http://schemas.microsoft.com/office/drawing/2014/main" id="{42F9D631-4340-4A63-AD82-4CE425F3DED0}"/>
              </a:ext>
            </a:extLst>
          </p:cNvPr>
          <p:cNvSpPr>
            <a:spLocks xmlns:a="http://schemas.openxmlformats.org/drawingml/2006/main" noGrp="1"/>
          </p:cNvSpPr>
          <p:nvPr/>
        </p:nvSpPr>
        <p:spPr>
          <a:xfrm xmlns:a="http://schemas.openxmlformats.org/drawingml/2006/main">
            <a:off x="4991100" y="1809750"/>
            <a:ext cx="1866900" cy="704850"/>
          </a:xfrm>
          <a:prstGeom xmlns:a="http://schemas.openxmlformats.org/drawingml/2006/main" prst="roundRect">
            <a:avLst>
              <a:gd name="adj" fmla="val 18919"/>
            </a:avLst>
          </a:prstGeom>
          <a:solidFill xmlns:a="http://schemas.openxmlformats.org/drawingml/2006/main">
            <a:srgbClr val="153D3A"/>
          </a:solidFill>
          <a:ln xmlns:a="http://schemas.openxmlformats.org/drawingml/2006/main" w="11430">
            <a:solidFill>
              <a:srgbClr val="153D3A"/>
            </a:solidFill>
            <a:prstDash val="solid"/>
          </a:ln>
        </p:spPr>
      </p:sp>
      <p:sp>
        <p:nvSpPr>
          <p:cNvPr id="10" name="ct-t-2">
            <a:extLst xmlns:a="http://schemas.openxmlformats.org/drawingml/2006/main">
              <a:ext uri="{FF2B5EF4-FFF2-40B4-BE49-F238E27FC236}">
                <a16:creationId xmlns:a16="http://schemas.microsoft.com/office/drawing/2014/main" id="{6202124C-2CA0-4A4E-A0BD-4EB2C8A0038E}"/>
              </a:ext>
            </a:extLst>
          </p:cNvPr>
          <p:cNvSpPr>
            <a:spLocks xmlns:a="http://schemas.openxmlformats.org/drawingml/2006/main" noGrp="1"/>
          </p:cNvSpPr>
          <p:nvPr/>
        </p:nvSpPr>
        <p:spPr>
          <a:xfrm xmlns:a="http://schemas.openxmlformats.org/drawingml/2006/main">
            <a:off x="5105400" y="20193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Streamlit</a:t>
            </a:r>
          </a:p>
        </p:txBody>
      </p:sp>
      <p:sp>
        <p:nvSpPr>
          <p:cNvPr id="11" name="ct-3">
            <a:extLst xmlns:a="http://schemas.openxmlformats.org/drawingml/2006/main">
              <a:ext uri="{FF2B5EF4-FFF2-40B4-BE49-F238E27FC236}">
                <a16:creationId xmlns:a16="http://schemas.microsoft.com/office/drawing/2014/main" id="{2AF828BA-FA92-4BB5-B311-D21E0EC94827}"/>
              </a:ext>
            </a:extLst>
          </p:cNvPr>
          <p:cNvSpPr>
            <a:spLocks xmlns:a="http://schemas.openxmlformats.org/drawingml/2006/main" noGrp="1"/>
          </p:cNvSpPr>
          <p:nvPr/>
        </p:nvSpPr>
        <p:spPr>
          <a:xfrm xmlns:a="http://schemas.openxmlformats.org/drawingml/2006/main">
            <a:off x="7181850" y="1809750"/>
            <a:ext cx="18669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11430">
            <a:solidFill>
              <a:srgbClr val="C8D5D1"/>
            </a:solidFill>
            <a:prstDash val="solid"/>
          </a:ln>
        </p:spPr>
      </p:sp>
      <p:sp>
        <p:nvSpPr>
          <p:cNvPr id="12" name="ct-t-3">
            <a:extLst xmlns:a="http://schemas.openxmlformats.org/drawingml/2006/main">
              <a:ext uri="{FF2B5EF4-FFF2-40B4-BE49-F238E27FC236}">
                <a16:creationId xmlns:a16="http://schemas.microsoft.com/office/drawing/2014/main" id="{6DC9C465-6301-491F-A035-EA8C327204DE}"/>
              </a:ext>
            </a:extLst>
          </p:cNvPr>
          <p:cNvSpPr>
            <a:spLocks xmlns:a="http://schemas.openxmlformats.org/drawingml/2006/main" noGrp="1"/>
          </p:cNvSpPr>
          <p:nvPr/>
        </p:nvSpPr>
        <p:spPr>
          <a:xfrm xmlns:a="http://schemas.openxmlformats.org/drawingml/2006/main">
            <a:off x="7296150" y="20193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Metabase</a:t>
            </a:r>
          </a:p>
        </p:txBody>
      </p:sp>
      <p:sp>
        <p:nvSpPr>
          <p:cNvPr id="13" name="ct-4">
            <a:extLst xmlns:a="http://schemas.openxmlformats.org/drawingml/2006/main">
              <a:ext uri="{FF2B5EF4-FFF2-40B4-BE49-F238E27FC236}">
                <a16:creationId xmlns:a16="http://schemas.microsoft.com/office/drawing/2014/main" id="{FB1E0DB7-D803-40E6-A846-F19C1E62B0FF}"/>
              </a:ext>
            </a:extLst>
          </p:cNvPr>
          <p:cNvSpPr>
            <a:spLocks xmlns:a="http://schemas.openxmlformats.org/drawingml/2006/main" noGrp="1"/>
          </p:cNvSpPr>
          <p:nvPr/>
        </p:nvSpPr>
        <p:spPr>
          <a:xfrm xmlns:a="http://schemas.openxmlformats.org/drawingml/2006/main">
            <a:off x="9372600" y="1809750"/>
            <a:ext cx="18669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11430">
            <a:solidFill>
              <a:srgbClr val="C8D5D1"/>
            </a:solidFill>
            <a:prstDash val="solid"/>
          </a:ln>
        </p:spPr>
      </p:sp>
      <p:sp>
        <p:nvSpPr>
          <p:cNvPr id="14" name="ct-t-4">
            <a:extLst xmlns:a="http://schemas.openxmlformats.org/drawingml/2006/main">
              <a:ext uri="{FF2B5EF4-FFF2-40B4-BE49-F238E27FC236}">
                <a16:creationId xmlns:a16="http://schemas.microsoft.com/office/drawing/2014/main" id="{C38FC0FA-3375-43CB-A47E-7EEDAB159703}"/>
              </a:ext>
            </a:extLst>
          </p:cNvPr>
          <p:cNvSpPr>
            <a:spLocks xmlns:a="http://schemas.openxmlformats.org/drawingml/2006/main" noGrp="1"/>
          </p:cNvSpPr>
          <p:nvPr/>
        </p:nvSpPr>
        <p:spPr>
          <a:xfrm xmlns:a="http://schemas.openxmlformats.org/drawingml/2006/main">
            <a:off x="9486900" y="20193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2A2A"/>
                </a:solidFill>
              </a:defRPr>
            </a:pPr>
            <a:r>
              <a:rPr sz="1500" b="1">
                <a:solidFill>
                  <a:srgbClr val="102A2A"/>
                </a:solidFill>
              </a:rPr>
              <a:t>Tests</a:t>
            </a:r>
          </a:p>
        </p:txBody>
      </p:sp>
      <p:sp>
        <p:nvSpPr>
          <p:cNvPr id="15" name="ct-core">
            <a:extLst xmlns:a="http://schemas.openxmlformats.org/drawingml/2006/main">
              <a:ext uri="{FF2B5EF4-FFF2-40B4-BE49-F238E27FC236}">
                <a16:creationId xmlns:a16="http://schemas.microsoft.com/office/drawing/2014/main" id="{515CE4FA-FCB0-43FF-8447-3CAAA919EE26}"/>
              </a:ext>
            </a:extLst>
          </p:cNvPr>
          <p:cNvSpPr>
            <a:spLocks xmlns:a="http://schemas.openxmlformats.org/drawingml/2006/main" noGrp="1"/>
          </p:cNvSpPr>
          <p:nvPr/>
        </p:nvSpPr>
        <p:spPr>
          <a:xfrm xmlns:a="http://schemas.openxmlformats.org/drawingml/2006/main">
            <a:off x="2343150" y="3143250"/>
            <a:ext cx="7505700" cy="1524000"/>
          </a:xfrm>
          <a:prstGeom xmlns:a="http://schemas.openxmlformats.org/drawingml/2006/main" prst="roundRect">
            <a:avLst>
              <a:gd name="adj" fmla="val 12500"/>
            </a:avLst>
          </a:prstGeom>
          <a:solidFill xmlns:a="http://schemas.openxmlformats.org/drawingml/2006/main">
            <a:srgbClr val="DCEDE7"/>
          </a:solidFill>
          <a:ln xmlns:a="http://schemas.openxmlformats.org/drawingml/2006/main" w="11430">
            <a:solidFill>
              <a:srgbClr val="DCEDE7"/>
            </a:solidFill>
            <a:prstDash val="solid"/>
          </a:ln>
        </p:spPr>
      </p:sp>
      <p:sp>
        <p:nvSpPr>
          <p:cNvPr id="16" name="ct-core-h">
            <a:extLst xmlns:a="http://schemas.openxmlformats.org/drawingml/2006/main">
              <a:ext uri="{FF2B5EF4-FFF2-40B4-BE49-F238E27FC236}">
                <a16:creationId xmlns:a16="http://schemas.microsoft.com/office/drawing/2014/main" id="{88C26EF9-4DD8-4F1D-8F73-744FF176F267}"/>
              </a:ext>
            </a:extLst>
          </p:cNvPr>
          <p:cNvSpPr>
            <a:spLocks xmlns:a="http://schemas.openxmlformats.org/drawingml/2006/main" noGrp="1"/>
          </p:cNvSpPr>
          <p:nvPr/>
        </p:nvSpPr>
        <p:spPr>
          <a:xfrm xmlns:a="http://schemas.openxmlformats.org/drawingml/2006/main">
            <a:off x="2724150" y="3429000"/>
            <a:ext cx="674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53D3A"/>
                </a:solidFill>
              </a:defRPr>
            </a:pPr>
            <a:r>
              <a:rPr sz="1950" b="1">
                <a:solidFill>
                  <a:srgbClr val="153D3A"/>
                </a:solidFill>
              </a:rPr>
              <a:t>Noms physiques canoniques en français</a:t>
            </a:r>
          </a:p>
        </p:txBody>
      </p:sp>
      <p:sp>
        <p:nvSpPr>
          <p:cNvPr id="17" name="ct-core-b">
            <a:extLst xmlns:a="http://schemas.openxmlformats.org/drawingml/2006/main">
              <a:ext uri="{FF2B5EF4-FFF2-40B4-BE49-F238E27FC236}">
                <a16:creationId xmlns:a16="http://schemas.microsoft.com/office/drawing/2014/main" id="{C4790820-B265-4F03-B45A-078AB63CE5E5}"/>
              </a:ext>
            </a:extLst>
          </p:cNvPr>
          <p:cNvSpPr>
            <a:spLocks xmlns:a="http://schemas.openxmlformats.org/drawingml/2006/main" noGrp="1"/>
          </p:cNvSpPr>
          <p:nvPr/>
        </p:nvSpPr>
        <p:spPr>
          <a:xfrm xmlns:a="http://schemas.openxmlformats.org/drawingml/2006/main">
            <a:off x="2724150" y="4000500"/>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a:solidFill>
                  <a:srgbClr val="153D3A"/>
                </a:solidFill>
              </a:defRPr>
            </a:pPr>
            <a:r>
              <a:rPr sz="1425" b="0">
                <a:solidFill>
                  <a:srgbClr val="153D3A"/>
                </a:solidFill>
              </a:rPr>
              <a:t>transactions · population · revenus · chomage · pauvrete</a:t>
            </a:r>
          </a:p>
          <a:p xmlns:a="http://schemas.openxmlformats.org/drawingml/2006/main">
            <a:pPr algn="ctr">
              <a:defRPr sz="1425" b="0">
                <a:solidFill>
                  <a:srgbClr val="153D3A"/>
                </a:solidFill>
              </a:defRPr>
            </a:pPr>
            <a:r>
              <a:rPr sz="1425" b="0">
                <a:solidFill>
                  <a:srgbClr val="153D3A"/>
                </a:solidFill>
              </a:rPr>
              <a:t>analyse_departementale · analyse_regionale</a:t>
            </a:r>
          </a:p>
        </p:txBody>
      </p:sp>
      <p:sp>
        <p:nvSpPr>
          <p:cNvPr id="18" name="ct-foot">
            <a:extLst xmlns:a="http://schemas.openxmlformats.org/drawingml/2006/main">
              <a:ext uri="{FF2B5EF4-FFF2-40B4-BE49-F238E27FC236}">
                <a16:creationId xmlns:a16="http://schemas.microsoft.com/office/drawing/2014/main" id="{F321F383-6A33-4E96-B40D-83C50361DD9A}"/>
              </a:ext>
            </a:extLst>
          </p:cNvPr>
          <p:cNvSpPr>
            <a:spLocks xmlns:a="http://schemas.openxmlformats.org/drawingml/2006/main" noGrp="1"/>
          </p:cNvSpPr>
          <p:nvPr/>
        </p:nvSpPr>
        <p:spPr>
          <a:xfrm xmlns:a="http://schemas.openxmlformats.org/drawingml/2006/main">
            <a:off x="1333500" y="5429250"/>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D66B4D"/>
                </a:solidFill>
              </a:defRPr>
            </a:pPr>
            <a:r>
              <a:rPr sz="1425" b="1">
                <a:solidFill>
                  <a:srgbClr val="D66B4D"/>
                </a:solidFill>
              </a:rPr>
              <a:t>Le document réduit la dérive ; migrations et tests restent nécessaires pour l’imposer.</a:t>
            </a:r>
          </a:p>
        </p:txBody>
      </p:sp>
    </p:spTree>
    <p:extLst>
      <p:ext uri="{BB962C8B-B14F-4D97-AF65-F5344CB8AC3E}">
        <p14:creationId xmlns:p14="http://schemas.microsoft.com/office/powerpoint/2010/main" val="1641200904"/>
      </p:ext>
    </p:extLst>
  </p:cSld>
</p:sld>
</file>

<file path=ppt/slides/slide11.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2" name="kicker-11">
            <a:extLst xmlns:a="http://schemas.openxmlformats.org/drawingml/2006/main">
              <a:ext uri="{FF2B5EF4-FFF2-40B4-BE49-F238E27FC236}">
                <a16:creationId xmlns:a16="http://schemas.microsoft.com/office/drawing/2014/main" id="{68C82CCA-9903-4D43-95D4-D20398D85D84}"/>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CALCUL DISTRIBUÉ</a:t>
            </a:r>
          </a:p>
        </p:txBody>
      </p:sp>
      <p:sp>
        <p:nvSpPr>
          <p:cNvPr id="2" name="title-11">
            <a:extLst xmlns:a="http://schemas.openxmlformats.org/drawingml/2006/main">
              <a:ext uri="{FF2B5EF4-FFF2-40B4-BE49-F238E27FC236}">
                <a16:creationId xmlns:a16="http://schemas.microsoft.com/office/drawing/2014/main" id="{7016E827-8D60-4044-90AF-D5C2C272480A}"/>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Spark réduit 1,88 million de faits à 94 agrégats</a:t>
            </a:r>
          </a:p>
        </p:txBody>
      </p:sp>
      <p:sp>
        <p:nvSpPr>
          <p:cNvPr id="3" name="rule-11">
            <a:extLst xmlns:a="http://schemas.openxmlformats.org/drawingml/2006/main">
              <a:ext uri="{FF2B5EF4-FFF2-40B4-BE49-F238E27FC236}">
                <a16:creationId xmlns:a16="http://schemas.microsoft.com/office/drawing/2014/main" id="{F47C1862-FD6E-4849-B2A6-1AFA0FD6962A}"/>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1">
            <a:extLst xmlns:a="http://schemas.openxmlformats.org/drawingml/2006/main">
              <a:ext uri="{FF2B5EF4-FFF2-40B4-BE49-F238E27FC236}">
                <a16:creationId xmlns:a16="http://schemas.microsoft.com/office/drawing/2014/main" id="{84A350DB-33D4-4B32-A087-468B61A136CA}"/>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11</a:t>
            </a:r>
          </a:p>
        </p:txBody>
      </p:sp>
      <p:sp>
        <p:nvSpPr>
          <p:cNvPr id="5" name="spark-arrow-a">
            <a:extLst xmlns:a="http://schemas.openxmlformats.org/drawingml/2006/main">
              <a:ext uri="{FF2B5EF4-FFF2-40B4-BE49-F238E27FC236}">
                <a16:creationId xmlns:a16="http://schemas.microsoft.com/office/drawing/2014/main" id="{96E0131C-D5F3-4D5E-A6F9-82C279E8357C}"/>
              </a:ext>
            </a:extLst>
          </p:cNvPr>
          <p:cNvSpPr>
            <a:spLocks xmlns:a="http://schemas.openxmlformats.org/drawingml/2006/main" noGrp="1"/>
          </p:cNvSpPr>
          <p:nvPr/>
        </p:nvSpPr>
        <p:spPr>
          <a:xfrm xmlns:a="http://schemas.openxmlformats.org/drawingml/2006/main">
            <a:off x="2905125" y="3028950"/>
            <a:ext cx="1724025"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6" name="spark-arrow-b">
            <a:extLst xmlns:a="http://schemas.openxmlformats.org/drawingml/2006/main">
              <a:ext uri="{FF2B5EF4-FFF2-40B4-BE49-F238E27FC236}">
                <a16:creationId xmlns:a16="http://schemas.microsoft.com/office/drawing/2014/main" id="{93034BE4-F433-4259-B404-8D0A940AA4B2}"/>
              </a:ext>
            </a:extLst>
          </p:cNvPr>
          <p:cNvSpPr>
            <a:spLocks xmlns:a="http://schemas.openxmlformats.org/drawingml/2006/main" noGrp="1"/>
          </p:cNvSpPr>
          <p:nvPr/>
        </p:nvSpPr>
        <p:spPr>
          <a:xfrm xmlns:a="http://schemas.openxmlformats.org/drawingml/2006/main">
            <a:off x="7277100" y="3028950"/>
            <a:ext cx="175260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7" name="spark-input">
            <a:extLst xmlns:a="http://schemas.openxmlformats.org/drawingml/2006/main">
              <a:ext uri="{FF2B5EF4-FFF2-40B4-BE49-F238E27FC236}">
                <a16:creationId xmlns:a16="http://schemas.microsoft.com/office/drawing/2014/main" id="{C804B9F2-58BC-4A66-BE2A-D4D18EF64CBC}"/>
              </a:ext>
            </a:extLst>
          </p:cNvPr>
          <p:cNvSpPr>
            <a:spLocks xmlns:a="http://schemas.openxmlformats.org/drawingml/2006/main" noGrp="1"/>
          </p:cNvSpPr>
          <p:nvPr/>
        </p:nvSpPr>
        <p:spPr>
          <a:xfrm xmlns:a="http://schemas.openxmlformats.org/drawingml/2006/main">
            <a:off x="666750" y="2152650"/>
            <a:ext cx="2238375" cy="17526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C8D5D1"/>
            </a:solidFill>
            <a:prstDash val="solid"/>
          </a:ln>
        </p:spPr>
      </p:sp>
      <p:sp>
        <p:nvSpPr>
          <p:cNvPr id="8" name="spark-input-v">
            <a:extLst xmlns:a="http://schemas.openxmlformats.org/drawingml/2006/main">
              <a:ext uri="{FF2B5EF4-FFF2-40B4-BE49-F238E27FC236}">
                <a16:creationId xmlns:a16="http://schemas.microsoft.com/office/drawing/2014/main" id="{3C038C7B-4311-4408-8B36-6A549D883DCE}"/>
              </a:ext>
            </a:extLst>
          </p:cNvPr>
          <p:cNvSpPr>
            <a:spLocks xmlns:a="http://schemas.openxmlformats.org/drawingml/2006/main" noGrp="1"/>
          </p:cNvSpPr>
          <p:nvPr/>
        </p:nvSpPr>
        <p:spPr>
          <a:xfrm xmlns:a="http://schemas.openxmlformats.org/drawingml/2006/main">
            <a:off x="914400" y="2476500"/>
            <a:ext cx="1771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a:solidFill>
                  <a:srgbClr val="102A2A"/>
                </a:solidFill>
              </a:defRPr>
            </a:pPr>
            <a:r>
              <a:rPr sz="2325" b="1">
                <a:solidFill>
                  <a:srgbClr val="102A2A"/>
                </a:solidFill>
              </a:rPr>
              <a:t>1 884 593</a:t>
            </a:r>
          </a:p>
        </p:txBody>
      </p:sp>
      <p:sp>
        <p:nvSpPr>
          <p:cNvPr id="9" name="spark-input-l">
            <a:extLst xmlns:a="http://schemas.openxmlformats.org/drawingml/2006/main">
              <a:ext uri="{FF2B5EF4-FFF2-40B4-BE49-F238E27FC236}">
                <a16:creationId xmlns:a16="http://schemas.microsoft.com/office/drawing/2014/main" id="{B46C3C71-DD19-48B2-BBB9-4A228467A9BE}"/>
              </a:ext>
            </a:extLst>
          </p:cNvPr>
          <p:cNvSpPr>
            <a:spLocks xmlns:a="http://schemas.openxmlformats.org/drawingml/2006/main" noGrp="1"/>
          </p:cNvSpPr>
          <p:nvPr/>
        </p:nvSpPr>
        <p:spPr>
          <a:xfrm xmlns:a="http://schemas.openxmlformats.org/drawingml/2006/main">
            <a:off x="914400" y="3105150"/>
            <a:ext cx="1771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2706D"/>
                </a:solidFill>
              </a:defRPr>
            </a:pPr>
            <a:r>
              <a:rPr sz="1350" b="0">
                <a:solidFill>
                  <a:srgbClr val="62706D"/>
                </a:solidFill>
              </a:rPr>
              <a:t>transactions DVF</a:t>
            </a:r>
          </a:p>
        </p:txBody>
      </p:sp>
      <p:sp>
        <p:nvSpPr>
          <p:cNvPr id="10" name="spark-cluster">
            <a:extLst xmlns:a="http://schemas.openxmlformats.org/drawingml/2006/main">
              <a:ext uri="{FF2B5EF4-FFF2-40B4-BE49-F238E27FC236}">
                <a16:creationId xmlns:a16="http://schemas.microsoft.com/office/drawing/2014/main" id="{DCA3AC86-D666-419A-88B0-FAD962D64454}"/>
              </a:ext>
            </a:extLst>
          </p:cNvPr>
          <p:cNvSpPr>
            <a:spLocks xmlns:a="http://schemas.openxmlformats.org/drawingml/2006/main" noGrp="1"/>
          </p:cNvSpPr>
          <p:nvPr/>
        </p:nvSpPr>
        <p:spPr>
          <a:xfrm xmlns:a="http://schemas.openxmlformats.org/drawingml/2006/main">
            <a:off x="4629150" y="1752600"/>
            <a:ext cx="2647950" cy="2552700"/>
          </a:xfrm>
          <a:prstGeom xmlns:a="http://schemas.openxmlformats.org/drawingml/2006/main" prst="roundRect">
            <a:avLst>
              <a:gd name="adj" fmla="val 8209"/>
            </a:avLst>
          </a:prstGeom>
          <a:solidFill xmlns:a="http://schemas.openxmlformats.org/drawingml/2006/main">
            <a:srgbClr val="153D3A"/>
          </a:solidFill>
          <a:ln xmlns:a="http://schemas.openxmlformats.org/drawingml/2006/main" w="11430">
            <a:solidFill>
              <a:srgbClr val="153D3A"/>
            </a:solidFill>
            <a:prstDash val="solid"/>
          </a:ln>
        </p:spPr>
      </p:sp>
      <p:sp>
        <p:nvSpPr>
          <p:cNvPr id="11" name="spark-master">
            <a:extLst xmlns:a="http://schemas.openxmlformats.org/drawingml/2006/main">
              <a:ext uri="{FF2B5EF4-FFF2-40B4-BE49-F238E27FC236}">
                <a16:creationId xmlns:a16="http://schemas.microsoft.com/office/drawing/2014/main" id="{EBB01B54-F775-4A7D-AC15-355653559DCE}"/>
              </a:ext>
            </a:extLst>
          </p:cNvPr>
          <p:cNvSpPr>
            <a:spLocks xmlns:a="http://schemas.openxmlformats.org/drawingml/2006/main" noGrp="1"/>
          </p:cNvSpPr>
          <p:nvPr/>
        </p:nvSpPr>
        <p:spPr>
          <a:xfrm xmlns:a="http://schemas.openxmlformats.org/drawingml/2006/main">
            <a:off x="5086350" y="2038350"/>
            <a:ext cx="1733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FFFFF"/>
                </a:solidFill>
              </a:defRPr>
            </a:pPr>
            <a:r>
              <a:rPr sz="1575" b="1">
                <a:solidFill>
                  <a:srgbClr val="FFFFFF"/>
                </a:solidFill>
              </a:rPr>
              <a:t>MASTER</a:t>
            </a:r>
          </a:p>
        </p:txBody>
      </p:sp>
      <p:sp>
        <p:nvSpPr>
          <p:cNvPr id="12" name="worker1">
            <a:extLst xmlns:a="http://schemas.openxmlformats.org/drawingml/2006/main">
              <a:ext uri="{FF2B5EF4-FFF2-40B4-BE49-F238E27FC236}">
                <a16:creationId xmlns:a16="http://schemas.microsoft.com/office/drawing/2014/main" id="{8EE9A8A5-A64C-4BA1-B368-64E08EA9A243}"/>
              </a:ext>
            </a:extLst>
          </p:cNvPr>
          <p:cNvSpPr>
            <a:spLocks xmlns:a="http://schemas.openxmlformats.org/drawingml/2006/main" noGrp="1"/>
          </p:cNvSpPr>
          <p:nvPr/>
        </p:nvSpPr>
        <p:spPr>
          <a:xfrm xmlns:a="http://schemas.openxmlformats.org/drawingml/2006/main">
            <a:off x="4914900" y="2705100"/>
            <a:ext cx="952500" cy="838200"/>
          </a:xfrm>
          <a:prstGeom xmlns:a="http://schemas.openxmlformats.org/drawingml/2006/main" prst="roundRect">
            <a:avLst>
              <a:gd name="adj" fmla="val 13636"/>
            </a:avLst>
          </a:prstGeom>
          <a:solidFill xmlns:a="http://schemas.openxmlformats.org/drawingml/2006/main">
            <a:srgbClr val="DCEDE7"/>
          </a:solidFill>
          <a:ln xmlns:a="http://schemas.openxmlformats.org/drawingml/2006/main" w="11430">
            <a:solidFill>
              <a:srgbClr val="DCEDE7"/>
            </a:solidFill>
            <a:prstDash val="solid"/>
          </a:ln>
        </p:spPr>
      </p:sp>
      <p:sp>
        <p:nvSpPr>
          <p:cNvPr id="13" name="worker2">
            <a:extLst xmlns:a="http://schemas.openxmlformats.org/drawingml/2006/main">
              <a:ext uri="{FF2B5EF4-FFF2-40B4-BE49-F238E27FC236}">
                <a16:creationId xmlns:a16="http://schemas.microsoft.com/office/drawing/2014/main" id="{28277436-1604-49E2-BF55-06DD8E2C5EAB}"/>
              </a:ext>
            </a:extLst>
          </p:cNvPr>
          <p:cNvSpPr>
            <a:spLocks xmlns:a="http://schemas.openxmlformats.org/drawingml/2006/main" noGrp="1"/>
          </p:cNvSpPr>
          <p:nvPr/>
        </p:nvSpPr>
        <p:spPr>
          <a:xfrm xmlns:a="http://schemas.openxmlformats.org/drawingml/2006/main">
            <a:off x="6038850" y="2705100"/>
            <a:ext cx="952500" cy="838200"/>
          </a:xfrm>
          <a:prstGeom xmlns:a="http://schemas.openxmlformats.org/drawingml/2006/main" prst="roundRect">
            <a:avLst>
              <a:gd name="adj" fmla="val 13636"/>
            </a:avLst>
          </a:prstGeom>
          <a:solidFill xmlns:a="http://schemas.openxmlformats.org/drawingml/2006/main">
            <a:srgbClr val="DCEDE7"/>
          </a:solidFill>
          <a:ln xmlns:a="http://schemas.openxmlformats.org/drawingml/2006/main" w="11430">
            <a:solidFill>
              <a:srgbClr val="DCEDE7"/>
            </a:solidFill>
            <a:prstDash val="solid"/>
          </a:ln>
        </p:spPr>
      </p:sp>
      <p:sp>
        <p:nvSpPr>
          <p:cNvPr id="14" name="worker1t">
            <a:extLst xmlns:a="http://schemas.openxmlformats.org/drawingml/2006/main">
              <a:ext uri="{FF2B5EF4-FFF2-40B4-BE49-F238E27FC236}">
                <a16:creationId xmlns:a16="http://schemas.microsoft.com/office/drawing/2014/main" id="{5C9DCCD9-879E-4317-8191-7A3A9D426E6B}"/>
              </a:ext>
            </a:extLst>
          </p:cNvPr>
          <p:cNvSpPr>
            <a:spLocks xmlns:a="http://schemas.openxmlformats.org/drawingml/2006/main" noGrp="1"/>
          </p:cNvSpPr>
          <p:nvPr/>
        </p:nvSpPr>
        <p:spPr>
          <a:xfrm xmlns:a="http://schemas.openxmlformats.org/drawingml/2006/main">
            <a:off x="4972050" y="2876550"/>
            <a:ext cx="838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53D3A"/>
                </a:solidFill>
              </a:defRPr>
            </a:pPr>
            <a:r>
              <a:rPr sz="975" b="1">
                <a:solidFill>
                  <a:srgbClr val="153D3A"/>
                </a:solidFill>
              </a:rPr>
              <a:t>WORKER 1</a:t>
            </a:r>
          </a:p>
          <a:p xmlns:a="http://schemas.openxmlformats.org/drawingml/2006/main">
            <a:pPr algn="ctr">
              <a:defRPr sz="975" b="1">
                <a:solidFill>
                  <a:srgbClr val="153D3A"/>
                </a:solidFill>
              </a:defRPr>
            </a:pPr>
            <a:r>
              <a:rPr sz="975" b="1">
                <a:solidFill>
                  <a:srgbClr val="153D3A"/>
                </a:solidFill>
              </a:rPr>
              <a:t>1 cœur · 1 Gio</a:t>
            </a:r>
          </a:p>
        </p:txBody>
      </p:sp>
      <p:sp>
        <p:nvSpPr>
          <p:cNvPr id="15" name="worker2t">
            <a:extLst xmlns:a="http://schemas.openxmlformats.org/drawingml/2006/main">
              <a:ext uri="{FF2B5EF4-FFF2-40B4-BE49-F238E27FC236}">
                <a16:creationId xmlns:a16="http://schemas.microsoft.com/office/drawing/2014/main" id="{4369DB48-700C-44BD-8542-FA00F1FC677F}"/>
              </a:ext>
            </a:extLst>
          </p:cNvPr>
          <p:cNvSpPr>
            <a:spLocks xmlns:a="http://schemas.openxmlformats.org/drawingml/2006/main" noGrp="1"/>
          </p:cNvSpPr>
          <p:nvPr/>
        </p:nvSpPr>
        <p:spPr>
          <a:xfrm xmlns:a="http://schemas.openxmlformats.org/drawingml/2006/main">
            <a:off x="6096000" y="2876550"/>
            <a:ext cx="838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53D3A"/>
                </a:solidFill>
              </a:defRPr>
            </a:pPr>
            <a:r>
              <a:rPr sz="975" b="1">
                <a:solidFill>
                  <a:srgbClr val="153D3A"/>
                </a:solidFill>
              </a:rPr>
              <a:t>WORKER 2</a:t>
            </a:r>
          </a:p>
          <a:p xmlns:a="http://schemas.openxmlformats.org/drawingml/2006/main">
            <a:pPr algn="ctr">
              <a:defRPr sz="975" b="1">
                <a:solidFill>
                  <a:srgbClr val="153D3A"/>
                </a:solidFill>
              </a:defRPr>
            </a:pPr>
            <a:r>
              <a:rPr sz="975" b="1">
                <a:solidFill>
                  <a:srgbClr val="153D3A"/>
                </a:solidFill>
              </a:rPr>
              <a:t>1 cœur · 1 Gio</a:t>
            </a:r>
          </a:p>
        </p:txBody>
      </p:sp>
      <p:sp>
        <p:nvSpPr>
          <p:cNvPr id="16" name="mono">
            <a:extLst xmlns:a="http://schemas.openxmlformats.org/drawingml/2006/main">
              <a:ext uri="{FF2B5EF4-FFF2-40B4-BE49-F238E27FC236}">
                <a16:creationId xmlns:a16="http://schemas.microsoft.com/office/drawing/2014/main" id="{59E042FC-714D-42B5-A392-9942976868F6}"/>
              </a:ext>
            </a:extLst>
          </p:cNvPr>
          <p:cNvSpPr>
            <a:spLocks xmlns:a="http://schemas.openxmlformats.org/drawingml/2006/main" noGrp="1"/>
          </p:cNvSpPr>
          <p:nvPr/>
        </p:nvSpPr>
        <p:spPr>
          <a:xfrm xmlns:a="http://schemas.openxmlformats.org/drawingml/2006/main">
            <a:off x="4781550" y="381000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E8D9BF"/>
                </a:solidFill>
              </a:defRPr>
            </a:pPr>
            <a:r>
              <a:rPr sz="1200" b="1">
                <a:solidFill>
                  <a:srgbClr val="E8D9BF"/>
                </a:solidFill>
              </a:rPr>
              <a:t>3 conteneurs · 1 machine physique</a:t>
            </a:r>
          </a:p>
        </p:txBody>
      </p:sp>
      <p:sp>
        <p:nvSpPr>
          <p:cNvPr id="17" name="spark-out">
            <a:extLst xmlns:a="http://schemas.openxmlformats.org/drawingml/2006/main">
              <a:ext uri="{FF2B5EF4-FFF2-40B4-BE49-F238E27FC236}">
                <a16:creationId xmlns:a16="http://schemas.microsoft.com/office/drawing/2014/main" id="{8D2DBFB6-12AD-42DF-861B-A8C93238B889}"/>
              </a:ext>
            </a:extLst>
          </p:cNvPr>
          <p:cNvSpPr>
            <a:spLocks xmlns:a="http://schemas.openxmlformats.org/drawingml/2006/main" noGrp="1"/>
          </p:cNvSpPr>
          <p:nvPr/>
        </p:nvSpPr>
        <p:spPr>
          <a:xfrm xmlns:a="http://schemas.openxmlformats.org/drawingml/2006/main">
            <a:off x="9029700" y="2152650"/>
            <a:ext cx="2476500" cy="17526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C8D5D1"/>
            </a:solidFill>
            <a:prstDash val="solid"/>
          </a:ln>
        </p:spPr>
      </p:sp>
      <p:sp>
        <p:nvSpPr>
          <p:cNvPr id="18" name="spark-out-v">
            <a:extLst xmlns:a="http://schemas.openxmlformats.org/drawingml/2006/main">
              <a:ext uri="{FF2B5EF4-FFF2-40B4-BE49-F238E27FC236}">
                <a16:creationId xmlns:a16="http://schemas.microsoft.com/office/drawing/2014/main" id="{75548E61-E78C-4409-A737-E20C5CBC2353}"/>
              </a:ext>
            </a:extLst>
          </p:cNvPr>
          <p:cNvSpPr>
            <a:spLocks xmlns:a="http://schemas.openxmlformats.org/drawingml/2006/main" noGrp="1"/>
          </p:cNvSpPr>
          <p:nvPr/>
        </p:nvSpPr>
        <p:spPr>
          <a:xfrm xmlns:a="http://schemas.openxmlformats.org/drawingml/2006/main">
            <a:off x="9334500" y="2476500"/>
            <a:ext cx="186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D66B4D"/>
                </a:solidFill>
              </a:defRPr>
            </a:pPr>
            <a:r>
              <a:rPr sz="2550" b="1">
                <a:solidFill>
                  <a:srgbClr val="D66B4D"/>
                </a:solidFill>
              </a:rPr>
              <a:t>94</a:t>
            </a:r>
          </a:p>
        </p:txBody>
      </p:sp>
      <p:sp>
        <p:nvSpPr>
          <p:cNvPr id="19" name="spark-out-l">
            <a:extLst xmlns:a="http://schemas.openxmlformats.org/drawingml/2006/main">
              <a:ext uri="{FF2B5EF4-FFF2-40B4-BE49-F238E27FC236}">
                <a16:creationId xmlns:a16="http://schemas.microsoft.com/office/drawing/2014/main" id="{03F64EF6-DEA7-45D6-82B8-5312BF5F9E5C}"/>
              </a:ext>
            </a:extLst>
          </p:cNvPr>
          <p:cNvSpPr>
            <a:spLocks xmlns:a="http://schemas.openxmlformats.org/drawingml/2006/main" noGrp="1"/>
          </p:cNvSpPr>
          <p:nvPr/>
        </p:nvSpPr>
        <p:spPr>
          <a:xfrm xmlns:a="http://schemas.openxmlformats.org/drawingml/2006/main">
            <a:off x="9334500" y="3105150"/>
            <a:ext cx="186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2706D"/>
                </a:solidFill>
              </a:defRPr>
            </a:pPr>
            <a:r>
              <a:rPr sz="1350" b="0">
                <a:solidFill>
                  <a:srgbClr val="62706D"/>
                </a:solidFill>
              </a:rPr>
              <a:t>agrégats départementaux</a:t>
            </a:r>
          </a:p>
        </p:txBody>
      </p:sp>
      <p:sp>
        <p:nvSpPr>
          <p:cNvPr id="20" name="spark-chain">
            <a:extLst xmlns:a="http://schemas.openxmlformats.org/drawingml/2006/main">
              <a:ext uri="{FF2B5EF4-FFF2-40B4-BE49-F238E27FC236}">
                <a16:creationId xmlns:a16="http://schemas.microsoft.com/office/drawing/2014/main" id="{A5FF048A-1B82-45D1-8B3E-3E8B76DDAEFB}"/>
              </a:ext>
            </a:extLst>
          </p:cNvPr>
          <p:cNvSpPr>
            <a:spLocks xmlns:a="http://schemas.openxmlformats.org/drawingml/2006/main" noGrp="1"/>
          </p:cNvSpPr>
          <p:nvPr/>
        </p:nvSpPr>
        <p:spPr>
          <a:xfrm xmlns:a="http://schemas.openxmlformats.org/drawingml/2006/main">
            <a:off x="1952625" y="4857750"/>
            <a:ext cx="828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02A2A"/>
                </a:solidFill>
              </a:defRPr>
            </a:pPr>
            <a:r>
              <a:rPr sz="1650" b="1">
                <a:solidFill>
                  <a:srgbClr val="102A2A"/>
                </a:solidFill>
              </a:rPr>
              <a:t>cast → filtre → prix/m² → groupBy(dept) → toPandas()</a:t>
            </a:r>
          </a:p>
        </p:txBody>
      </p:sp>
      <p:sp>
        <p:nvSpPr>
          <p:cNvPr id="21" name="spark-foot">
            <a:extLst xmlns:a="http://schemas.openxmlformats.org/drawingml/2006/main">
              <a:ext uri="{FF2B5EF4-FFF2-40B4-BE49-F238E27FC236}">
                <a16:creationId xmlns:a16="http://schemas.microsoft.com/office/drawing/2014/main" id="{4196453F-DFBD-459D-9459-1E4D1527730F}"/>
              </a:ext>
            </a:extLst>
          </p:cNvPr>
          <p:cNvSpPr>
            <a:spLocks xmlns:a="http://schemas.openxmlformats.org/drawingml/2006/main" noGrp="1"/>
          </p:cNvSpPr>
          <p:nvPr/>
        </p:nvSpPr>
        <p:spPr>
          <a:xfrm xmlns:a="http://schemas.openxmlformats.org/drawingml/2006/main">
            <a:off x="1809750" y="542925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F6F5F"/>
                </a:solidFill>
              </a:defRPr>
            </a:pPr>
            <a:r>
              <a:rPr sz="1350" b="0">
                <a:solidFill>
                  <a:srgbClr val="1F6F5F"/>
                </a:solidFill>
              </a:rPr>
              <a:t>toPandas() est sûr ici parce que seule la petite sortie agrégée revient au driver.</a:t>
            </a:r>
          </a:p>
        </p:txBody>
      </p:sp>
    </p:spTree>
    <p:extLst>
      <p:ext uri="{BB962C8B-B14F-4D97-AF65-F5344CB8AC3E}">
        <p14:creationId xmlns:p14="http://schemas.microsoft.com/office/powerpoint/2010/main" val="1863852591"/>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7" name="kicker-12">
            <a:extLst xmlns:a="http://schemas.openxmlformats.org/drawingml/2006/main">
              <a:ext uri="{FF2B5EF4-FFF2-40B4-BE49-F238E27FC236}">
                <a16:creationId xmlns:a16="http://schemas.microsoft.com/office/drawing/2014/main" id="{8B91FDE6-8CBC-42D5-9848-A930D1A8C2D2}"/>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FONCTIONNEMENT SPARK</a:t>
            </a:r>
          </a:p>
        </p:txBody>
      </p:sp>
      <p:sp>
        <p:nvSpPr>
          <p:cNvPr id="2" name="title-12">
            <a:extLst xmlns:a="http://schemas.openxmlformats.org/drawingml/2006/main">
              <a:ext uri="{FF2B5EF4-FFF2-40B4-BE49-F238E27FC236}">
                <a16:creationId xmlns:a16="http://schemas.microsoft.com/office/drawing/2014/main" id="{810E0130-EB04-45CD-B57C-854FBBCA9AD0}"/>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Le driver orchestre, les workers exécutent</a:t>
            </a:r>
          </a:p>
        </p:txBody>
      </p:sp>
      <p:sp>
        <p:nvSpPr>
          <p:cNvPr id="3" name="rule-12">
            <a:extLst xmlns:a="http://schemas.openxmlformats.org/drawingml/2006/main">
              <a:ext uri="{FF2B5EF4-FFF2-40B4-BE49-F238E27FC236}">
                <a16:creationId xmlns:a16="http://schemas.microsoft.com/office/drawing/2014/main" id="{BF7C3E4C-F6D7-41ED-BD89-F0DC21C8A11C}"/>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2">
            <a:extLst xmlns:a="http://schemas.openxmlformats.org/drawingml/2006/main">
              <a:ext uri="{FF2B5EF4-FFF2-40B4-BE49-F238E27FC236}">
                <a16:creationId xmlns:a16="http://schemas.microsoft.com/office/drawing/2014/main" id="{6C94514B-E704-46C9-B7C9-A04BA6AC5A1E}"/>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12</a:t>
            </a:r>
          </a:p>
        </p:txBody>
      </p:sp>
      <p:sp>
        <p:nvSpPr>
          <p:cNvPr id="5" name="spx-a1">
            <a:extLst xmlns:a="http://schemas.openxmlformats.org/drawingml/2006/main">
              <a:ext uri="{FF2B5EF4-FFF2-40B4-BE49-F238E27FC236}">
                <a16:creationId xmlns:a16="http://schemas.microsoft.com/office/drawing/2014/main" id="{1927B3CB-9E09-4834-80A2-764AA3E6D2DF}"/>
              </a:ext>
            </a:extLst>
          </p:cNvPr>
          <p:cNvSpPr>
            <a:spLocks xmlns:a="http://schemas.openxmlformats.org/drawingml/2006/main" noGrp="1"/>
          </p:cNvSpPr>
          <p:nvPr/>
        </p:nvSpPr>
        <p:spPr>
          <a:xfrm xmlns:a="http://schemas.openxmlformats.org/drawingml/2006/main">
            <a:off x="2762250" y="3143250"/>
            <a:ext cx="171450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6" name="spx-a2">
            <a:extLst xmlns:a="http://schemas.openxmlformats.org/drawingml/2006/main">
              <a:ext uri="{FF2B5EF4-FFF2-40B4-BE49-F238E27FC236}">
                <a16:creationId xmlns:a16="http://schemas.microsoft.com/office/drawing/2014/main" id="{E5E2B846-4A79-4BD9-9EBD-A9C20C76F870}"/>
              </a:ext>
            </a:extLst>
          </p:cNvPr>
          <p:cNvSpPr>
            <a:spLocks xmlns:a="http://schemas.openxmlformats.org/drawingml/2006/main" noGrp="1"/>
          </p:cNvSpPr>
          <p:nvPr/>
        </p:nvSpPr>
        <p:spPr>
          <a:xfrm xmlns:a="http://schemas.openxmlformats.org/drawingml/2006/main">
            <a:off x="7524750" y="3143250"/>
            <a:ext cx="171450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7" name="spx-submit">
            <a:extLst xmlns:a="http://schemas.openxmlformats.org/drawingml/2006/main">
              <a:ext uri="{FF2B5EF4-FFF2-40B4-BE49-F238E27FC236}">
                <a16:creationId xmlns:a16="http://schemas.microsoft.com/office/drawing/2014/main" id="{BF35C036-12D6-4700-B5C6-5B6117F3AFD6}"/>
              </a:ext>
            </a:extLst>
          </p:cNvPr>
          <p:cNvSpPr>
            <a:spLocks xmlns:a="http://schemas.openxmlformats.org/drawingml/2006/main" noGrp="1"/>
          </p:cNvSpPr>
          <p:nvPr/>
        </p:nvSpPr>
        <p:spPr>
          <a:xfrm xmlns:a="http://schemas.openxmlformats.org/drawingml/2006/main">
            <a:off x="609600" y="2247900"/>
            <a:ext cx="2152650" cy="1790700"/>
          </a:xfrm>
          <a:prstGeom xmlns:a="http://schemas.openxmlformats.org/drawingml/2006/main" prst="roundRect">
            <a:avLst>
              <a:gd name="adj" fmla="val 9574"/>
            </a:avLst>
          </a:prstGeom>
          <a:solidFill xmlns:a="http://schemas.openxmlformats.org/drawingml/2006/main">
            <a:srgbClr val="FFFFFF"/>
          </a:solidFill>
          <a:ln xmlns:a="http://schemas.openxmlformats.org/drawingml/2006/main" w="11430">
            <a:solidFill>
              <a:srgbClr val="C8D5D1"/>
            </a:solidFill>
            <a:prstDash val="solid"/>
          </a:ln>
        </p:spPr>
      </p:sp>
      <p:sp>
        <p:nvSpPr>
          <p:cNvPr id="8" name="spx-submit-h">
            <a:extLst xmlns:a="http://schemas.openxmlformats.org/drawingml/2006/main">
              <a:ext uri="{FF2B5EF4-FFF2-40B4-BE49-F238E27FC236}">
                <a16:creationId xmlns:a16="http://schemas.microsoft.com/office/drawing/2014/main" id="{F85280AB-BA2E-48AF-AEAC-F4F74E83A3D2}"/>
              </a:ext>
            </a:extLst>
          </p:cNvPr>
          <p:cNvSpPr>
            <a:spLocks xmlns:a="http://schemas.openxmlformats.org/drawingml/2006/main" noGrp="1"/>
          </p:cNvSpPr>
          <p:nvPr/>
        </p:nvSpPr>
        <p:spPr>
          <a:xfrm xmlns:a="http://schemas.openxmlformats.org/drawingml/2006/main">
            <a:off x="838200" y="25717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02A2A"/>
                </a:solidFill>
              </a:defRPr>
            </a:pPr>
            <a:r>
              <a:rPr sz="1800" b="1">
                <a:solidFill>
                  <a:srgbClr val="102A2A"/>
                </a:solidFill>
              </a:rPr>
              <a:t>spark-submit</a:t>
            </a:r>
          </a:p>
        </p:txBody>
      </p:sp>
      <p:sp>
        <p:nvSpPr>
          <p:cNvPr id="9" name="spx-submit-b">
            <a:extLst xmlns:a="http://schemas.openxmlformats.org/drawingml/2006/main">
              <a:ext uri="{FF2B5EF4-FFF2-40B4-BE49-F238E27FC236}">
                <a16:creationId xmlns:a16="http://schemas.microsoft.com/office/drawing/2014/main" id="{F356EE0E-73AD-47C4-9EAE-4C67A8BEF09D}"/>
              </a:ext>
            </a:extLst>
          </p:cNvPr>
          <p:cNvSpPr>
            <a:spLocks xmlns:a="http://schemas.openxmlformats.org/drawingml/2006/main" noGrp="1"/>
          </p:cNvSpPr>
          <p:nvPr/>
        </p:nvSpPr>
        <p:spPr>
          <a:xfrm xmlns:a="http://schemas.openxmlformats.org/drawingml/2006/main">
            <a:off x="838200" y="3181350"/>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2706D"/>
                </a:solidFill>
              </a:defRPr>
            </a:pPr>
            <a:r>
              <a:rPr sz="1350" b="0">
                <a:solidFill>
                  <a:srgbClr val="62706D"/>
                </a:solidFill>
              </a:rPr>
              <a:t>soumet le job au master</a:t>
            </a:r>
          </a:p>
        </p:txBody>
      </p:sp>
      <p:sp>
        <p:nvSpPr>
          <p:cNvPr id="10" name="spx-driver">
            <a:extLst xmlns:a="http://schemas.openxmlformats.org/drawingml/2006/main">
              <a:ext uri="{FF2B5EF4-FFF2-40B4-BE49-F238E27FC236}">
                <a16:creationId xmlns:a16="http://schemas.microsoft.com/office/drawing/2014/main" id="{AECF82C4-77D0-4ACA-9C52-ECF4E014D1D4}"/>
              </a:ext>
            </a:extLst>
          </p:cNvPr>
          <p:cNvSpPr>
            <a:spLocks xmlns:a="http://schemas.openxmlformats.org/drawingml/2006/main" noGrp="1"/>
          </p:cNvSpPr>
          <p:nvPr/>
        </p:nvSpPr>
        <p:spPr>
          <a:xfrm xmlns:a="http://schemas.openxmlformats.org/drawingml/2006/main">
            <a:off x="4476750" y="1905000"/>
            <a:ext cx="3048000" cy="2476500"/>
          </a:xfrm>
          <a:prstGeom xmlns:a="http://schemas.openxmlformats.org/drawingml/2006/main" prst="roundRect">
            <a:avLst>
              <a:gd name="adj" fmla="val 7692"/>
            </a:avLst>
          </a:prstGeom>
          <a:solidFill xmlns:a="http://schemas.openxmlformats.org/drawingml/2006/main">
            <a:srgbClr val="153D3A"/>
          </a:solidFill>
          <a:ln xmlns:a="http://schemas.openxmlformats.org/drawingml/2006/main" w="11430">
            <a:solidFill>
              <a:srgbClr val="153D3A"/>
            </a:solidFill>
            <a:prstDash val="solid"/>
          </a:ln>
        </p:spPr>
      </p:sp>
      <p:sp>
        <p:nvSpPr>
          <p:cNvPr id="11" name="spx-driver-h">
            <a:extLst xmlns:a="http://schemas.openxmlformats.org/drawingml/2006/main">
              <a:ext uri="{FF2B5EF4-FFF2-40B4-BE49-F238E27FC236}">
                <a16:creationId xmlns:a16="http://schemas.microsoft.com/office/drawing/2014/main" id="{CE85FD26-DE48-4179-9A29-7A363198D87A}"/>
              </a:ext>
            </a:extLst>
          </p:cNvPr>
          <p:cNvSpPr>
            <a:spLocks xmlns:a="http://schemas.openxmlformats.org/drawingml/2006/main" noGrp="1"/>
          </p:cNvSpPr>
          <p:nvPr/>
        </p:nvSpPr>
        <p:spPr>
          <a:xfrm xmlns:a="http://schemas.openxmlformats.org/drawingml/2006/main">
            <a:off x="4953000" y="22288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FFFFFF"/>
                </a:solidFill>
              </a:defRPr>
            </a:pPr>
            <a:r>
              <a:rPr sz="1875" b="1">
                <a:solidFill>
                  <a:srgbClr val="FFFFFF"/>
                </a:solidFill>
              </a:rPr>
              <a:t>DRIVER</a:t>
            </a:r>
          </a:p>
        </p:txBody>
      </p:sp>
      <p:sp>
        <p:nvSpPr>
          <p:cNvPr id="12" name="spx-driver-b">
            <a:extLst xmlns:a="http://schemas.openxmlformats.org/drawingml/2006/main">
              <a:ext uri="{FF2B5EF4-FFF2-40B4-BE49-F238E27FC236}">
                <a16:creationId xmlns:a16="http://schemas.microsoft.com/office/drawing/2014/main" id="{B26F35B6-7421-4524-9733-4BEAE8C46B97}"/>
              </a:ext>
            </a:extLst>
          </p:cNvPr>
          <p:cNvSpPr>
            <a:spLocks xmlns:a="http://schemas.openxmlformats.org/drawingml/2006/main" noGrp="1"/>
          </p:cNvSpPr>
          <p:nvPr/>
        </p:nvSpPr>
        <p:spPr>
          <a:xfrm xmlns:a="http://schemas.openxmlformats.org/drawingml/2006/main">
            <a:off x="4953000" y="2857500"/>
            <a:ext cx="2095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DCEDE7"/>
                </a:solidFill>
              </a:defRPr>
            </a:pPr>
            <a:r>
              <a:rPr sz="1500" b="0">
                <a:solidFill>
                  <a:srgbClr val="DCEDE7"/>
                </a:solidFill>
              </a:rPr>
              <a:t>construit le plan</a:t>
            </a:r>
          </a:p>
          <a:p xmlns:a="http://schemas.openxmlformats.org/drawingml/2006/main">
            <a:pPr algn="ctr">
              <a:defRPr sz="1500" b="0">
                <a:solidFill>
                  <a:srgbClr val="DCEDE7"/>
                </a:solidFill>
              </a:defRPr>
            </a:pPr>
            <a:r>
              <a:rPr sz="1500" b="0">
                <a:solidFill>
                  <a:srgbClr val="DCEDE7"/>
                </a:solidFill>
              </a:rPr>
              <a:t>coordonne les tâches</a:t>
            </a:r>
          </a:p>
          <a:p xmlns:a="http://schemas.openxmlformats.org/drawingml/2006/main">
            <a:pPr algn="ctr">
              <a:defRPr sz="1500" b="0">
                <a:solidFill>
                  <a:srgbClr val="DCEDE7"/>
                </a:solidFill>
              </a:defRPr>
            </a:pPr>
            <a:r>
              <a:rPr sz="1500" b="0">
                <a:solidFill>
                  <a:srgbClr val="DCEDE7"/>
                </a:solidFill>
              </a:rPr>
              <a:t>collecte 94 lignes</a:t>
            </a:r>
          </a:p>
        </p:txBody>
      </p:sp>
      <p:sp>
        <p:nvSpPr>
          <p:cNvPr id="13" name="spx-workers">
            <a:extLst xmlns:a="http://schemas.openxmlformats.org/drawingml/2006/main">
              <a:ext uri="{FF2B5EF4-FFF2-40B4-BE49-F238E27FC236}">
                <a16:creationId xmlns:a16="http://schemas.microsoft.com/office/drawing/2014/main" id="{F803BE0E-223C-4CD7-9EDD-F3E77D553E2A}"/>
              </a:ext>
            </a:extLst>
          </p:cNvPr>
          <p:cNvSpPr>
            <a:spLocks xmlns:a="http://schemas.openxmlformats.org/drawingml/2006/main" noGrp="1"/>
          </p:cNvSpPr>
          <p:nvPr/>
        </p:nvSpPr>
        <p:spPr>
          <a:xfrm xmlns:a="http://schemas.openxmlformats.org/drawingml/2006/main">
            <a:off x="9239250" y="2247900"/>
            <a:ext cx="2343150" cy="1790700"/>
          </a:xfrm>
          <a:prstGeom xmlns:a="http://schemas.openxmlformats.org/drawingml/2006/main" prst="roundRect">
            <a:avLst>
              <a:gd name="adj" fmla="val 9574"/>
            </a:avLst>
          </a:prstGeom>
          <a:solidFill xmlns:a="http://schemas.openxmlformats.org/drawingml/2006/main">
            <a:srgbClr val="FFFFFF"/>
          </a:solidFill>
          <a:ln xmlns:a="http://schemas.openxmlformats.org/drawingml/2006/main" w="11430">
            <a:solidFill>
              <a:srgbClr val="C8D5D1"/>
            </a:solidFill>
            <a:prstDash val="solid"/>
          </a:ln>
        </p:spPr>
      </p:sp>
      <p:sp>
        <p:nvSpPr>
          <p:cNvPr id="14" name="spx-workers-h">
            <a:extLst xmlns:a="http://schemas.openxmlformats.org/drawingml/2006/main">
              <a:ext uri="{FF2B5EF4-FFF2-40B4-BE49-F238E27FC236}">
                <a16:creationId xmlns:a16="http://schemas.microsoft.com/office/drawing/2014/main" id="{B732DB90-6DAB-4D19-A8F8-7016D65785B9}"/>
              </a:ext>
            </a:extLst>
          </p:cNvPr>
          <p:cNvSpPr>
            <a:spLocks xmlns:a="http://schemas.openxmlformats.org/drawingml/2006/main" noGrp="1"/>
          </p:cNvSpPr>
          <p:nvPr/>
        </p:nvSpPr>
        <p:spPr>
          <a:xfrm xmlns:a="http://schemas.openxmlformats.org/drawingml/2006/main">
            <a:off x="9467850" y="2571750"/>
            <a:ext cx="188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02A2A"/>
                </a:solidFill>
              </a:defRPr>
            </a:pPr>
            <a:r>
              <a:rPr sz="1800" b="1">
                <a:solidFill>
                  <a:srgbClr val="102A2A"/>
                </a:solidFill>
              </a:rPr>
              <a:t>WORKERS</a:t>
            </a:r>
          </a:p>
        </p:txBody>
      </p:sp>
      <p:sp>
        <p:nvSpPr>
          <p:cNvPr id="15" name="spx-workers-b">
            <a:extLst xmlns:a="http://schemas.openxmlformats.org/drawingml/2006/main">
              <a:ext uri="{FF2B5EF4-FFF2-40B4-BE49-F238E27FC236}">
                <a16:creationId xmlns:a16="http://schemas.microsoft.com/office/drawing/2014/main" id="{EC7EA1AC-8E4D-4AF4-A82A-06314D1AEDC1}"/>
              </a:ext>
            </a:extLst>
          </p:cNvPr>
          <p:cNvSpPr>
            <a:spLocks xmlns:a="http://schemas.openxmlformats.org/drawingml/2006/main" noGrp="1"/>
          </p:cNvSpPr>
          <p:nvPr/>
        </p:nvSpPr>
        <p:spPr>
          <a:xfrm xmlns:a="http://schemas.openxmlformats.org/drawingml/2006/main">
            <a:off x="9467850" y="314325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2706D"/>
                </a:solidFill>
              </a:defRPr>
            </a:pPr>
            <a:r>
              <a:rPr sz="1350" b="0">
                <a:solidFill>
                  <a:srgbClr val="62706D"/>
                </a:solidFill>
              </a:rPr>
              <a:t>lisent, transforment</a:t>
            </a:r>
          </a:p>
          <a:p xmlns:a="http://schemas.openxmlformats.org/drawingml/2006/main">
            <a:pPr algn="ctr">
              <a:defRPr sz="1350" b="0">
                <a:solidFill>
                  <a:srgbClr val="62706D"/>
                </a:solidFill>
              </a:defRPr>
            </a:pPr>
            <a:r>
              <a:rPr sz="1350" b="0">
                <a:solidFill>
                  <a:srgbClr val="62706D"/>
                </a:solidFill>
              </a:rPr>
              <a:t>et agrègent les partitions</a:t>
            </a:r>
          </a:p>
        </p:txBody>
      </p:sp>
      <p:sp>
        <p:nvSpPr>
          <p:cNvPr id="16" name="spx-lazy">
            <a:extLst xmlns:a="http://schemas.openxmlformats.org/drawingml/2006/main">
              <a:ext uri="{FF2B5EF4-FFF2-40B4-BE49-F238E27FC236}">
                <a16:creationId xmlns:a16="http://schemas.microsoft.com/office/drawing/2014/main" id="{A693C1A1-3331-44F2-B844-3627839ABD7E}"/>
              </a:ext>
            </a:extLst>
          </p:cNvPr>
          <p:cNvSpPr>
            <a:spLocks xmlns:a="http://schemas.openxmlformats.org/drawingml/2006/main" noGrp="1"/>
          </p:cNvSpPr>
          <p:nvPr/>
        </p:nvSpPr>
        <p:spPr>
          <a:xfrm xmlns:a="http://schemas.openxmlformats.org/drawingml/2006/main">
            <a:off x="1714500" y="501015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F6F5F"/>
                </a:solidFill>
              </a:defRPr>
            </a:pPr>
            <a:r>
              <a:rPr sz="1575" b="1">
                <a:solidFill>
                  <a:srgbClr val="1F6F5F"/>
                </a:solidFill>
              </a:rPr>
              <a:t>Transformations paresseuses → l’action déclenche réellement le calcul</a:t>
            </a:r>
          </a:p>
        </p:txBody>
      </p:sp>
    </p:spTree>
    <p:extLst>
      <p:ext uri="{BB962C8B-B14F-4D97-AF65-F5344CB8AC3E}">
        <p14:creationId xmlns:p14="http://schemas.microsoft.com/office/powerpoint/2010/main" val="805837693"/>
      </p:ext>
    </p:extLst>
  </p:cSld>
</p:sld>
</file>

<file path=ppt/slides/slide13.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8" name="kicker-13">
            <a:extLst xmlns:a="http://schemas.openxmlformats.org/drawingml/2006/main">
              <a:ext uri="{FF2B5EF4-FFF2-40B4-BE49-F238E27FC236}">
                <a16:creationId xmlns:a16="http://schemas.microsoft.com/office/drawing/2014/main" id="{879EEE4E-DEA8-4473-8B6B-2B95784A782C}"/>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AGRÉGATION RÉGIONALE</a:t>
            </a:r>
          </a:p>
        </p:txBody>
      </p:sp>
      <p:sp>
        <p:nvSpPr>
          <p:cNvPr id="2" name="title-13">
            <a:extLst xmlns:a="http://schemas.openxmlformats.org/drawingml/2006/main">
              <a:ext uri="{FF2B5EF4-FFF2-40B4-BE49-F238E27FC236}">
                <a16:creationId xmlns:a16="http://schemas.microsoft.com/office/drawing/2014/main" id="{4C7AB237-1A68-478C-B20A-360D9E8A9F0F}"/>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La région réutilise le département au lieu de rescanner les faits</a:t>
            </a:r>
          </a:p>
        </p:txBody>
      </p:sp>
      <p:sp>
        <p:nvSpPr>
          <p:cNvPr id="3" name="rule-13">
            <a:extLst xmlns:a="http://schemas.openxmlformats.org/drawingml/2006/main">
              <a:ext uri="{FF2B5EF4-FFF2-40B4-BE49-F238E27FC236}">
                <a16:creationId xmlns:a16="http://schemas.microsoft.com/office/drawing/2014/main" id="{3011ECCA-68B0-4062-940E-7D49D820E8A7}"/>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3">
            <a:extLst xmlns:a="http://schemas.openxmlformats.org/drawingml/2006/main">
              <a:ext uri="{FF2B5EF4-FFF2-40B4-BE49-F238E27FC236}">
                <a16:creationId xmlns:a16="http://schemas.microsoft.com/office/drawing/2014/main" id="{2B4BCDD7-94DA-4289-A855-D41A06705C81}"/>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13</a:t>
            </a:r>
          </a:p>
        </p:txBody>
      </p:sp>
      <p:sp>
        <p:nvSpPr>
          <p:cNvPr id="5" name="reg-a1">
            <a:extLst xmlns:a="http://schemas.openxmlformats.org/drawingml/2006/main">
              <a:ext uri="{FF2B5EF4-FFF2-40B4-BE49-F238E27FC236}">
                <a16:creationId xmlns:a16="http://schemas.microsoft.com/office/drawing/2014/main" id="{61652F69-3175-4034-A909-2C31001D0748}"/>
              </a:ext>
            </a:extLst>
          </p:cNvPr>
          <p:cNvSpPr>
            <a:spLocks xmlns:a="http://schemas.openxmlformats.org/drawingml/2006/main" noGrp="1"/>
          </p:cNvSpPr>
          <p:nvPr/>
        </p:nvSpPr>
        <p:spPr>
          <a:xfrm xmlns:a="http://schemas.openxmlformats.org/drawingml/2006/main">
            <a:off x="3143250" y="3143250"/>
            <a:ext cx="14287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6" name="reg-a2">
            <a:extLst xmlns:a="http://schemas.openxmlformats.org/drawingml/2006/main">
              <a:ext uri="{FF2B5EF4-FFF2-40B4-BE49-F238E27FC236}">
                <a16:creationId xmlns:a16="http://schemas.microsoft.com/office/drawing/2014/main" id="{927F556E-34BC-484D-9DA0-017CEF7CDD43}"/>
              </a:ext>
            </a:extLst>
          </p:cNvPr>
          <p:cNvSpPr>
            <a:spLocks xmlns:a="http://schemas.openxmlformats.org/drawingml/2006/main" noGrp="1"/>
          </p:cNvSpPr>
          <p:nvPr/>
        </p:nvSpPr>
        <p:spPr>
          <a:xfrm xmlns:a="http://schemas.openxmlformats.org/drawingml/2006/main">
            <a:off x="7620000" y="3143250"/>
            <a:ext cx="14287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7" name="reg-d">
            <a:extLst xmlns:a="http://schemas.openxmlformats.org/drawingml/2006/main">
              <a:ext uri="{FF2B5EF4-FFF2-40B4-BE49-F238E27FC236}">
                <a16:creationId xmlns:a16="http://schemas.microsoft.com/office/drawing/2014/main" id="{FC1BA05A-6F0D-4728-8BEB-7BAFBD5525B3}"/>
              </a:ext>
            </a:extLst>
          </p:cNvPr>
          <p:cNvSpPr>
            <a:spLocks xmlns:a="http://schemas.openxmlformats.org/drawingml/2006/main" noGrp="1"/>
          </p:cNvSpPr>
          <p:nvPr/>
        </p:nvSpPr>
        <p:spPr>
          <a:xfrm xmlns:a="http://schemas.openxmlformats.org/drawingml/2006/main">
            <a:off x="609600" y="2171700"/>
            <a:ext cx="2533650" cy="19431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1430">
            <a:solidFill>
              <a:srgbClr val="C8D5D1"/>
            </a:solidFill>
            <a:prstDash val="solid"/>
          </a:ln>
        </p:spPr>
      </p:sp>
      <p:sp>
        <p:nvSpPr>
          <p:cNvPr id="8" name="reg-d-v">
            <a:extLst xmlns:a="http://schemas.openxmlformats.org/drawingml/2006/main">
              <a:ext uri="{FF2B5EF4-FFF2-40B4-BE49-F238E27FC236}">
                <a16:creationId xmlns:a16="http://schemas.microsoft.com/office/drawing/2014/main" id="{2328F58A-0D25-469C-A50F-92D57FCF7BD2}"/>
              </a:ext>
            </a:extLst>
          </p:cNvPr>
          <p:cNvSpPr>
            <a:spLocks xmlns:a="http://schemas.openxmlformats.org/drawingml/2006/main" noGrp="1"/>
          </p:cNvSpPr>
          <p:nvPr/>
        </p:nvSpPr>
        <p:spPr>
          <a:xfrm xmlns:a="http://schemas.openxmlformats.org/drawingml/2006/main">
            <a:off x="895350" y="2457450"/>
            <a:ext cx="1962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75" b="1">
                <a:solidFill>
                  <a:srgbClr val="D66B4D"/>
                </a:solidFill>
              </a:defRPr>
            </a:pPr>
            <a:r>
              <a:rPr sz="2475" b="1">
                <a:solidFill>
                  <a:srgbClr val="D66B4D"/>
                </a:solidFill>
              </a:rPr>
              <a:t>94</a:t>
            </a:r>
          </a:p>
        </p:txBody>
      </p:sp>
      <p:sp>
        <p:nvSpPr>
          <p:cNvPr id="9" name="reg-d-l">
            <a:extLst xmlns:a="http://schemas.openxmlformats.org/drawingml/2006/main">
              <a:ext uri="{FF2B5EF4-FFF2-40B4-BE49-F238E27FC236}">
                <a16:creationId xmlns:a16="http://schemas.microsoft.com/office/drawing/2014/main" id="{7A8EE739-A2A4-4C5B-83D3-149F2AC9EC7E}"/>
              </a:ext>
            </a:extLst>
          </p:cNvPr>
          <p:cNvSpPr>
            <a:spLocks xmlns:a="http://schemas.openxmlformats.org/drawingml/2006/main" noGrp="1"/>
          </p:cNvSpPr>
          <p:nvPr/>
        </p:nvSpPr>
        <p:spPr>
          <a:xfrm xmlns:a="http://schemas.openxmlformats.org/drawingml/2006/main">
            <a:off x="895350" y="3143250"/>
            <a:ext cx="1962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a:solidFill>
                  <a:srgbClr val="62706D"/>
                </a:solidFill>
              </a:defRPr>
            </a:pPr>
            <a:r>
              <a:rPr sz="1425" b="0">
                <a:solidFill>
                  <a:srgbClr val="62706D"/>
                </a:solidFill>
              </a:rPr>
              <a:t>départements</a:t>
            </a:r>
          </a:p>
          <a:p xmlns:a="http://schemas.openxmlformats.org/drawingml/2006/main">
            <a:pPr algn="ctr">
              <a:defRPr sz="1425" b="0">
                <a:solidFill>
                  <a:srgbClr val="62706D"/>
                </a:solidFill>
              </a:defRPr>
            </a:pPr>
            <a:r>
              <a:rPr sz="1425" b="0">
                <a:solidFill>
                  <a:srgbClr val="62706D"/>
                </a:solidFill>
              </a:rPr>
              <a:t>prix/m² + transactions</a:t>
            </a:r>
          </a:p>
        </p:txBody>
      </p:sp>
      <p:sp>
        <p:nvSpPr>
          <p:cNvPr id="10" name="reg-j">
            <a:extLst xmlns:a="http://schemas.openxmlformats.org/drawingml/2006/main">
              <a:ext uri="{FF2B5EF4-FFF2-40B4-BE49-F238E27FC236}">
                <a16:creationId xmlns:a16="http://schemas.microsoft.com/office/drawing/2014/main" id="{E8827EE9-C9AA-46C6-9EB6-17259FE025FC}"/>
              </a:ext>
            </a:extLst>
          </p:cNvPr>
          <p:cNvSpPr>
            <a:spLocks xmlns:a="http://schemas.openxmlformats.org/drawingml/2006/main" noGrp="1"/>
          </p:cNvSpPr>
          <p:nvPr/>
        </p:nvSpPr>
        <p:spPr>
          <a:xfrm xmlns:a="http://schemas.openxmlformats.org/drawingml/2006/main">
            <a:off x="4572000" y="1924050"/>
            <a:ext cx="3048000" cy="2438400"/>
          </a:xfrm>
          <a:prstGeom xmlns:a="http://schemas.openxmlformats.org/drawingml/2006/main" prst="roundRect">
            <a:avLst>
              <a:gd name="adj" fmla="val 7813"/>
            </a:avLst>
          </a:prstGeom>
          <a:solidFill xmlns:a="http://schemas.openxmlformats.org/drawingml/2006/main">
            <a:srgbClr val="153D3A"/>
          </a:solidFill>
          <a:ln xmlns:a="http://schemas.openxmlformats.org/drawingml/2006/main" w="11430">
            <a:solidFill>
              <a:srgbClr val="153D3A"/>
            </a:solidFill>
            <a:prstDash val="solid"/>
          </a:ln>
        </p:spPr>
      </p:sp>
      <p:sp>
        <p:nvSpPr>
          <p:cNvPr id="11" name="reg-j-h">
            <a:extLst xmlns:a="http://schemas.openxmlformats.org/drawingml/2006/main">
              <a:ext uri="{FF2B5EF4-FFF2-40B4-BE49-F238E27FC236}">
                <a16:creationId xmlns:a16="http://schemas.microsoft.com/office/drawing/2014/main" id="{C3F0474C-6B23-49C0-AD2B-2D2D6DF67264}"/>
              </a:ext>
            </a:extLst>
          </p:cNvPr>
          <p:cNvSpPr>
            <a:spLocks xmlns:a="http://schemas.openxmlformats.org/drawingml/2006/main" noGrp="1"/>
          </p:cNvSpPr>
          <p:nvPr/>
        </p:nvSpPr>
        <p:spPr>
          <a:xfrm xmlns:a="http://schemas.openxmlformats.org/drawingml/2006/main">
            <a:off x="4972050" y="2247900"/>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Jointure DEP → REG</a:t>
            </a:r>
          </a:p>
        </p:txBody>
      </p:sp>
      <p:sp>
        <p:nvSpPr>
          <p:cNvPr id="12" name="reg-j-b">
            <a:extLst xmlns:a="http://schemas.openxmlformats.org/drawingml/2006/main">
              <a:ext uri="{FF2B5EF4-FFF2-40B4-BE49-F238E27FC236}">
                <a16:creationId xmlns:a16="http://schemas.microsoft.com/office/drawing/2014/main" id="{FF2511E1-4B98-43C2-A4BC-692632C50EAF}"/>
              </a:ext>
            </a:extLst>
          </p:cNvPr>
          <p:cNvSpPr>
            <a:spLocks xmlns:a="http://schemas.openxmlformats.org/drawingml/2006/main" noGrp="1"/>
          </p:cNvSpPr>
          <p:nvPr/>
        </p:nvSpPr>
        <p:spPr>
          <a:xfrm xmlns:a="http://schemas.openxmlformats.org/drawingml/2006/main">
            <a:off x="4972050" y="2914650"/>
            <a:ext cx="2247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a:solidFill>
                  <a:srgbClr val="DCEDE7"/>
                </a:solidFill>
              </a:defRPr>
            </a:pPr>
            <a:r>
              <a:rPr sz="1425" b="0">
                <a:solidFill>
                  <a:srgbClr val="DCEDE7"/>
                </a:solidFill>
              </a:rPr>
              <a:t>référentiel géographique</a:t>
            </a:r>
          </a:p>
          <a:p xmlns:a="http://schemas.openxmlformats.org/drawingml/2006/main">
            <a:pPr algn="ctr">
              <a:defRPr sz="1425" b="0">
                <a:solidFill>
                  <a:srgbClr val="DCEDE7"/>
                </a:solidFill>
              </a:defRPr>
            </a:pPr>
            <a:r>
              <a:rPr sz="1425" b="0">
                <a:solidFill>
                  <a:srgbClr val="DCEDE7"/>
                </a:solidFill>
              </a:rPr>
              <a:t>pondération du prix</a:t>
            </a:r>
          </a:p>
          <a:p xmlns:a="http://schemas.openxmlformats.org/drawingml/2006/main">
            <a:pPr algn="ctr">
              <a:defRPr sz="1425" b="0">
                <a:solidFill>
                  <a:srgbClr val="DCEDE7"/>
                </a:solidFill>
              </a:defRPr>
            </a:pPr>
            <a:r>
              <a:rPr sz="1425" b="0">
                <a:solidFill>
                  <a:srgbClr val="DCEDE7"/>
                </a:solidFill>
              </a:rPr>
              <a:t>fusion des indicateurs</a:t>
            </a:r>
          </a:p>
        </p:txBody>
      </p:sp>
      <p:sp>
        <p:nvSpPr>
          <p:cNvPr id="13" name="reg-r">
            <a:extLst xmlns:a="http://schemas.openxmlformats.org/drawingml/2006/main">
              <a:ext uri="{FF2B5EF4-FFF2-40B4-BE49-F238E27FC236}">
                <a16:creationId xmlns:a16="http://schemas.microsoft.com/office/drawing/2014/main" id="{72E18101-C4C7-481F-BD9E-0F04DC4E207C}"/>
              </a:ext>
            </a:extLst>
          </p:cNvPr>
          <p:cNvSpPr>
            <a:spLocks xmlns:a="http://schemas.openxmlformats.org/drawingml/2006/main" noGrp="1"/>
          </p:cNvSpPr>
          <p:nvPr/>
        </p:nvSpPr>
        <p:spPr>
          <a:xfrm xmlns:a="http://schemas.openxmlformats.org/drawingml/2006/main">
            <a:off x="9048750" y="2171700"/>
            <a:ext cx="2533650" cy="19431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11430">
            <a:solidFill>
              <a:srgbClr val="C8D5D1"/>
            </a:solidFill>
            <a:prstDash val="solid"/>
          </a:ln>
        </p:spPr>
      </p:sp>
      <p:sp>
        <p:nvSpPr>
          <p:cNvPr id="14" name="reg-r-v">
            <a:extLst xmlns:a="http://schemas.openxmlformats.org/drawingml/2006/main">
              <a:ext uri="{FF2B5EF4-FFF2-40B4-BE49-F238E27FC236}">
                <a16:creationId xmlns:a16="http://schemas.microsoft.com/office/drawing/2014/main" id="{37DBDCEB-F150-4B2D-8568-B6FC15B0126F}"/>
              </a:ext>
            </a:extLst>
          </p:cNvPr>
          <p:cNvSpPr>
            <a:spLocks xmlns:a="http://schemas.openxmlformats.org/drawingml/2006/main" noGrp="1"/>
          </p:cNvSpPr>
          <p:nvPr/>
        </p:nvSpPr>
        <p:spPr>
          <a:xfrm xmlns:a="http://schemas.openxmlformats.org/drawingml/2006/main">
            <a:off x="9334500" y="2457450"/>
            <a:ext cx="1962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75" b="1">
                <a:solidFill>
                  <a:srgbClr val="1F6F5F"/>
                </a:solidFill>
              </a:defRPr>
            </a:pPr>
            <a:r>
              <a:rPr sz="2475" b="1">
                <a:solidFill>
                  <a:srgbClr val="1F6F5F"/>
                </a:solidFill>
              </a:rPr>
              <a:t>13</a:t>
            </a:r>
          </a:p>
        </p:txBody>
      </p:sp>
      <p:sp>
        <p:nvSpPr>
          <p:cNvPr id="15" name="reg-r-l">
            <a:extLst xmlns:a="http://schemas.openxmlformats.org/drawingml/2006/main">
              <a:ext uri="{FF2B5EF4-FFF2-40B4-BE49-F238E27FC236}">
                <a16:creationId xmlns:a16="http://schemas.microsoft.com/office/drawing/2014/main" id="{3BD27FE1-167F-4D6B-9955-3667761B2F14}"/>
              </a:ext>
            </a:extLst>
          </p:cNvPr>
          <p:cNvSpPr>
            <a:spLocks xmlns:a="http://schemas.openxmlformats.org/drawingml/2006/main" noGrp="1"/>
          </p:cNvSpPr>
          <p:nvPr/>
        </p:nvSpPr>
        <p:spPr>
          <a:xfrm xmlns:a="http://schemas.openxmlformats.org/drawingml/2006/main">
            <a:off x="9334500" y="3143250"/>
            <a:ext cx="1962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a:solidFill>
                  <a:srgbClr val="62706D"/>
                </a:solidFill>
              </a:defRPr>
            </a:pPr>
            <a:r>
              <a:rPr sz="1425" b="0">
                <a:solidFill>
                  <a:srgbClr val="62706D"/>
                </a:solidFill>
              </a:rPr>
              <a:t>régions</a:t>
            </a:r>
          </a:p>
          <a:p xmlns:a="http://schemas.openxmlformats.org/drawingml/2006/main">
            <a:pPr algn="ctr">
              <a:defRPr sz="1425" b="0">
                <a:solidFill>
                  <a:srgbClr val="62706D"/>
                </a:solidFill>
              </a:defRPr>
            </a:pPr>
            <a:r>
              <a:rPr sz="1425" b="0">
                <a:solidFill>
                  <a:srgbClr val="62706D"/>
                </a:solidFill>
              </a:rPr>
              <a:t>Corse incluse</a:t>
            </a:r>
          </a:p>
        </p:txBody>
      </p:sp>
      <p:sp>
        <p:nvSpPr>
          <p:cNvPr id="16" name="reg-method">
            <a:extLst xmlns:a="http://schemas.openxmlformats.org/drawingml/2006/main">
              <a:ext uri="{FF2B5EF4-FFF2-40B4-BE49-F238E27FC236}">
                <a16:creationId xmlns:a16="http://schemas.microsoft.com/office/drawing/2014/main" id="{0F5B4D48-E9E1-47E1-9CE8-4C3D83F76368}"/>
              </a:ext>
            </a:extLst>
          </p:cNvPr>
          <p:cNvSpPr>
            <a:spLocks xmlns:a="http://schemas.openxmlformats.org/drawingml/2006/main" noGrp="1"/>
          </p:cNvSpPr>
          <p:nvPr/>
        </p:nvSpPr>
        <p:spPr>
          <a:xfrm xmlns:a="http://schemas.openxmlformats.org/drawingml/2006/main">
            <a:off x="1714500" y="4876800"/>
            <a:ext cx="8763000" cy="723900"/>
          </a:xfrm>
          <a:prstGeom xmlns:a="http://schemas.openxmlformats.org/drawingml/2006/main" prst="roundRect">
            <a:avLst>
              <a:gd name="adj" fmla="val 21053"/>
            </a:avLst>
          </a:prstGeom>
          <a:solidFill xmlns:a="http://schemas.openxmlformats.org/drawingml/2006/main">
            <a:srgbClr val="DCEDE7"/>
          </a:solidFill>
          <a:ln xmlns:a="http://schemas.openxmlformats.org/drawingml/2006/main" w="11430">
            <a:solidFill>
              <a:srgbClr val="DCEDE7"/>
            </a:solidFill>
            <a:prstDash val="solid"/>
          </a:ln>
        </p:spPr>
      </p:sp>
      <p:sp>
        <p:nvSpPr>
          <p:cNvPr id="17" name="reg-method-t">
            <a:extLst xmlns:a="http://schemas.openxmlformats.org/drawingml/2006/main">
              <a:ext uri="{FF2B5EF4-FFF2-40B4-BE49-F238E27FC236}">
                <a16:creationId xmlns:a16="http://schemas.microsoft.com/office/drawing/2014/main" id="{EBF44668-8B8F-4081-8BFA-212E41189C33}"/>
              </a:ext>
            </a:extLst>
          </p:cNvPr>
          <p:cNvSpPr>
            <a:spLocks xmlns:a="http://schemas.openxmlformats.org/drawingml/2006/main" noGrp="1"/>
          </p:cNvSpPr>
          <p:nvPr/>
        </p:nvSpPr>
        <p:spPr>
          <a:xfrm xmlns:a="http://schemas.openxmlformats.org/drawingml/2006/main">
            <a:off x="2095500" y="5095875"/>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53D3A"/>
                </a:solidFill>
              </a:defRPr>
            </a:pPr>
            <a:r>
              <a:rPr sz="1500" b="1">
                <a:solidFill>
                  <a:srgbClr val="153D3A"/>
                </a:solidFill>
              </a:rPr>
              <a:t>Prix régional = moyenne départementale pondérée par le nombre de transactions</a:t>
            </a:r>
          </a:p>
        </p:txBody>
      </p:sp>
    </p:spTree>
    <p:extLst>
      <p:ext uri="{BB962C8B-B14F-4D97-AF65-F5344CB8AC3E}">
        <p14:creationId xmlns:p14="http://schemas.microsoft.com/office/powerpoint/2010/main" val="773192673"/>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8" name="kicker-14">
            <a:extLst xmlns:a="http://schemas.openxmlformats.org/drawingml/2006/main">
              <a:ext uri="{FF2B5EF4-FFF2-40B4-BE49-F238E27FC236}">
                <a16:creationId xmlns:a16="http://schemas.microsoft.com/office/drawing/2014/main" id="{FAB0860B-A37C-483C-A8C8-9ACE22EE356E}"/>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ARCHITECTURE DE STOCKAGE</a:t>
            </a:r>
          </a:p>
        </p:txBody>
      </p:sp>
      <p:sp>
        <p:nvSpPr>
          <p:cNvPr id="2" name="title-14">
            <a:extLst xmlns:a="http://schemas.openxmlformats.org/drawingml/2006/main">
              <a:ext uri="{FF2B5EF4-FFF2-40B4-BE49-F238E27FC236}">
                <a16:creationId xmlns:a16="http://schemas.microsoft.com/office/drawing/2014/main" id="{92441CEF-FEF5-401E-8D45-9EE3A68DCBBA}"/>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Chaque stockage a un rôle explicite</a:t>
            </a:r>
          </a:p>
        </p:txBody>
      </p:sp>
      <p:sp>
        <p:nvSpPr>
          <p:cNvPr id="3" name="rule-14">
            <a:extLst xmlns:a="http://schemas.openxmlformats.org/drawingml/2006/main">
              <a:ext uri="{FF2B5EF4-FFF2-40B4-BE49-F238E27FC236}">
                <a16:creationId xmlns:a16="http://schemas.microsoft.com/office/drawing/2014/main" id="{45512ABB-CFC9-4BCC-B802-06374A7D70D0}"/>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4">
            <a:extLst xmlns:a="http://schemas.openxmlformats.org/drawingml/2006/main">
              <a:ext uri="{FF2B5EF4-FFF2-40B4-BE49-F238E27FC236}">
                <a16:creationId xmlns:a16="http://schemas.microsoft.com/office/drawing/2014/main" id="{E602FD29-E308-4422-AEE3-CFFC6262F026}"/>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14</a:t>
            </a:r>
          </a:p>
        </p:txBody>
      </p:sp>
      <p:sp>
        <p:nvSpPr>
          <p:cNvPr id="5" name="sqlite-panel">
            <a:extLst xmlns:a="http://schemas.openxmlformats.org/drawingml/2006/main">
              <a:ext uri="{FF2B5EF4-FFF2-40B4-BE49-F238E27FC236}">
                <a16:creationId xmlns:a16="http://schemas.microsoft.com/office/drawing/2014/main" id="{399F2959-789F-4A3B-A9FD-5BE9A44CEFE1}"/>
              </a:ext>
            </a:extLst>
          </p:cNvPr>
          <p:cNvSpPr>
            <a:spLocks xmlns:a="http://schemas.openxmlformats.org/drawingml/2006/main" noGrp="1"/>
          </p:cNvSpPr>
          <p:nvPr/>
        </p:nvSpPr>
        <p:spPr>
          <a:xfrm xmlns:a="http://schemas.openxmlformats.org/drawingml/2006/main">
            <a:off x="609600" y="1657350"/>
            <a:ext cx="4762500" cy="3638550"/>
          </a:xfrm>
          <a:prstGeom xmlns:a="http://schemas.openxmlformats.org/drawingml/2006/main" prst="roundRect">
            <a:avLst>
              <a:gd name="adj" fmla="val 5759"/>
            </a:avLst>
          </a:prstGeom>
          <a:solidFill xmlns:a="http://schemas.openxmlformats.org/drawingml/2006/main">
            <a:srgbClr val="FFFFFF"/>
          </a:solidFill>
          <a:ln xmlns:a="http://schemas.openxmlformats.org/drawingml/2006/main" w="11430">
            <a:solidFill>
              <a:srgbClr val="C8D5D1"/>
            </a:solidFill>
            <a:prstDash val="solid"/>
          </a:ln>
        </p:spPr>
      </p:sp>
      <p:sp>
        <p:nvSpPr>
          <p:cNvPr id="6" name="sqlite-name">
            <a:extLst xmlns:a="http://schemas.openxmlformats.org/drawingml/2006/main">
              <a:ext uri="{FF2B5EF4-FFF2-40B4-BE49-F238E27FC236}">
                <a16:creationId xmlns:a16="http://schemas.microsoft.com/office/drawing/2014/main" id="{C0EA37C5-7FC8-4422-B26B-67406F300553}"/>
              </a:ext>
            </a:extLst>
          </p:cNvPr>
          <p:cNvSpPr>
            <a:spLocks xmlns:a="http://schemas.openxmlformats.org/drawingml/2006/main" noGrp="1"/>
          </p:cNvSpPr>
          <p:nvPr/>
        </p:nvSpPr>
        <p:spPr>
          <a:xfrm xmlns:a="http://schemas.openxmlformats.org/drawingml/2006/main">
            <a:off x="933450" y="19812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2A"/>
                </a:solidFill>
              </a:defRPr>
            </a:pPr>
            <a:r>
              <a:rPr sz="2250" b="1">
                <a:solidFill>
                  <a:srgbClr val="102A2A"/>
                </a:solidFill>
              </a:rPr>
              <a:t>SQLite</a:t>
            </a:r>
          </a:p>
        </p:txBody>
      </p:sp>
      <p:sp>
        <p:nvSpPr>
          <p:cNvPr id="7" name="sqlite-home">
            <a:extLst xmlns:a="http://schemas.openxmlformats.org/drawingml/2006/main">
              <a:ext uri="{FF2B5EF4-FFF2-40B4-BE49-F238E27FC236}">
                <a16:creationId xmlns:a16="http://schemas.microsoft.com/office/drawing/2014/main" id="{87C63798-8671-428D-82E3-3AD72468080E}"/>
              </a:ext>
            </a:extLst>
          </p:cNvPr>
          <p:cNvSpPr>
            <a:spLocks xmlns:a="http://schemas.openxmlformats.org/drawingml/2006/main" noGrp="1"/>
          </p:cNvSpPr>
          <p:nvPr/>
        </p:nvSpPr>
        <p:spPr>
          <a:xfrm xmlns:a="http://schemas.openxmlformats.org/drawingml/2006/main">
            <a:off x="933450" y="26289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F6F5F"/>
                </a:solidFill>
              </a:defRPr>
            </a:pPr>
            <a:r>
              <a:rPr sz="1500" b="1">
                <a:solidFill>
                  <a:srgbClr val="1F6F5F"/>
                </a:solidFill>
              </a:rPr>
              <a:t>homepedia.db</a:t>
            </a:r>
          </a:p>
        </p:txBody>
      </p:sp>
      <p:sp>
        <p:nvSpPr>
          <p:cNvPr id="8" name="sqlite-home-body">
            <a:extLst xmlns:a="http://schemas.openxmlformats.org/drawingml/2006/main">
              <a:ext uri="{FF2B5EF4-FFF2-40B4-BE49-F238E27FC236}">
                <a16:creationId xmlns:a16="http://schemas.microsoft.com/office/drawing/2014/main" id="{F681A3AF-8D6C-4EF3-87B2-311453AF8999}"/>
              </a:ext>
            </a:extLst>
          </p:cNvPr>
          <p:cNvSpPr>
            <a:spLocks xmlns:a="http://schemas.openxmlformats.org/drawingml/2006/main" noGrp="1"/>
          </p:cNvSpPr>
          <p:nvPr/>
        </p:nvSpPr>
        <p:spPr>
          <a:xfrm xmlns:a="http://schemas.openxmlformats.org/drawingml/2006/main">
            <a:off x="933450" y="2990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06D"/>
                </a:solidFill>
              </a:defRPr>
            </a:pPr>
            <a:r>
              <a:rPr sz="1350" b="0">
                <a:solidFill>
                  <a:srgbClr val="62706D"/>
                </a:solidFill>
              </a:rPr>
              <a:t>faits DVF · indicateurs · agrégats</a:t>
            </a:r>
          </a:p>
        </p:txBody>
      </p:sp>
      <p:sp>
        <p:nvSpPr>
          <p:cNvPr id="9" name="sqlite-rt">
            <a:extLst xmlns:a="http://schemas.openxmlformats.org/drawingml/2006/main">
              <a:ext uri="{FF2B5EF4-FFF2-40B4-BE49-F238E27FC236}">
                <a16:creationId xmlns:a16="http://schemas.microsoft.com/office/drawing/2014/main" id="{65B656CC-A97B-4501-B0CF-AD98D0080BE9}"/>
              </a:ext>
            </a:extLst>
          </p:cNvPr>
          <p:cNvSpPr>
            <a:spLocks xmlns:a="http://schemas.openxmlformats.org/drawingml/2006/main" noGrp="1"/>
          </p:cNvSpPr>
          <p:nvPr/>
        </p:nvSpPr>
        <p:spPr>
          <a:xfrm xmlns:a="http://schemas.openxmlformats.org/drawingml/2006/main">
            <a:off x="933450" y="36766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F6F5F"/>
                </a:solidFill>
              </a:defRPr>
            </a:pPr>
            <a:r>
              <a:rPr sz="1500" b="1">
                <a:solidFill>
                  <a:srgbClr val="1F6F5F"/>
                </a:solidFill>
              </a:rPr>
              <a:t>realtime_price.db</a:t>
            </a:r>
          </a:p>
        </p:txBody>
      </p:sp>
      <p:sp>
        <p:nvSpPr>
          <p:cNvPr id="10" name="sqlite-rt-body">
            <a:extLst xmlns:a="http://schemas.openxmlformats.org/drawingml/2006/main">
              <a:ext uri="{FF2B5EF4-FFF2-40B4-BE49-F238E27FC236}">
                <a16:creationId xmlns:a16="http://schemas.microsoft.com/office/drawing/2014/main" id="{DF37B58C-3640-4EE2-A8AF-8727C5CB8D2F}"/>
              </a:ext>
            </a:extLst>
          </p:cNvPr>
          <p:cNvSpPr>
            <a:spLocks xmlns:a="http://schemas.openxmlformats.org/drawingml/2006/main" noGrp="1"/>
          </p:cNvSpPr>
          <p:nvPr/>
        </p:nvSpPr>
        <p:spPr>
          <a:xfrm xmlns:a="http://schemas.openxmlformats.org/drawingml/2006/main">
            <a:off x="933450" y="40386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06D"/>
                </a:solidFill>
              </a:defRPr>
            </a:pPr>
            <a:r>
              <a:rPr sz="1350" b="0">
                <a:solidFill>
                  <a:srgbClr val="62706D"/>
                </a:solidFill>
              </a:rPr>
              <a:t>latest · history · runs</a:t>
            </a:r>
          </a:p>
        </p:txBody>
      </p:sp>
      <p:sp>
        <p:nvSpPr>
          <p:cNvPr id="11" name="sqlite-reliability">
            <a:extLst xmlns:a="http://schemas.openxmlformats.org/drawingml/2006/main">
              <a:ext uri="{FF2B5EF4-FFF2-40B4-BE49-F238E27FC236}">
                <a16:creationId xmlns:a16="http://schemas.microsoft.com/office/drawing/2014/main" id="{2DD38293-FB4B-4D45-AF92-F1411A249F41}"/>
              </a:ext>
            </a:extLst>
          </p:cNvPr>
          <p:cNvSpPr>
            <a:spLocks xmlns:a="http://schemas.openxmlformats.org/drawingml/2006/main" noGrp="1"/>
          </p:cNvSpPr>
          <p:nvPr/>
        </p:nvSpPr>
        <p:spPr>
          <a:xfrm xmlns:a="http://schemas.openxmlformats.org/drawingml/2006/main">
            <a:off x="933450" y="472440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6B4D"/>
                </a:solidFill>
              </a:defRPr>
            </a:pPr>
            <a:r>
              <a:rPr sz="1275" b="1">
                <a:solidFill>
                  <a:srgbClr val="D66B4D"/>
                </a:solidFill>
              </a:rPr>
              <a:t>Lecture seule Streamlit · 6 retries · busy_timeout · WAL</a:t>
            </a:r>
          </a:p>
        </p:txBody>
      </p:sp>
      <p:sp>
        <p:nvSpPr>
          <p:cNvPr id="12" name="mongo-panel">
            <a:extLst xmlns:a="http://schemas.openxmlformats.org/drawingml/2006/main">
              <a:ext uri="{FF2B5EF4-FFF2-40B4-BE49-F238E27FC236}">
                <a16:creationId xmlns:a16="http://schemas.microsoft.com/office/drawing/2014/main" id="{380FF732-EB0A-4FA6-A81E-88522E4169FC}"/>
              </a:ext>
            </a:extLst>
          </p:cNvPr>
          <p:cNvSpPr>
            <a:spLocks xmlns:a="http://schemas.openxmlformats.org/drawingml/2006/main" noGrp="1"/>
          </p:cNvSpPr>
          <p:nvPr/>
        </p:nvSpPr>
        <p:spPr>
          <a:xfrm xmlns:a="http://schemas.openxmlformats.org/drawingml/2006/main">
            <a:off x="6819900" y="1657350"/>
            <a:ext cx="4762500" cy="3638550"/>
          </a:xfrm>
          <a:prstGeom xmlns:a="http://schemas.openxmlformats.org/drawingml/2006/main" prst="roundRect">
            <a:avLst>
              <a:gd name="adj" fmla="val 5759"/>
            </a:avLst>
          </a:prstGeom>
          <a:solidFill xmlns:a="http://schemas.openxmlformats.org/drawingml/2006/main">
            <a:srgbClr val="153D3A"/>
          </a:solidFill>
          <a:ln xmlns:a="http://schemas.openxmlformats.org/drawingml/2006/main" w="11430">
            <a:solidFill>
              <a:srgbClr val="153D3A"/>
            </a:solidFill>
            <a:prstDash val="solid"/>
          </a:ln>
        </p:spPr>
      </p:sp>
      <p:sp>
        <p:nvSpPr>
          <p:cNvPr id="13" name="mongo-name">
            <a:extLst xmlns:a="http://schemas.openxmlformats.org/drawingml/2006/main">
              <a:ext uri="{FF2B5EF4-FFF2-40B4-BE49-F238E27FC236}">
                <a16:creationId xmlns:a16="http://schemas.microsoft.com/office/drawing/2014/main" id="{87B2DADA-9765-42AA-9175-35397A4A2870}"/>
              </a:ext>
            </a:extLst>
          </p:cNvPr>
          <p:cNvSpPr>
            <a:spLocks xmlns:a="http://schemas.openxmlformats.org/drawingml/2006/main" noGrp="1"/>
          </p:cNvSpPr>
          <p:nvPr/>
        </p:nvSpPr>
        <p:spPr>
          <a:xfrm xmlns:a="http://schemas.openxmlformats.org/drawingml/2006/main">
            <a:off x="7143750" y="19812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MongoDB</a:t>
            </a:r>
          </a:p>
        </p:txBody>
      </p:sp>
      <p:sp>
        <p:nvSpPr>
          <p:cNvPr id="14" name="mongo-body">
            <a:extLst xmlns:a="http://schemas.openxmlformats.org/drawingml/2006/main">
              <a:ext uri="{FF2B5EF4-FFF2-40B4-BE49-F238E27FC236}">
                <a16:creationId xmlns:a16="http://schemas.microsoft.com/office/drawing/2014/main" id="{798637F1-1748-4DC3-A341-D03CED18A21D}"/>
              </a:ext>
            </a:extLst>
          </p:cNvPr>
          <p:cNvSpPr>
            <a:spLocks xmlns:a="http://schemas.openxmlformats.org/drawingml/2006/main" noGrp="1"/>
          </p:cNvSpPr>
          <p:nvPr/>
        </p:nvSpPr>
        <p:spPr>
          <a:xfrm xmlns:a="http://schemas.openxmlformats.org/drawingml/2006/main">
            <a:off x="7143750" y="2705100"/>
            <a:ext cx="3810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DCEDE7"/>
                </a:solidFill>
              </a:defRPr>
            </a:pPr>
            <a:r>
              <a:rPr sz="1575" b="0">
                <a:solidFill>
                  <a:srgbClr val="DCEDE7"/>
                </a:solidFill>
              </a:rPr>
              <a:t>Brut de collecte</a:t>
            </a:r>
          </a:p>
          <a:p xmlns:a="http://schemas.openxmlformats.org/drawingml/2006/main">
            <a:pPr algn="l">
              <a:defRPr sz="1575" b="0">
                <a:solidFill>
                  <a:srgbClr val="DCEDE7"/>
                </a:solidFill>
              </a:defRPr>
            </a:pPr>
            <a:r>
              <a:rPr sz="1575" b="0">
                <a:solidFill>
                  <a:srgbClr val="DCEDE7"/>
                </a:solidFill>
              </a:rPr>
              <a:t>Observations idempotentes</a:t>
            </a:r>
          </a:p>
          <a:p xmlns:a="http://schemas.openxmlformats.org/drawingml/2006/main">
            <a:pPr algn="l">
              <a:defRPr sz="1575" b="0">
                <a:solidFill>
                  <a:srgbClr val="DCEDE7"/>
                </a:solidFill>
              </a:defRPr>
            </a:pPr>
            <a:r>
              <a:rPr sz="1575" b="0">
                <a:solidFill>
                  <a:srgbClr val="DCEDE7"/>
                </a:solidFill>
              </a:rPr>
              <a:t>Dernier état</a:t>
            </a:r>
          </a:p>
          <a:p xmlns:a="http://schemas.openxmlformats.org/drawingml/2006/main">
            <a:pPr algn="l">
              <a:defRPr sz="1575" b="0">
                <a:solidFill>
                  <a:srgbClr val="DCEDE7"/>
                </a:solidFill>
              </a:defRPr>
            </a:pPr>
            <a:r>
              <a:rPr sz="1575" b="0">
                <a:solidFill>
                  <a:srgbClr val="DCEDE7"/>
                </a:solidFill>
              </a:rPr>
              <a:t>Miroirs documentaires ciblés</a:t>
            </a:r>
          </a:p>
        </p:txBody>
      </p:sp>
      <p:sp>
        <p:nvSpPr>
          <p:cNvPr id="15" name="mongo-warning">
            <a:extLst xmlns:a="http://schemas.openxmlformats.org/drawingml/2006/main">
              <a:ext uri="{FF2B5EF4-FFF2-40B4-BE49-F238E27FC236}">
                <a16:creationId xmlns:a16="http://schemas.microsoft.com/office/drawing/2014/main" id="{3BDA59E9-8DAB-45E7-8548-E79E2CBB5FE8}"/>
              </a:ext>
            </a:extLst>
          </p:cNvPr>
          <p:cNvSpPr>
            <a:spLocks xmlns:a="http://schemas.openxmlformats.org/drawingml/2006/main" noGrp="1"/>
          </p:cNvSpPr>
          <p:nvPr/>
        </p:nvSpPr>
        <p:spPr>
          <a:xfrm xmlns:a="http://schemas.openxmlformats.org/drawingml/2006/main">
            <a:off x="7143750" y="472440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E8D9BF"/>
                </a:solidFill>
              </a:defRPr>
            </a:pPr>
            <a:r>
              <a:rPr sz="1275" b="1">
                <a:solidFill>
                  <a:srgbClr val="E8D9BF"/>
                </a:solidFill>
              </a:rPr>
              <a:t>Complément documentaire — pas unique source de vérité</a:t>
            </a:r>
          </a:p>
        </p:txBody>
      </p:sp>
      <p:sp>
        <p:nvSpPr>
          <p:cNvPr id="16" name="contract">
            <a:extLst xmlns:a="http://schemas.openxmlformats.org/drawingml/2006/main">
              <a:ext uri="{FF2B5EF4-FFF2-40B4-BE49-F238E27FC236}">
                <a16:creationId xmlns:a16="http://schemas.microsoft.com/office/drawing/2014/main" id="{1F068224-E467-494C-A943-361C84FF0DA5}"/>
              </a:ext>
            </a:extLst>
          </p:cNvPr>
          <p:cNvSpPr>
            <a:spLocks xmlns:a="http://schemas.openxmlformats.org/drawingml/2006/main" noGrp="1"/>
          </p:cNvSpPr>
          <p:nvPr/>
        </p:nvSpPr>
        <p:spPr>
          <a:xfrm xmlns:a="http://schemas.openxmlformats.org/drawingml/2006/main">
            <a:off x="4343400" y="5562600"/>
            <a:ext cx="3524250" cy="495300"/>
          </a:xfrm>
          <a:prstGeom xmlns:a="http://schemas.openxmlformats.org/drawingml/2006/main" prst="roundRect">
            <a:avLst>
              <a:gd name="adj" fmla="val 26923"/>
            </a:avLst>
          </a:prstGeom>
          <a:solidFill xmlns:a="http://schemas.openxmlformats.org/drawingml/2006/main">
            <a:srgbClr val="1F6F5F"/>
          </a:solidFill>
          <a:ln xmlns:a="http://schemas.openxmlformats.org/drawingml/2006/main" w="11430">
            <a:solidFill>
              <a:srgbClr val="1F6F5F"/>
            </a:solidFill>
            <a:prstDash val="solid"/>
          </a:ln>
        </p:spPr>
      </p:sp>
      <p:sp>
        <p:nvSpPr>
          <p:cNvPr id="17" name="contract-t">
            <a:extLst xmlns:a="http://schemas.openxmlformats.org/drawingml/2006/main">
              <a:ext uri="{FF2B5EF4-FFF2-40B4-BE49-F238E27FC236}">
                <a16:creationId xmlns:a16="http://schemas.microsoft.com/office/drawing/2014/main" id="{17D5A5A3-0B41-4258-A6D0-0D0E84CC264D}"/>
              </a:ext>
            </a:extLst>
          </p:cNvPr>
          <p:cNvSpPr>
            <a:spLocks xmlns:a="http://schemas.openxmlformats.org/drawingml/2006/main" noGrp="1"/>
          </p:cNvSpPr>
          <p:nvPr/>
        </p:nvSpPr>
        <p:spPr>
          <a:xfrm xmlns:a="http://schemas.openxmlformats.org/drawingml/2006/main">
            <a:off x="4581525" y="56864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defRPr>
            </a:pPr>
            <a:r>
              <a:rPr sz="1425" b="1">
                <a:solidFill>
                  <a:srgbClr val="FFFFFF"/>
                </a:solidFill>
              </a:rPr>
              <a:t>Contrat canonique commun</a:t>
            </a:r>
          </a:p>
        </p:txBody>
      </p:sp>
    </p:spTree>
    <p:extLst>
      <p:ext uri="{BB962C8B-B14F-4D97-AF65-F5344CB8AC3E}">
        <p14:creationId xmlns:p14="http://schemas.microsoft.com/office/powerpoint/2010/main" val="974182471"/>
      </p:ext>
    </p:extLst>
  </p:cSld>
</p:sld>
</file>

<file path=ppt/slides/slide15.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2" name="kicker-15">
            <a:extLst xmlns:a="http://schemas.openxmlformats.org/drawingml/2006/main">
              <a:ext uri="{FF2B5EF4-FFF2-40B4-BE49-F238E27FC236}">
                <a16:creationId xmlns:a16="http://schemas.microsoft.com/office/drawing/2014/main" id="{1A70C616-9882-4D25-AEE5-CD75D6A1DAAE}"/>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FIABILITÉ LOCALE</a:t>
            </a:r>
          </a:p>
        </p:txBody>
      </p:sp>
      <p:sp>
        <p:nvSpPr>
          <p:cNvPr id="2" name="title-15">
            <a:extLst xmlns:a="http://schemas.openxmlformats.org/drawingml/2006/main">
              <a:ext uri="{FF2B5EF4-FFF2-40B4-BE49-F238E27FC236}">
                <a16:creationId xmlns:a16="http://schemas.microsoft.com/office/drawing/2014/main" id="{22B34C6B-A272-4C7D-B887-E224CA007321}"/>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SQLite reste fiable grâce à une discipline de lecture et d’écriture</a:t>
            </a:r>
          </a:p>
        </p:txBody>
      </p:sp>
      <p:sp>
        <p:nvSpPr>
          <p:cNvPr id="3" name="rule-15">
            <a:extLst xmlns:a="http://schemas.openxmlformats.org/drawingml/2006/main">
              <a:ext uri="{FF2B5EF4-FFF2-40B4-BE49-F238E27FC236}">
                <a16:creationId xmlns:a16="http://schemas.microsoft.com/office/drawing/2014/main" id="{D3EB66F8-AB1B-46DA-9440-8DB9F69BD76F}"/>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5">
            <a:extLst xmlns:a="http://schemas.openxmlformats.org/drawingml/2006/main">
              <a:ext uri="{FF2B5EF4-FFF2-40B4-BE49-F238E27FC236}">
                <a16:creationId xmlns:a16="http://schemas.microsoft.com/office/drawing/2014/main" id="{3042F5E7-07AD-4FD7-AA6C-C6B842068F10}"/>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15</a:t>
            </a:r>
          </a:p>
        </p:txBody>
      </p:sp>
      <p:sp>
        <p:nvSpPr>
          <p:cNvPr id="5" name="sqlr-0">
            <a:extLst xmlns:a="http://schemas.openxmlformats.org/drawingml/2006/main">
              <a:ext uri="{FF2B5EF4-FFF2-40B4-BE49-F238E27FC236}">
                <a16:creationId xmlns:a16="http://schemas.microsoft.com/office/drawing/2014/main" id="{CC3A2C3C-7E4A-4ABD-82AA-5CC19E0F6358}"/>
              </a:ext>
            </a:extLst>
          </p:cNvPr>
          <p:cNvSpPr>
            <a:spLocks xmlns:a="http://schemas.openxmlformats.org/drawingml/2006/main" noGrp="1"/>
          </p:cNvSpPr>
          <p:nvPr/>
        </p:nvSpPr>
        <p:spPr>
          <a:xfrm xmlns:a="http://schemas.openxmlformats.org/drawingml/2006/main">
            <a:off x="609600" y="1809750"/>
            <a:ext cx="5143500" cy="1371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C8D5D1"/>
            </a:solidFill>
            <a:prstDash val="solid"/>
          </a:ln>
        </p:spPr>
      </p:sp>
      <p:sp>
        <p:nvSpPr>
          <p:cNvPr id="6" name="sqlr-a-0">
            <a:extLst xmlns:a="http://schemas.openxmlformats.org/drawingml/2006/main">
              <a:ext uri="{FF2B5EF4-FFF2-40B4-BE49-F238E27FC236}">
                <a16:creationId xmlns:a16="http://schemas.microsoft.com/office/drawing/2014/main" id="{28263D7E-B8E8-4245-BA6E-33A25E05BCBD}"/>
              </a:ext>
            </a:extLst>
          </p:cNvPr>
          <p:cNvSpPr>
            <a:spLocks xmlns:a="http://schemas.openxmlformats.org/drawingml/2006/main" noGrp="1"/>
          </p:cNvSpPr>
          <p:nvPr/>
        </p:nvSpPr>
        <p:spPr>
          <a:xfrm xmlns:a="http://schemas.openxmlformats.org/drawingml/2006/main">
            <a:off x="609600" y="1809750"/>
            <a:ext cx="114300" cy="1371600"/>
          </a:xfrm>
          <a:prstGeom xmlns:a="http://schemas.openxmlformats.org/drawingml/2006/main" prst="roundRect">
            <a:avLst>
              <a:gd name="adj" fmla="val 41667"/>
            </a:avLst>
          </a:prstGeom>
          <a:solidFill xmlns:a="http://schemas.openxmlformats.org/drawingml/2006/main">
            <a:srgbClr val="1F6F5F"/>
          </a:solidFill>
          <a:ln xmlns:a="http://schemas.openxmlformats.org/drawingml/2006/main" w="11430">
            <a:solidFill>
              <a:srgbClr val="1F6F5F"/>
            </a:solidFill>
            <a:prstDash val="solid"/>
          </a:ln>
        </p:spPr>
      </p:sp>
      <p:sp>
        <p:nvSpPr>
          <p:cNvPr id="7" name="sqlr-h-0">
            <a:extLst xmlns:a="http://schemas.openxmlformats.org/drawingml/2006/main">
              <a:ext uri="{FF2B5EF4-FFF2-40B4-BE49-F238E27FC236}">
                <a16:creationId xmlns:a16="http://schemas.microsoft.com/office/drawing/2014/main" id="{AE710B66-2D73-45F2-A458-979E0082FDDC}"/>
              </a:ext>
            </a:extLst>
          </p:cNvPr>
          <p:cNvSpPr>
            <a:spLocks xmlns:a="http://schemas.openxmlformats.org/drawingml/2006/main" noGrp="1"/>
          </p:cNvSpPr>
          <p:nvPr/>
        </p:nvSpPr>
        <p:spPr>
          <a:xfrm xmlns:a="http://schemas.openxmlformats.org/drawingml/2006/main">
            <a:off x="933450" y="20383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Lecture seule</a:t>
            </a:r>
          </a:p>
        </p:txBody>
      </p:sp>
      <p:sp>
        <p:nvSpPr>
          <p:cNvPr id="8" name="sqlr-b-0">
            <a:extLst xmlns:a="http://schemas.openxmlformats.org/drawingml/2006/main">
              <a:ext uri="{FF2B5EF4-FFF2-40B4-BE49-F238E27FC236}">
                <a16:creationId xmlns:a16="http://schemas.microsoft.com/office/drawing/2014/main" id="{A29CD2D2-9047-4CE4-9818-2294DDB5F2BC}"/>
              </a:ext>
            </a:extLst>
          </p:cNvPr>
          <p:cNvSpPr>
            <a:spLocks xmlns:a="http://schemas.openxmlformats.org/drawingml/2006/main" noGrp="1"/>
          </p:cNvSpPr>
          <p:nvPr/>
        </p:nvSpPr>
        <p:spPr>
          <a:xfrm xmlns:a="http://schemas.openxmlformats.org/drawingml/2006/main">
            <a:off x="2933700" y="20193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Streamlit ouvre les bases avec query_only</a:t>
            </a:r>
          </a:p>
        </p:txBody>
      </p:sp>
      <p:sp>
        <p:nvSpPr>
          <p:cNvPr id="9" name="sqlr-1">
            <a:extLst xmlns:a="http://schemas.openxmlformats.org/drawingml/2006/main">
              <a:ext uri="{FF2B5EF4-FFF2-40B4-BE49-F238E27FC236}">
                <a16:creationId xmlns:a16="http://schemas.microsoft.com/office/drawing/2014/main" id="{730D07BC-98E6-4012-80F2-48401CADDF73}"/>
              </a:ext>
            </a:extLst>
          </p:cNvPr>
          <p:cNvSpPr>
            <a:spLocks xmlns:a="http://schemas.openxmlformats.org/drawingml/2006/main" noGrp="1"/>
          </p:cNvSpPr>
          <p:nvPr/>
        </p:nvSpPr>
        <p:spPr>
          <a:xfrm xmlns:a="http://schemas.openxmlformats.org/drawingml/2006/main">
            <a:off x="6096000" y="1809750"/>
            <a:ext cx="5143500" cy="1371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C8D5D1"/>
            </a:solidFill>
            <a:prstDash val="solid"/>
          </a:ln>
        </p:spPr>
      </p:sp>
      <p:sp>
        <p:nvSpPr>
          <p:cNvPr id="10" name="sqlr-a-1">
            <a:extLst xmlns:a="http://schemas.openxmlformats.org/drawingml/2006/main">
              <a:ext uri="{FF2B5EF4-FFF2-40B4-BE49-F238E27FC236}">
                <a16:creationId xmlns:a16="http://schemas.microsoft.com/office/drawing/2014/main" id="{549D71DF-40C3-4AF1-9A97-A8980FFEE436}"/>
              </a:ext>
            </a:extLst>
          </p:cNvPr>
          <p:cNvSpPr>
            <a:spLocks xmlns:a="http://schemas.openxmlformats.org/drawingml/2006/main" noGrp="1"/>
          </p:cNvSpPr>
          <p:nvPr/>
        </p:nvSpPr>
        <p:spPr>
          <a:xfrm xmlns:a="http://schemas.openxmlformats.org/drawingml/2006/main">
            <a:off x="6096000" y="1809750"/>
            <a:ext cx="114300" cy="1371600"/>
          </a:xfrm>
          <a:prstGeom xmlns:a="http://schemas.openxmlformats.org/drawingml/2006/main" prst="roundRect">
            <a:avLst>
              <a:gd name="adj" fmla="val 41667"/>
            </a:avLst>
          </a:prstGeom>
          <a:solidFill xmlns:a="http://schemas.openxmlformats.org/drawingml/2006/main">
            <a:srgbClr val="3C7891"/>
          </a:solidFill>
          <a:ln xmlns:a="http://schemas.openxmlformats.org/drawingml/2006/main" w="11430">
            <a:solidFill>
              <a:srgbClr val="3C7891"/>
            </a:solidFill>
            <a:prstDash val="solid"/>
          </a:ln>
        </p:spPr>
      </p:sp>
      <p:sp>
        <p:nvSpPr>
          <p:cNvPr id="11" name="sqlr-h-1">
            <a:extLst xmlns:a="http://schemas.openxmlformats.org/drawingml/2006/main">
              <a:ext uri="{FF2B5EF4-FFF2-40B4-BE49-F238E27FC236}">
                <a16:creationId xmlns:a16="http://schemas.microsoft.com/office/drawing/2014/main" id="{AB6D2080-B0C7-476B-A6B8-4FB529C30492}"/>
              </a:ext>
            </a:extLst>
          </p:cNvPr>
          <p:cNvSpPr>
            <a:spLocks xmlns:a="http://schemas.openxmlformats.org/drawingml/2006/main" noGrp="1"/>
          </p:cNvSpPr>
          <p:nvPr/>
        </p:nvSpPr>
        <p:spPr>
          <a:xfrm xmlns:a="http://schemas.openxmlformats.org/drawingml/2006/main">
            <a:off x="6419850" y="20383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Retries</a:t>
            </a:r>
          </a:p>
        </p:txBody>
      </p:sp>
      <p:sp>
        <p:nvSpPr>
          <p:cNvPr id="12" name="sqlr-b-1">
            <a:extLst xmlns:a="http://schemas.openxmlformats.org/drawingml/2006/main">
              <a:ext uri="{FF2B5EF4-FFF2-40B4-BE49-F238E27FC236}">
                <a16:creationId xmlns:a16="http://schemas.microsoft.com/office/drawing/2014/main" id="{637F1958-AE1C-4891-AFD5-0D205DF07ADD}"/>
              </a:ext>
            </a:extLst>
          </p:cNvPr>
          <p:cNvSpPr>
            <a:spLocks xmlns:a="http://schemas.openxmlformats.org/drawingml/2006/main" noGrp="1"/>
          </p:cNvSpPr>
          <p:nvPr/>
        </p:nvSpPr>
        <p:spPr>
          <a:xfrm xmlns:a="http://schemas.openxmlformats.org/drawingml/2006/main">
            <a:off x="8420100" y="20193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six tentatives avec délai croissant</a:t>
            </a:r>
          </a:p>
        </p:txBody>
      </p:sp>
      <p:sp>
        <p:nvSpPr>
          <p:cNvPr id="13" name="sqlr-2">
            <a:extLst xmlns:a="http://schemas.openxmlformats.org/drawingml/2006/main">
              <a:ext uri="{FF2B5EF4-FFF2-40B4-BE49-F238E27FC236}">
                <a16:creationId xmlns:a16="http://schemas.microsoft.com/office/drawing/2014/main" id="{6C53E94F-7803-40C5-B693-C3E4C1CD16EF}"/>
              </a:ext>
            </a:extLst>
          </p:cNvPr>
          <p:cNvSpPr>
            <a:spLocks xmlns:a="http://schemas.openxmlformats.org/drawingml/2006/main" noGrp="1"/>
          </p:cNvSpPr>
          <p:nvPr/>
        </p:nvSpPr>
        <p:spPr>
          <a:xfrm xmlns:a="http://schemas.openxmlformats.org/drawingml/2006/main">
            <a:off x="609600" y="3524250"/>
            <a:ext cx="5143500" cy="1371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C8D5D1"/>
            </a:solidFill>
            <a:prstDash val="solid"/>
          </a:ln>
        </p:spPr>
      </p:sp>
      <p:sp>
        <p:nvSpPr>
          <p:cNvPr id="14" name="sqlr-a-2">
            <a:extLst xmlns:a="http://schemas.openxmlformats.org/drawingml/2006/main">
              <a:ext uri="{FF2B5EF4-FFF2-40B4-BE49-F238E27FC236}">
                <a16:creationId xmlns:a16="http://schemas.microsoft.com/office/drawing/2014/main" id="{979C9153-E957-4A03-A3E9-EB470DA774A5}"/>
              </a:ext>
            </a:extLst>
          </p:cNvPr>
          <p:cNvSpPr>
            <a:spLocks xmlns:a="http://schemas.openxmlformats.org/drawingml/2006/main" noGrp="1"/>
          </p:cNvSpPr>
          <p:nvPr/>
        </p:nvSpPr>
        <p:spPr>
          <a:xfrm xmlns:a="http://schemas.openxmlformats.org/drawingml/2006/main">
            <a:off x="609600" y="3524250"/>
            <a:ext cx="114300" cy="1371600"/>
          </a:xfrm>
          <a:prstGeom xmlns:a="http://schemas.openxmlformats.org/drawingml/2006/main" prst="roundRect">
            <a:avLst>
              <a:gd name="adj" fmla="val 41667"/>
            </a:avLst>
          </a:prstGeom>
          <a:solidFill xmlns:a="http://schemas.openxmlformats.org/drawingml/2006/main">
            <a:srgbClr val="D66B4D"/>
          </a:solidFill>
          <a:ln xmlns:a="http://schemas.openxmlformats.org/drawingml/2006/main" w="11430">
            <a:solidFill>
              <a:srgbClr val="D66B4D"/>
            </a:solidFill>
            <a:prstDash val="solid"/>
          </a:ln>
        </p:spPr>
      </p:sp>
      <p:sp>
        <p:nvSpPr>
          <p:cNvPr id="15" name="sqlr-h-2">
            <a:extLst xmlns:a="http://schemas.openxmlformats.org/drawingml/2006/main">
              <a:ext uri="{FF2B5EF4-FFF2-40B4-BE49-F238E27FC236}">
                <a16:creationId xmlns:a16="http://schemas.microsoft.com/office/drawing/2014/main" id="{4379F497-7742-41F8-A4C7-55B59E88C823}"/>
              </a:ext>
            </a:extLst>
          </p:cNvPr>
          <p:cNvSpPr>
            <a:spLocks xmlns:a="http://schemas.openxmlformats.org/drawingml/2006/main" noGrp="1"/>
          </p:cNvSpPr>
          <p:nvPr/>
        </p:nvSpPr>
        <p:spPr>
          <a:xfrm xmlns:a="http://schemas.openxmlformats.org/drawingml/2006/main">
            <a:off x="933450" y="37528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busy_timeout</a:t>
            </a:r>
          </a:p>
        </p:txBody>
      </p:sp>
      <p:sp>
        <p:nvSpPr>
          <p:cNvPr id="16" name="sqlr-b-2">
            <a:extLst xmlns:a="http://schemas.openxmlformats.org/drawingml/2006/main">
              <a:ext uri="{FF2B5EF4-FFF2-40B4-BE49-F238E27FC236}">
                <a16:creationId xmlns:a16="http://schemas.microsoft.com/office/drawing/2014/main" id="{4EA9E435-B457-4CE4-B794-A094D8CCE12E}"/>
              </a:ext>
            </a:extLst>
          </p:cNvPr>
          <p:cNvSpPr>
            <a:spLocks xmlns:a="http://schemas.openxmlformats.org/drawingml/2006/main" noGrp="1"/>
          </p:cNvSpPr>
          <p:nvPr/>
        </p:nvSpPr>
        <p:spPr>
          <a:xfrm xmlns:a="http://schemas.openxmlformats.org/drawingml/2006/main">
            <a:off x="2933700" y="37338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attend jusqu’à 30 secondes en cas de verrou</a:t>
            </a:r>
          </a:p>
        </p:txBody>
      </p:sp>
      <p:sp>
        <p:nvSpPr>
          <p:cNvPr id="17" name="sqlr-3">
            <a:extLst xmlns:a="http://schemas.openxmlformats.org/drawingml/2006/main">
              <a:ext uri="{FF2B5EF4-FFF2-40B4-BE49-F238E27FC236}">
                <a16:creationId xmlns:a16="http://schemas.microsoft.com/office/drawing/2014/main" id="{1DCF6A36-BC34-48E0-9570-AA001C409759}"/>
              </a:ext>
            </a:extLst>
          </p:cNvPr>
          <p:cNvSpPr>
            <a:spLocks xmlns:a="http://schemas.openxmlformats.org/drawingml/2006/main" noGrp="1"/>
          </p:cNvSpPr>
          <p:nvPr/>
        </p:nvSpPr>
        <p:spPr>
          <a:xfrm xmlns:a="http://schemas.openxmlformats.org/drawingml/2006/main">
            <a:off x="6096000" y="3524250"/>
            <a:ext cx="5143500" cy="1371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C8D5D1"/>
            </a:solidFill>
            <a:prstDash val="solid"/>
          </a:ln>
        </p:spPr>
      </p:sp>
      <p:sp>
        <p:nvSpPr>
          <p:cNvPr id="18" name="sqlr-a-3">
            <a:extLst xmlns:a="http://schemas.openxmlformats.org/drawingml/2006/main">
              <a:ext uri="{FF2B5EF4-FFF2-40B4-BE49-F238E27FC236}">
                <a16:creationId xmlns:a16="http://schemas.microsoft.com/office/drawing/2014/main" id="{058EC6FC-FF27-4101-A1C7-367496DB799E}"/>
              </a:ext>
            </a:extLst>
          </p:cNvPr>
          <p:cNvSpPr>
            <a:spLocks xmlns:a="http://schemas.openxmlformats.org/drawingml/2006/main" noGrp="1"/>
          </p:cNvSpPr>
          <p:nvPr/>
        </p:nvSpPr>
        <p:spPr>
          <a:xfrm xmlns:a="http://schemas.openxmlformats.org/drawingml/2006/main">
            <a:off x="6096000" y="3524250"/>
            <a:ext cx="114300" cy="1371600"/>
          </a:xfrm>
          <a:prstGeom xmlns:a="http://schemas.openxmlformats.org/drawingml/2006/main" prst="roundRect">
            <a:avLst>
              <a:gd name="adj" fmla="val 41667"/>
            </a:avLst>
          </a:prstGeom>
          <a:solidFill xmlns:a="http://schemas.openxmlformats.org/drawingml/2006/main">
            <a:srgbClr val="153D3A"/>
          </a:solidFill>
          <a:ln xmlns:a="http://schemas.openxmlformats.org/drawingml/2006/main" w="11430">
            <a:solidFill>
              <a:srgbClr val="153D3A"/>
            </a:solidFill>
            <a:prstDash val="solid"/>
          </a:ln>
        </p:spPr>
      </p:sp>
      <p:sp>
        <p:nvSpPr>
          <p:cNvPr id="19" name="sqlr-h-3">
            <a:extLst xmlns:a="http://schemas.openxmlformats.org/drawingml/2006/main">
              <a:ext uri="{FF2B5EF4-FFF2-40B4-BE49-F238E27FC236}">
                <a16:creationId xmlns:a16="http://schemas.microsoft.com/office/drawing/2014/main" id="{7A0CB309-CD16-4482-8650-230C10101151}"/>
              </a:ext>
            </a:extLst>
          </p:cNvPr>
          <p:cNvSpPr>
            <a:spLocks xmlns:a="http://schemas.openxmlformats.org/drawingml/2006/main" noGrp="1"/>
          </p:cNvSpPr>
          <p:nvPr/>
        </p:nvSpPr>
        <p:spPr>
          <a:xfrm xmlns:a="http://schemas.openxmlformats.org/drawingml/2006/main">
            <a:off x="6419850" y="37528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WAL</a:t>
            </a:r>
          </a:p>
        </p:txBody>
      </p:sp>
      <p:sp>
        <p:nvSpPr>
          <p:cNvPr id="20" name="sqlr-b-3">
            <a:extLst xmlns:a="http://schemas.openxmlformats.org/drawingml/2006/main">
              <a:ext uri="{FF2B5EF4-FFF2-40B4-BE49-F238E27FC236}">
                <a16:creationId xmlns:a16="http://schemas.microsoft.com/office/drawing/2014/main" id="{1A528DCA-2319-43CB-A82F-4A2634C2726E}"/>
              </a:ext>
            </a:extLst>
          </p:cNvPr>
          <p:cNvSpPr>
            <a:spLocks xmlns:a="http://schemas.openxmlformats.org/drawingml/2006/main" noGrp="1"/>
          </p:cNvSpPr>
          <p:nvPr/>
        </p:nvSpPr>
        <p:spPr>
          <a:xfrm xmlns:a="http://schemas.openxmlformats.org/drawingml/2006/main">
            <a:off x="8420100" y="37338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sépare mieux lectures et écriture du worker</a:t>
            </a:r>
          </a:p>
        </p:txBody>
      </p:sp>
      <p:sp>
        <p:nvSpPr>
          <p:cNvPr id="21" name="sqlr-foot">
            <a:extLst xmlns:a="http://schemas.openxmlformats.org/drawingml/2006/main">
              <a:ext uri="{FF2B5EF4-FFF2-40B4-BE49-F238E27FC236}">
                <a16:creationId xmlns:a16="http://schemas.microsoft.com/office/drawing/2014/main" id="{69E2C11C-2DD8-4783-950C-39E5D330DF45}"/>
              </a:ext>
            </a:extLst>
          </p:cNvPr>
          <p:cNvSpPr>
            <a:spLocks xmlns:a="http://schemas.openxmlformats.org/drawingml/2006/main" noGrp="1"/>
          </p:cNvSpPr>
          <p:nvPr/>
        </p:nvSpPr>
        <p:spPr>
          <a:xfrm xmlns:a="http://schemas.openxmlformats.org/drawingml/2006/main">
            <a:off x="1619250" y="5562600"/>
            <a:ext cx="895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F6F5F"/>
                </a:solidFill>
              </a:defRPr>
            </a:pPr>
            <a:r>
              <a:rPr sz="1575" b="1">
                <a:solidFill>
                  <a:srgbClr val="1F6F5F"/>
                </a:solidFill>
              </a:rPr>
              <a:t>Deux fichiers isolent les lectures analytiques des écritures périodiques.</a:t>
            </a:r>
          </a:p>
        </p:txBody>
      </p:sp>
    </p:spTree>
    <p:extLst>
      <p:ext uri="{BB962C8B-B14F-4D97-AF65-F5344CB8AC3E}">
        <p14:creationId xmlns:p14="http://schemas.microsoft.com/office/powerpoint/2010/main" val="2130764245"/>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8" name="kicker-16">
            <a:extLst xmlns:a="http://schemas.openxmlformats.org/drawingml/2006/main">
              <a:ext uri="{FF2B5EF4-FFF2-40B4-BE49-F238E27FC236}">
                <a16:creationId xmlns:a16="http://schemas.microsoft.com/office/drawing/2014/main" id="{A68842D9-AA8D-46A5-8135-8BD5E5C09382}"/>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MODÈLE MONGODB</a:t>
            </a:r>
          </a:p>
        </p:txBody>
      </p:sp>
      <p:sp>
        <p:nvSpPr>
          <p:cNvPr id="2" name="title-16">
            <a:extLst xmlns:a="http://schemas.openxmlformats.org/drawingml/2006/main">
              <a:ext uri="{FF2B5EF4-FFF2-40B4-BE49-F238E27FC236}">
                <a16:creationId xmlns:a16="http://schemas.microsoft.com/office/drawing/2014/main" id="{E096ADB5-E3D7-4FDA-A055-722505D7411A}"/>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MongoDB conserve trois niveaux documentaires complémentaires</a:t>
            </a:r>
          </a:p>
        </p:txBody>
      </p:sp>
      <p:sp>
        <p:nvSpPr>
          <p:cNvPr id="3" name="rule-16">
            <a:extLst xmlns:a="http://schemas.openxmlformats.org/drawingml/2006/main">
              <a:ext uri="{FF2B5EF4-FFF2-40B4-BE49-F238E27FC236}">
                <a16:creationId xmlns:a16="http://schemas.microsoft.com/office/drawing/2014/main" id="{3AEBB1A3-1C29-44FB-AD2E-03F5EF6CA8EF}"/>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6">
            <a:extLst xmlns:a="http://schemas.openxmlformats.org/drawingml/2006/main">
              <a:ext uri="{FF2B5EF4-FFF2-40B4-BE49-F238E27FC236}">
                <a16:creationId xmlns:a16="http://schemas.microsoft.com/office/drawing/2014/main" id="{1394F55F-76A0-4ECF-AF91-BFBD6E8A34D4}"/>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16</a:t>
            </a:r>
          </a:p>
        </p:txBody>
      </p:sp>
      <p:sp>
        <p:nvSpPr>
          <p:cNvPr id="5" name="mg-0">
            <a:extLst xmlns:a="http://schemas.openxmlformats.org/drawingml/2006/main">
              <a:ext uri="{FF2B5EF4-FFF2-40B4-BE49-F238E27FC236}">
                <a16:creationId xmlns:a16="http://schemas.microsoft.com/office/drawing/2014/main" id="{9B818546-5023-4376-97AE-8787BD5EC53F}"/>
              </a:ext>
            </a:extLst>
          </p:cNvPr>
          <p:cNvSpPr>
            <a:spLocks xmlns:a="http://schemas.openxmlformats.org/drawingml/2006/main" noGrp="1"/>
          </p:cNvSpPr>
          <p:nvPr/>
        </p:nvSpPr>
        <p:spPr>
          <a:xfrm xmlns:a="http://schemas.openxmlformats.org/drawingml/2006/main">
            <a:off x="609600" y="1809750"/>
            <a:ext cx="3276600" cy="314325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1430">
            <a:solidFill>
              <a:srgbClr val="C8D5D1"/>
            </a:solidFill>
            <a:prstDash val="solid"/>
          </a:ln>
        </p:spPr>
      </p:sp>
      <p:sp>
        <p:nvSpPr>
          <p:cNvPr id="6" name="mg-h-0">
            <a:extLst xmlns:a="http://schemas.openxmlformats.org/drawingml/2006/main">
              <a:ext uri="{FF2B5EF4-FFF2-40B4-BE49-F238E27FC236}">
                <a16:creationId xmlns:a16="http://schemas.microsoft.com/office/drawing/2014/main" id="{14F36D21-3371-4B29-95FB-D23F13BF2F9C}"/>
              </a:ext>
            </a:extLst>
          </p:cNvPr>
          <p:cNvSpPr>
            <a:spLocks xmlns:a="http://schemas.openxmlformats.org/drawingml/2006/main" noGrp="1"/>
          </p:cNvSpPr>
          <p:nvPr/>
        </p:nvSpPr>
        <p:spPr>
          <a:xfrm xmlns:a="http://schemas.openxmlformats.org/drawingml/2006/main">
            <a:off x="876300" y="2152650"/>
            <a:ext cx="2743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2A"/>
                </a:solidFill>
              </a:defRPr>
            </a:pPr>
            <a:r>
              <a:rPr sz="2025" b="1">
                <a:solidFill>
                  <a:srgbClr val="102A2A"/>
                </a:solidFill>
              </a:rPr>
              <a:t>raw_runs</a:t>
            </a:r>
          </a:p>
        </p:txBody>
      </p:sp>
      <p:sp>
        <p:nvSpPr>
          <p:cNvPr id="7" name="mg-b-0">
            <a:extLst xmlns:a="http://schemas.openxmlformats.org/drawingml/2006/main">
              <a:ext uri="{FF2B5EF4-FFF2-40B4-BE49-F238E27FC236}">
                <a16:creationId xmlns:a16="http://schemas.microsoft.com/office/drawing/2014/main" id="{5842C5D2-46B9-4C62-86CF-0E62E4765E31}"/>
              </a:ext>
            </a:extLst>
          </p:cNvPr>
          <p:cNvSpPr>
            <a:spLocks xmlns:a="http://schemas.openxmlformats.org/drawingml/2006/main" noGrp="1"/>
          </p:cNvSpPr>
          <p:nvPr/>
        </p:nvSpPr>
        <p:spPr>
          <a:xfrm xmlns:a="http://schemas.openxmlformats.org/drawingml/2006/main">
            <a:off x="876300" y="2952750"/>
            <a:ext cx="2743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2706D"/>
                </a:solidFill>
              </a:defRPr>
            </a:pPr>
            <a:r>
              <a:rPr sz="1500" b="0">
                <a:solidFill>
                  <a:srgbClr val="62706D"/>
                </a:solidFill>
              </a:rPr>
              <a:t>une trace brute par run</a:t>
            </a:r>
          </a:p>
        </p:txBody>
      </p:sp>
      <p:sp>
        <p:nvSpPr>
          <p:cNvPr id="8" name="mg-c-0">
            <a:extLst xmlns:a="http://schemas.openxmlformats.org/drawingml/2006/main">
              <a:ext uri="{FF2B5EF4-FFF2-40B4-BE49-F238E27FC236}">
                <a16:creationId xmlns:a16="http://schemas.microsoft.com/office/drawing/2014/main" id="{DCBFDB0E-0DDF-488E-BC89-13406EE55DE9}"/>
              </a:ext>
            </a:extLst>
          </p:cNvPr>
          <p:cNvSpPr>
            <a:spLocks xmlns:a="http://schemas.openxmlformats.org/drawingml/2006/main" noGrp="1"/>
          </p:cNvSpPr>
          <p:nvPr/>
        </p:nvSpPr>
        <p:spPr>
          <a:xfrm xmlns:a="http://schemas.openxmlformats.org/drawingml/2006/main">
            <a:off x="876300" y="4095750"/>
            <a:ext cx="274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6B4D"/>
                </a:solidFill>
              </a:defRPr>
            </a:pPr>
            <a:r>
              <a:rPr sz="1275" b="1">
                <a:solidFill>
                  <a:srgbClr val="D66B4D"/>
                </a:solidFill>
              </a:rPr>
              <a:t>debug du parsing</a:t>
            </a:r>
          </a:p>
        </p:txBody>
      </p:sp>
      <p:sp>
        <p:nvSpPr>
          <p:cNvPr id="9" name="mg-1">
            <a:extLst xmlns:a="http://schemas.openxmlformats.org/drawingml/2006/main">
              <a:ext uri="{FF2B5EF4-FFF2-40B4-BE49-F238E27FC236}">
                <a16:creationId xmlns:a16="http://schemas.microsoft.com/office/drawing/2014/main" id="{AE7A4684-07BB-4F22-8352-04DA61EAA16B}"/>
              </a:ext>
            </a:extLst>
          </p:cNvPr>
          <p:cNvSpPr>
            <a:spLocks xmlns:a="http://schemas.openxmlformats.org/drawingml/2006/main" noGrp="1"/>
          </p:cNvSpPr>
          <p:nvPr/>
        </p:nvSpPr>
        <p:spPr>
          <a:xfrm xmlns:a="http://schemas.openxmlformats.org/drawingml/2006/main">
            <a:off x="4267200" y="1809750"/>
            <a:ext cx="3276600" cy="3143250"/>
          </a:xfrm>
          <a:prstGeom xmlns:a="http://schemas.openxmlformats.org/drawingml/2006/main" prst="roundRect">
            <a:avLst>
              <a:gd name="adj" fmla="val 6061"/>
            </a:avLst>
          </a:prstGeom>
          <a:solidFill xmlns:a="http://schemas.openxmlformats.org/drawingml/2006/main">
            <a:srgbClr val="153D3A"/>
          </a:solidFill>
          <a:ln xmlns:a="http://schemas.openxmlformats.org/drawingml/2006/main" w="11430">
            <a:solidFill>
              <a:srgbClr val="153D3A"/>
            </a:solidFill>
            <a:prstDash val="solid"/>
          </a:ln>
        </p:spPr>
      </p:sp>
      <p:sp>
        <p:nvSpPr>
          <p:cNvPr id="10" name="mg-h-1">
            <a:extLst xmlns:a="http://schemas.openxmlformats.org/drawingml/2006/main">
              <a:ext uri="{FF2B5EF4-FFF2-40B4-BE49-F238E27FC236}">
                <a16:creationId xmlns:a16="http://schemas.microsoft.com/office/drawing/2014/main" id="{8972CC57-C6C6-4AEC-BE35-00A5CF373B90}"/>
              </a:ext>
            </a:extLst>
          </p:cNvPr>
          <p:cNvSpPr>
            <a:spLocks xmlns:a="http://schemas.openxmlformats.org/drawingml/2006/main" noGrp="1"/>
          </p:cNvSpPr>
          <p:nvPr/>
        </p:nvSpPr>
        <p:spPr>
          <a:xfrm xmlns:a="http://schemas.openxmlformats.org/drawingml/2006/main">
            <a:off x="4533900" y="2152650"/>
            <a:ext cx="2743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defRPr>
            </a:pPr>
            <a:r>
              <a:rPr sz="2025" b="1">
                <a:solidFill>
                  <a:srgbClr val="FFFFFF"/>
                </a:solidFill>
              </a:rPr>
              <a:t>observations</a:t>
            </a:r>
          </a:p>
        </p:txBody>
      </p:sp>
      <p:sp>
        <p:nvSpPr>
          <p:cNvPr id="11" name="mg-b-1">
            <a:extLst xmlns:a="http://schemas.openxmlformats.org/drawingml/2006/main">
              <a:ext uri="{FF2B5EF4-FFF2-40B4-BE49-F238E27FC236}">
                <a16:creationId xmlns:a16="http://schemas.microsoft.com/office/drawing/2014/main" id="{E81C884E-5B47-4C18-8F9B-6605FEBF82F4}"/>
              </a:ext>
            </a:extLst>
          </p:cNvPr>
          <p:cNvSpPr>
            <a:spLocks xmlns:a="http://schemas.openxmlformats.org/drawingml/2006/main" noGrp="1"/>
          </p:cNvSpPr>
          <p:nvPr/>
        </p:nvSpPr>
        <p:spPr>
          <a:xfrm xmlns:a="http://schemas.openxmlformats.org/drawingml/2006/main">
            <a:off x="4533900" y="2952750"/>
            <a:ext cx="2743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DCEDE7"/>
                </a:solidFill>
              </a:defRPr>
            </a:pPr>
            <a:r>
              <a:rPr sz="1500" b="0">
                <a:solidFill>
                  <a:srgbClr val="DCEDE7"/>
                </a:solidFill>
              </a:rPr>
              <a:t>une métrique par collecte</a:t>
            </a:r>
          </a:p>
        </p:txBody>
      </p:sp>
      <p:sp>
        <p:nvSpPr>
          <p:cNvPr id="12" name="mg-c-1">
            <a:extLst xmlns:a="http://schemas.openxmlformats.org/drawingml/2006/main">
              <a:ext uri="{FF2B5EF4-FFF2-40B4-BE49-F238E27FC236}">
                <a16:creationId xmlns:a16="http://schemas.microsoft.com/office/drawing/2014/main" id="{C3F0ADF4-78AA-444E-BD48-1C38EB3468EA}"/>
              </a:ext>
            </a:extLst>
          </p:cNvPr>
          <p:cNvSpPr>
            <a:spLocks xmlns:a="http://schemas.openxmlformats.org/drawingml/2006/main" noGrp="1"/>
          </p:cNvSpPr>
          <p:nvPr/>
        </p:nvSpPr>
        <p:spPr>
          <a:xfrm xmlns:a="http://schemas.openxmlformats.org/drawingml/2006/main">
            <a:off x="4533900" y="4095750"/>
            <a:ext cx="274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E8D9BF"/>
                </a:solidFill>
              </a:defRPr>
            </a:pPr>
            <a:r>
              <a:rPr sz="1275" b="1">
                <a:solidFill>
                  <a:srgbClr val="E8D9BF"/>
                </a:solidFill>
              </a:rPr>
              <a:t>unicité métrique + date</a:t>
            </a:r>
          </a:p>
        </p:txBody>
      </p:sp>
      <p:sp>
        <p:nvSpPr>
          <p:cNvPr id="13" name="mg-2">
            <a:extLst xmlns:a="http://schemas.openxmlformats.org/drawingml/2006/main">
              <a:ext uri="{FF2B5EF4-FFF2-40B4-BE49-F238E27FC236}">
                <a16:creationId xmlns:a16="http://schemas.microsoft.com/office/drawing/2014/main" id="{02D6CE14-283D-439C-9E6B-8136E5248E91}"/>
              </a:ext>
            </a:extLst>
          </p:cNvPr>
          <p:cNvSpPr>
            <a:spLocks xmlns:a="http://schemas.openxmlformats.org/drawingml/2006/main" noGrp="1"/>
          </p:cNvSpPr>
          <p:nvPr/>
        </p:nvSpPr>
        <p:spPr>
          <a:xfrm xmlns:a="http://schemas.openxmlformats.org/drawingml/2006/main">
            <a:off x="7924800" y="1809750"/>
            <a:ext cx="3276600" cy="314325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1430">
            <a:solidFill>
              <a:srgbClr val="C8D5D1"/>
            </a:solidFill>
            <a:prstDash val="solid"/>
          </a:ln>
        </p:spPr>
      </p:sp>
      <p:sp>
        <p:nvSpPr>
          <p:cNvPr id="14" name="mg-h-2">
            <a:extLst xmlns:a="http://schemas.openxmlformats.org/drawingml/2006/main">
              <a:ext uri="{FF2B5EF4-FFF2-40B4-BE49-F238E27FC236}">
                <a16:creationId xmlns:a16="http://schemas.microsoft.com/office/drawing/2014/main" id="{F76C8309-0FFE-4DFF-B84C-8498EB3BE2C1}"/>
              </a:ext>
            </a:extLst>
          </p:cNvPr>
          <p:cNvSpPr>
            <a:spLocks xmlns:a="http://schemas.openxmlformats.org/drawingml/2006/main" noGrp="1"/>
          </p:cNvSpPr>
          <p:nvPr/>
        </p:nvSpPr>
        <p:spPr>
          <a:xfrm xmlns:a="http://schemas.openxmlformats.org/drawingml/2006/main">
            <a:off x="8191500" y="2152650"/>
            <a:ext cx="2743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2A"/>
                </a:solidFill>
              </a:defRPr>
            </a:pPr>
            <a:r>
              <a:rPr sz="2025" b="1">
                <a:solidFill>
                  <a:srgbClr val="102A2A"/>
                </a:solidFill>
              </a:rPr>
              <a:t>latest</a:t>
            </a:r>
          </a:p>
        </p:txBody>
      </p:sp>
      <p:sp>
        <p:nvSpPr>
          <p:cNvPr id="15" name="mg-b-2">
            <a:extLst xmlns:a="http://schemas.openxmlformats.org/drawingml/2006/main">
              <a:ext uri="{FF2B5EF4-FFF2-40B4-BE49-F238E27FC236}">
                <a16:creationId xmlns:a16="http://schemas.microsoft.com/office/drawing/2014/main" id="{8069ECFB-06C4-4B8A-9C7A-EBD9B037B50A}"/>
              </a:ext>
            </a:extLst>
          </p:cNvPr>
          <p:cNvSpPr>
            <a:spLocks xmlns:a="http://schemas.openxmlformats.org/drawingml/2006/main" noGrp="1"/>
          </p:cNvSpPr>
          <p:nvPr/>
        </p:nvSpPr>
        <p:spPr>
          <a:xfrm xmlns:a="http://schemas.openxmlformats.org/drawingml/2006/main">
            <a:off x="8191500" y="2952750"/>
            <a:ext cx="2743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2706D"/>
                </a:solidFill>
              </a:defRPr>
            </a:pPr>
            <a:r>
              <a:rPr sz="1500" b="0">
                <a:solidFill>
                  <a:srgbClr val="62706D"/>
                </a:solidFill>
              </a:rPr>
              <a:t>dernier état par métrique</a:t>
            </a:r>
          </a:p>
        </p:txBody>
      </p:sp>
      <p:sp>
        <p:nvSpPr>
          <p:cNvPr id="16" name="mg-c-2">
            <a:extLst xmlns:a="http://schemas.openxmlformats.org/drawingml/2006/main">
              <a:ext uri="{FF2B5EF4-FFF2-40B4-BE49-F238E27FC236}">
                <a16:creationId xmlns:a16="http://schemas.microsoft.com/office/drawing/2014/main" id="{BB21F8F6-1CB1-4D18-8820-DFC05AA267E2}"/>
              </a:ext>
            </a:extLst>
          </p:cNvPr>
          <p:cNvSpPr>
            <a:spLocks xmlns:a="http://schemas.openxmlformats.org/drawingml/2006/main" noGrp="1"/>
          </p:cNvSpPr>
          <p:nvPr/>
        </p:nvSpPr>
        <p:spPr>
          <a:xfrm xmlns:a="http://schemas.openxmlformats.org/drawingml/2006/main">
            <a:off x="8191500" y="4095750"/>
            <a:ext cx="274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3C7891"/>
                </a:solidFill>
              </a:defRPr>
            </a:pPr>
            <a:r>
              <a:rPr sz="1275" b="1">
                <a:solidFill>
                  <a:srgbClr val="3C7891"/>
                </a:solidFill>
              </a:rPr>
              <a:t>upsert sur metric_uid</a:t>
            </a:r>
          </a:p>
        </p:txBody>
      </p:sp>
      <p:sp>
        <p:nvSpPr>
          <p:cNvPr id="17" name="mg-foot">
            <a:extLst xmlns:a="http://schemas.openxmlformats.org/drawingml/2006/main">
              <a:ext uri="{FF2B5EF4-FFF2-40B4-BE49-F238E27FC236}">
                <a16:creationId xmlns:a16="http://schemas.microsoft.com/office/drawing/2014/main" id="{E0CCB731-E0A6-4C7B-83F6-4FF31036D022}"/>
              </a:ext>
            </a:extLst>
          </p:cNvPr>
          <p:cNvSpPr>
            <a:spLocks xmlns:a="http://schemas.openxmlformats.org/drawingml/2006/main" noGrp="1"/>
          </p:cNvSpPr>
          <p:nvPr/>
        </p:nvSpPr>
        <p:spPr>
          <a:xfrm xmlns:a="http://schemas.openxmlformats.org/drawingml/2006/main">
            <a:off x="1333500" y="5524500"/>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D66B4D"/>
                </a:solidFill>
              </a:defRPr>
            </a:pPr>
            <a:r>
              <a:rPr sz="1500" b="1">
                <a:solidFill>
                  <a:srgbClr val="D66B4D"/>
                </a:solidFill>
              </a:rPr>
              <a:t>Les index uniques rendent les rejeux idempotents, mais la double écriture n’est pas atomique.</a:t>
            </a:r>
          </a:p>
        </p:txBody>
      </p:sp>
    </p:spTree>
    <p:extLst>
      <p:ext uri="{BB962C8B-B14F-4D97-AF65-F5344CB8AC3E}">
        <p14:creationId xmlns:p14="http://schemas.microsoft.com/office/powerpoint/2010/main" val="976311995"/>
      </p:ext>
    </p:extLst>
  </p:cSld>
</p:sld>
</file>

<file path=ppt/slides/slide17.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7" name="kicker-17">
            <a:extLst xmlns:a="http://schemas.openxmlformats.org/drawingml/2006/main">
              <a:ext uri="{FF2B5EF4-FFF2-40B4-BE49-F238E27FC236}">
                <a16:creationId xmlns:a16="http://schemas.microsoft.com/office/drawing/2014/main" id="{B0BC8625-1F0C-400C-85A6-72FB00CF611C}"/>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POLLING ET SIMULATION</a:t>
            </a:r>
          </a:p>
        </p:txBody>
      </p:sp>
      <p:sp>
        <p:nvSpPr>
          <p:cNvPr id="2" name="title-17">
            <a:extLst xmlns:a="http://schemas.openxmlformats.org/drawingml/2006/main">
              <a:ext uri="{FF2B5EF4-FFF2-40B4-BE49-F238E27FC236}">
                <a16:creationId xmlns:a16="http://schemas.microsoft.com/office/drawing/2014/main" id="{1E73B12D-E0D7-4CD9-8C77-704871E35320}"/>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Le “temps réel” est une collecte périodique contrôlée</a:t>
            </a:r>
          </a:p>
        </p:txBody>
      </p:sp>
      <p:sp>
        <p:nvSpPr>
          <p:cNvPr id="3" name="rule-17">
            <a:extLst xmlns:a="http://schemas.openxmlformats.org/drawingml/2006/main">
              <a:ext uri="{FF2B5EF4-FFF2-40B4-BE49-F238E27FC236}">
                <a16:creationId xmlns:a16="http://schemas.microsoft.com/office/drawing/2014/main" id="{4C14B032-E3F6-46B4-BC29-3EBAACAB687C}"/>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7">
            <a:extLst xmlns:a="http://schemas.openxmlformats.org/drawingml/2006/main">
              <a:ext uri="{FF2B5EF4-FFF2-40B4-BE49-F238E27FC236}">
                <a16:creationId xmlns:a16="http://schemas.microsoft.com/office/drawing/2014/main" id="{C9C5E56E-9874-4956-A4F1-77DFC5DB0EE9}"/>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17</a:t>
            </a:r>
          </a:p>
        </p:txBody>
      </p:sp>
      <p:sp>
        <p:nvSpPr>
          <p:cNvPr id="5" name="rt-a1">
            <a:extLst xmlns:a="http://schemas.openxmlformats.org/drawingml/2006/main">
              <a:ext uri="{FF2B5EF4-FFF2-40B4-BE49-F238E27FC236}">
                <a16:creationId xmlns:a16="http://schemas.microsoft.com/office/drawing/2014/main" id="{A5E046B1-36EA-40C0-990A-86A19F115C8D}"/>
              </a:ext>
            </a:extLst>
          </p:cNvPr>
          <p:cNvSpPr>
            <a:spLocks xmlns:a="http://schemas.openxmlformats.org/drawingml/2006/main" noGrp="1"/>
          </p:cNvSpPr>
          <p:nvPr/>
        </p:nvSpPr>
        <p:spPr>
          <a:xfrm xmlns:a="http://schemas.openxmlformats.org/drawingml/2006/main">
            <a:off x="2381250" y="2628900"/>
            <a:ext cx="133350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6" name="rt-a2">
            <a:extLst xmlns:a="http://schemas.openxmlformats.org/drawingml/2006/main">
              <a:ext uri="{FF2B5EF4-FFF2-40B4-BE49-F238E27FC236}">
                <a16:creationId xmlns:a16="http://schemas.microsoft.com/office/drawing/2014/main" id="{5D8F0EF3-D9EB-4CD1-9ED1-13EC86E271D9}"/>
              </a:ext>
            </a:extLst>
          </p:cNvPr>
          <p:cNvSpPr>
            <a:spLocks xmlns:a="http://schemas.openxmlformats.org/drawingml/2006/main" noGrp="1"/>
          </p:cNvSpPr>
          <p:nvPr/>
        </p:nvSpPr>
        <p:spPr>
          <a:xfrm xmlns:a="http://schemas.openxmlformats.org/drawingml/2006/main">
            <a:off x="5715000" y="2628900"/>
            <a:ext cx="133350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7" name="rt-a3">
            <a:extLst xmlns:a="http://schemas.openxmlformats.org/drawingml/2006/main">
              <a:ext uri="{FF2B5EF4-FFF2-40B4-BE49-F238E27FC236}">
                <a16:creationId xmlns:a16="http://schemas.microsoft.com/office/drawing/2014/main" id="{CDCC55F0-2E64-4E40-9615-835F6D4AF52C}"/>
              </a:ext>
            </a:extLst>
          </p:cNvPr>
          <p:cNvSpPr>
            <a:spLocks xmlns:a="http://schemas.openxmlformats.org/drawingml/2006/main" noGrp="1"/>
          </p:cNvSpPr>
          <p:nvPr/>
        </p:nvSpPr>
        <p:spPr>
          <a:xfrm xmlns:a="http://schemas.openxmlformats.org/drawingml/2006/main">
            <a:off x="9048750" y="2628900"/>
            <a:ext cx="1190625"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8" name="rt-node-0">
            <a:extLst xmlns:a="http://schemas.openxmlformats.org/drawingml/2006/main">
              <a:ext uri="{FF2B5EF4-FFF2-40B4-BE49-F238E27FC236}">
                <a16:creationId xmlns:a16="http://schemas.microsoft.com/office/drawing/2014/main" id="{1AA00DC3-D13F-42E4-B7FF-B206F1425F90}"/>
              </a:ext>
            </a:extLst>
          </p:cNvPr>
          <p:cNvSpPr>
            <a:spLocks xmlns:a="http://schemas.openxmlformats.org/drawingml/2006/main" noGrp="1"/>
          </p:cNvSpPr>
          <p:nvPr/>
        </p:nvSpPr>
        <p:spPr>
          <a:xfrm xmlns:a="http://schemas.openxmlformats.org/drawingml/2006/main">
            <a:off x="685800" y="2038350"/>
            <a:ext cx="2000250" cy="1181100"/>
          </a:xfrm>
          <a:prstGeom xmlns:a="http://schemas.openxmlformats.org/drawingml/2006/main" prst="roundRect">
            <a:avLst>
              <a:gd name="adj" fmla="val 14516"/>
            </a:avLst>
          </a:prstGeom>
          <a:solidFill xmlns:a="http://schemas.openxmlformats.org/drawingml/2006/main">
            <a:srgbClr val="FFFFFF"/>
          </a:solidFill>
          <a:ln xmlns:a="http://schemas.openxmlformats.org/drawingml/2006/main" w="11430">
            <a:solidFill>
              <a:srgbClr val="C8D5D1"/>
            </a:solidFill>
            <a:prstDash val="solid"/>
          </a:ln>
        </p:spPr>
      </p:sp>
      <p:sp>
        <p:nvSpPr>
          <p:cNvPr id="9" name="rt-h-0">
            <a:extLst xmlns:a="http://schemas.openxmlformats.org/drawingml/2006/main">
              <a:ext uri="{FF2B5EF4-FFF2-40B4-BE49-F238E27FC236}">
                <a16:creationId xmlns:a16="http://schemas.microsoft.com/office/drawing/2014/main" id="{94445E6B-79E6-4AC6-9449-8401BAAB63A0}"/>
              </a:ext>
            </a:extLst>
          </p:cNvPr>
          <p:cNvSpPr>
            <a:spLocks xmlns:a="http://schemas.openxmlformats.org/drawingml/2006/main" noGrp="1"/>
          </p:cNvSpPr>
          <p:nvPr/>
        </p:nvSpPr>
        <p:spPr>
          <a:xfrm xmlns:a="http://schemas.openxmlformats.org/drawingml/2006/main">
            <a:off x="819150" y="22669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02A2A"/>
                </a:solidFill>
              </a:defRPr>
            </a:pPr>
            <a:r>
              <a:rPr sz="1350" b="1">
                <a:solidFill>
                  <a:srgbClr val="102A2A"/>
                </a:solidFill>
              </a:rPr>
              <a:t>Page HTML INSEE</a:t>
            </a:r>
          </a:p>
        </p:txBody>
      </p:sp>
      <p:sp>
        <p:nvSpPr>
          <p:cNvPr id="10" name="rt-b-0">
            <a:extLst xmlns:a="http://schemas.openxmlformats.org/drawingml/2006/main">
              <a:ext uri="{FF2B5EF4-FFF2-40B4-BE49-F238E27FC236}">
                <a16:creationId xmlns:a16="http://schemas.microsoft.com/office/drawing/2014/main" id="{CCF9BB82-0C91-45CD-8BB6-B06F9163CCCE}"/>
              </a:ext>
            </a:extLst>
          </p:cNvPr>
          <p:cNvSpPr>
            <a:spLocks xmlns:a="http://schemas.openxmlformats.org/drawingml/2006/main" noGrp="1"/>
          </p:cNvSpPr>
          <p:nvPr/>
        </p:nvSpPr>
        <p:spPr>
          <a:xfrm xmlns:a="http://schemas.openxmlformats.org/drawingml/2006/main">
            <a:off x="819150" y="26860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2706D"/>
                </a:solidFill>
              </a:defRPr>
            </a:pPr>
            <a:r>
              <a:rPr sz="1125" b="0">
                <a:solidFill>
                  <a:srgbClr val="62706D"/>
                </a:solidFill>
              </a:rPr>
              <a:t>indices trimestriels</a:t>
            </a:r>
          </a:p>
        </p:txBody>
      </p:sp>
      <p:sp>
        <p:nvSpPr>
          <p:cNvPr id="11" name="rt-node-1">
            <a:extLst xmlns:a="http://schemas.openxmlformats.org/drawingml/2006/main">
              <a:ext uri="{FF2B5EF4-FFF2-40B4-BE49-F238E27FC236}">
                <a16:creationId xmlns:a16="http://schemas.microsoft.com/office/drawing/2014/main" id="{3B803C32-4CAA-4452-9909-1FEB879A4194}"/>
              </a:ext>
            </a:extLst>
          </p:cNvPr>
          <p:cNvSpPr>
            <a:spLocks xmlns:a="http://schemas.openxmlformats.org/drawingml/2006/main" noGrp="1"/>
          </p:cNvSpPr>
          <p:nvPr/>
        </p:nvSpPr>
        <p:spPr>
          <a:xfrm xmlns:a="http://schemas.openxmlformats.org/drawingml/2006/main">
            <a:off x="3714750" y="2038350"/>
            <a:ext cx="2000250" cy="1181100"/>
          </a:xfrm>
          <a:prstGeom xmlns:a="http://schemas.openxmlformats.org/drawingml/2006/main" prst="roundRect">
            <a:avLst>
              <a:gd name="adj" fmla="val 14516"/>
            </a:avLst>
          </a:prstGeom>
          <a:solidFill xmlns:a="http://schemas.openxmlformats.org/drawingml/2006/main">
            <a:srgbClr val="153D3A"/>
          </a:solidFill>
          <a:ln xmlns:a="http://schemas.openxmlformats.org/drawingml/2006/main" w="11430">
            <a:solidFill>
              <a:srgbClr val="153D3A"/>
            </a:solidFill>
            <a:prstDash val="solid"/>
          </a:ln>
        </p:spPr>
      </p:sp>
      <p:sp>
        <p:nvSpPr>
          <p:cNvPr id="12" name="rt-h-1">
            <a:extLst xmlns:a="http://schemas.openxmlformats.org/drawingml/2006/main">
              <a:ext uri="{FF2B5EF4-FFF2-40B4-BE49-F238E27FC236}">
                <a16:creationId xmlns:a16="http://schemas.microsoft.com/office/drawing/2014/main" id="{5626F959-1C0E-4B2A-8DC6-E327226D3579}"/>
              </a:ext>
            </a:extLst>
          </p:cNvPr>
          <p:cNvSpPr>
            <a:spLocks xmlns:a="http://schemas.openxmlformats.org/drawingml/2006/main" noGrp="1"/>
          </p:cNvSpPr>
          <p:nvPr/>
        </p:nvSpPr>
        <p:spPr>
          <a:xfrm xmlns:a="http://schemas.openxmlformats.org/drawingml/2006/main">
            <a:off x="3848100" y="22669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Worker / 300 s</a:t>
            </a:r>
          </a:p>
        </p:txBody>
      </p:sp>
      <p:sp>
        <p:nvSpPr>
          <p:cNvPr id="13" name="rt-b-1">
            <a:extLst xmlns:a="http://schemas.openxmlformats.org/drawingml/2006/main">
              <a:ext uri="{FF2B5EF4-FFF2-40B4-BE49-F238E27FC236}">
                <a16:creationId xmlns:a16="http://schemas.microsoft.com/office/drawing/2014/main" id="{815F15CF-2DB8-458A-8035-C9A5A4520F8A}"/>
              </a:ext>
            </a:extLst>
          </p:cNvPr>
          <p:cNvSpPr>
            <a:spLocks xmlns:a="http://schemas.openxmlformats.org/drawingml/2006/main" noGrp="1"/>
          </p:cNvSpPr>
          <p:nvPr/>
        </p:nvSpPr>
        <p:spPr>
          <a:xfrm xmlns:a="http://schemas.openxmlformats.org/drawingml/2006/main">
            <a:off x="3848100" y="26860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DCEDE7"/>
                </a:solidFill>
              </a:defRPr>
            </a:pPr>
            <a:r>
              <a:rPr sz="1125" b="0">
                <a:solidFill>
                  <a:srgbClr val="DCEDE7"/>
                </a:solidFill>
              </a:rPr>
              <a:t>scraping + DQ</a:t>
            </a:r>
          </a:p>
        </p:txBody>
      </p:sp>
      <p:sp>
        <p:nvSpPr>
          <p:cNvPr id="14" name="rt-node-2">
            <a:extLst xmlns:a="http://schemas.openxmlformats.org/drawingml/2006/main">
              <a:ext uri="{FF2B5EF4-FFF2-40B4-BE49-F238E27FC236}">
                <a16:creationId xmlns:a16="http://schemas.microsoft.com/office/drawing/2014/main" id="{95D42C5E-5179-4248-8A49-44B635D1603F}"/>
              </a:ext>
            </a:extLst>
          </p:cNvPr>
          <p:cNvSpPr>
            <a:spLocks xmlns:a="http://schemas.openxmlformats.org/drawingml/2006/main" noGrp="1"/>
          </p:cNvSpPr>
          <p:nvPr/>
        </p:nvSpPr>
        <p:spPr>
          <a:xfrm xmlns:a="http://schemas.openxmlformats.org/drawingml/2006/main">
            <a:off x="7048500" y="2038350"/>
            <a:ext cx="2000250" cy="1181100"/>
          </a:xfrm>
          <a:prstGeom xmlns:a="http://schemas.openxmlformats.org/drawingml/2006/main" prst="roundRect">
            <a:avLst>
              <a:gd name="adj" fmla="val 14516"/>
            </a:avLst>
          </a:prstGeom>
          <a:solidFill xmlns:a="http://schemas.openxmlformats.org/drawingml/2006/main">
            <a:srgbClr val="FFFFFF"/>
          </a:solidFill>
          <a:ln xmlns:a="http://schemas.openxmlformats.org/drawingml/2006/main" w="11430">
            <a:solidFill>
              <a:srgbClr val="C8D5D1"/>
            </a:solidFill>
            <a:prstDash val="solid"/>
          </a:ln>
        </p:spPr>
      </p:sp>
      <p:sp>
        <p:nvSpPr>
          <p:cNvPr id="15" name="rt-h-2">
            <a:extLst xmlns:a="http://schemas.openxmlformats.org/drawingml/2006/main">
              <a:ext uri="{FF2B5EF4-FFF2-40B4-BE49-F238E27FC236}">
                <a16:creationId xmlns:a16="http://schemas.microsoft.com/office/drawing/2014/main" id="{B209421F-FCA3-455B-AF7D-538EC91D3976}"/>
              </a:ext>
            </a:extLst>
          </p:cNvPr>
          <p:cNvSpPr>
            <a:spLocks xmlns:a="http://schemas.openxmlformats.org/drawingml/2006/main" noGrp="1"/>
          </p:cNvSpPr>
          <p:nvPr/>
        </p:nvSpPr>
        <p:spPr>
          <a:xfrm xmlns:a="http://schemas.openxmlformats.org/drawingml/2006/main">
            <a:off x="7181850" y="22669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02A2A"/>
                </a:solidFill>
              </a:defRPr>
            </a:pPr>
            <a:r>
              <a:rPr sz="1350" b="1">
                <a:solidFill>
                  <a:srgbClr val="102A2A"/>
                </a:solidFill>
              </a:rPr>
              <a:t>Double écriture</a:t>
            </a:r>
          </a:p>
        </p:txBody>
      </p:sp>
      <p:sp>
        <p:nvSpPr>
          <p:cNvPr id="16" name="rt-b-2">
            <a:extLst xmlns:a="http://schemas.openxmlformats.org/drawingml/2006/main">
              <a:ext uri="{FF2B5EF4-FFF2-40B4-BE49-F238E27FC236}">
                <a16:creationId xmlns:a16="http://schemas.microsoft.com/office/drawing/2014/main" id="{D2848896-6A4D-4D08-BECD-70A4D9CBEC7F}"/>
              </a:ext>
            </a:extLst>
          </p:cNvPr>
          <p:cNvSpPr>
            <a:spLocks xmlns:a="http://schemas.openxmlformats.org/drawingml/2006/main" noGrp="1"/>
          </p:cNvSpPr>
          <p:nvPr/>
        </p:nvSpPr>
        <p:spPr>
          <a:xfrm xmlns:a="http://schemas.openxmlformats.org/drawingml/2006/main">
            <a:off x="7181850" y="26860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2706D"/>
                </a:solidFill>
              </a:defRPr>
            </a:pPr>
            <a:r>
              <a:rPr sz="1125" b="0">
                <a:solidFill>
                  <a:srgbClr val="62706D"/>
                </a:solidFill>
              </a:rPr>
              <a:t>SQLite puis MongoDB</a:t>
            </a:r>
          </a:p>
        </p:txBody>
      </p:sp>
      <p:sp>
        <p:nvSpPr>
          <p:cNvPr id="17" name="rt-node-3">
            <a:extLst xmlns:a="http://schemas.openxmlformats.org/drawingml/2006/main">
              <a:ext uri="{FF2B5EF4-FFF2-40B4-BE49-F238E27FC236}">
                <a16:creationId xmlns:a16="http://schemas.microsoft.com/office/drawing/2014/main" id="{ED4999FD-EA05-46CC-A308-D6D90173596F}"/>
              </a:ext>
            </a:extLst>
          </p:cNvPr>
          <p:cNvSpPr>
            <a:spLocks xmlns:a="http://schemas.openxmlformats.org/drawingml/2006/main" noGrp="1"/>
          </p:cNvSpPr>
          <p:nvPr/>
        </p:nvSpPr>
        <p:spPr>
          <a:xfrm xmlns:a="http://schemas.openxmlformats.org/drawingml/2006/main">
            <a:off x="10239375" y="2038350"/>
            <a:ext cx="1333500" cy="1181100"/>
          </a:xfrm>
          <a:prstGeom xmlns:a="http://schemas.openxmlformats.org/drawingml/2006/main" prst="roundRect">
            <a:avLst>
              <a:gd name="adj" fmla="val 14516"/>
            </a:avLst>
          </a:prstGeom>
          <a:solidFill xmlns:a="http://schemas.openxmlformats.org/drawingml/2006/main">
            <a:srgbClr val="FFFFFF"/>
          </a:solidFill>
          <a:ln xmlns:a="http://schemas.openxmlformats.org/drawingml/2006/main" w="11430">
            <a:solidFill>
              <a:srgbClr val="C8D5D1"/>
            </a:solidFill>
            <a:prstDash val="solid"/>
          </a:ln>
        </p:spPr>
      </p:sp>
      <p:sp>
        <p:nvSpPr>
          <p:cNvPr id="18" name="rt-h-3">
            <a:extLst xmlns:a="http://schemas.openxmlformats.org/drawingml/2006/main">
              <a:ext uri="{FF2B5EF4-FFF2-40B4-BE49-F238E27FC236}">
                <a16:creationId xmlns:a16="http://schemas.microsoft.com/office/drawing/2014/main" id="{269EB66C-EA83-4906-8166-33302D11F38D}"/>
              </a:ext>
            </a:extLst>
          </p:cNvPr>
          <p:cNvSpPr>
            <a:spLocks xmlns:a="http://schemas.openxmlformats.org/drawingml/2006/main" noGrp="1"/>
          </p:cNvSpPr>
          <p:nvPr/>
        </p:nvSpPr>
        <p:spPr>
          <a:xfrm xmlns:a="http://schemas.openxmlformats.org/drawingml/2006/main">
            <a:off x="10372725" y="22669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02A2A"/>
                </a:solidFill>
              </a:defRPr>
            </a:pPr>
            <a:r>
              <a:rPr sz="1350" b="1">
                <a:solidFill>
                  <a:srgbClr val="102A2A"/>
                </a:solidFill>
              </a:rPr>
              <a:t>Attente</a:t>
            </a:r>
          </a:p>
        </p:txBody>
      </p:sp>
      <p:sp>
        <p:nvSpPr>
          <p:cNvPr id="19" name="rt-b-3">
            <a:extLst xmlns:a="http://schemas.openxmlformats.org/drawingml/2006/main">
              <a:ext uri="{FF2B5EF4-FFF2-40B4-BE49-F238E27FC236}">
                <a16:creationId xmlns:a16="http://schemas.microsoft.com/office/drawing/2014/main" id="{D26F8679-F922-4388-BB10-12F72FCF3BCE}"/>
              </a:ext>
            </a:extLst>
          </p:cNvPr>
          <p:cNvSpPr>
            <a:spLocks xmlns:a="http://schemas.openxmlformats.org/drawingml/2006/main" noGrp="1"/>
          </p:cNvSpPr>
          <p:nvPr/>
        </p:nvSpPr>
        <p:spPr>
          <a:xfrm xmlns:a="http://schemas.openxmlformats.org/drawingml/2006/main">
            <a:off x="10372725" y="26860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2706D"/>
                </a:solidFill>
              </a:defRPr>
            </a:pPr>
            <a:r>
              <a:rPr sz="1125" b="0">
                <a:solidFill>
                  <a:srgbClr val="62706D"/>
                </a:solidFill>
              </a:rPr>
              <a:t>prochain cycle</a:t>
            </a:r>
          </a:p>
        </p:txBody>
      </p:sp>
      <p:sp>
        <p:nvSpPr>
          <p:cNvPr id="20" name="rt-stores">
            <a:extLst xmlns:a="http://schemas.openxmlformats.org/drawingml/2006/main">
              <a:ext uri="{FF2B5EF4-FFF2-40B4-BE49-F238E27FC236}">
                <a16:creationId xmlns:a16="http://schemas.microsoft.com/office/drawing/2014/main" id="{FADB99F5-260A-4168-9421-02AB41DFAC7E}"/>
              </a:ext>
            </a:extLst>
          </p:cNvPr>
          <p:cNvSpPr>
            <a:spLocks xmlns:a="http://schemas.openxmlformats.org/drawingml/2006/main" noGrp="1"/>
          </p:cNvSpPr>
          <p:nvPr/>
        </p:nvSpPr>
        <p:spPr>
          <a:xfrm xmlns:a="http://schemas.openxmlformats.org/drawingml/2006/main">
            <a:off x="1143000" y="3905250"/>
            <a:ext cx="5905500" cy="1390650"/>
          </a:xfrm>
          <a:prstGeom xmlns:a="http://schemas.openxmlformats.org/drawingml/2006/main" prst="roundRect">
            <a:avLst>
              <a:gd name="adj" fmla="val 12329"/>
            </a:avLst>
          </a:prstGeom>
          <a:solidFill xmlns:a="http://schemas.openxmlformats.org/drawingml/2006/main">
            <a:srgbClr val="DCEDE7"/>
          </a:solidFill>
          <a:ln xmlns:a="http://schemas.openxmlformats.org/drawingml/2006/main" w="11430">
            <a:solidFill>
              <a:srgbClr val="DCEDE7"/>
            </a:solidFill>
            <a:prstDash val="solid"/>
          </a:ln>
        </p:spPr>
      </p:sp>
      <p:sp>
        <p:nvSpPr>
          <p:cNvPr id="21" name="rt-stores-t">
            <a:extLst xmlns:a="http://schemas.openxmlformats.org/drawingml/2006/main">
              <a:ext uri="{FF2B5EF4-FFF2-40B4-BE49-F238E27FC236}">
                <a16:creationId xmlns:a16="http://schemas.microsoft.com/office/drawing/2014/main" id="{36BBD290-292D-4152-ABFC-61C8834A0B5B}"/>
              </a:ext>
            </a:extLst>
          </p:cNvPr>
          <p:cNvSpPr>
            <a:spLocks xmlns:a="http://schemas.openxmlformats.org/drawingml/2006/main" noGrp="1"/>
          </p:cNvSpPr>
          <p:nvPr/>
        </p:nvSpPr>
        <p:spPr>
          <a:xfrm xmlns:a="http://schemas.openxmlformats.org/drawingml/2006/main">
            <a:off x="1428750" y="4171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53D3A"/>
                </a:solidFill>
              </a:defRPr>
            </a:pPr>
            <a:r>
              <a:rPr sz="1650" b="1">
                <a:solidFill>
                  <a:srgbClr val="153D3A"/>
                </a:solidFill>
              </a:rPr>
              <a:t>État et audit</a:t>
            </a:r>
          </a:p>
        </p:txBody>
      </p:sp>
      <p:sp>
        <p:nvSpPr>
          <p:cNvPr id="22" name="rt-stores-b">
            <a:extLst xmlns:a="http://schemas.openxmlformats.org/drawingml/2006/main">
              <a:ext uri="{FF2B5EF4-FFF2-40B4-BE49-F238E27FC236}">
                <a16:creationId xmlns:a16="http://schemas.microsoft.com/office/drawing/2014/main" id="{7397A8E2-0570-44C1-9005-2D3156C81B1A}"/>
              </a:ext>
            </a:extLst>
          </p:cNvPr>
          <p:cNvSpPr>
            <a:spLocks xmlns:a="http://schemas.openxmlformats.org/drawingml/2006/main" noGrp="1"/>
          </p:cNvSpPr>
          <p:nvPr/>
        </p:nvSpPr>
        <p:spPr>
          <a:xfrm xmlns:a="http://schemas.openxmlformats.org/drawingml/2006/main">
            <a:off x="1428750" y="466725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53D3A"/>
                </a:solidFill>
              </a:defRPr>
            </a:pPr>
            <a:r>
              <a:rPr sz="1350" b="0">
                <a:solidFill>
                  <a:srgbClr val="153D3A"/>
                </a:solidFill>
              </a:rPr>
              <a:t>latest = état courant   ·   history = changements   ·   runs = chaque tentative</a:t>
            </a:r>
          </a:p>
        </p:txBody>
      </p:sp>
      <p:sp>
        <p:nvSpPr>
          <p:cNvPr id="23" name="rt-sim">
            <a:extLst xmlns:a="http://schemas.openxmlformats.org/drawingml/2006/main">
              <a:ext uri="{FF2B5EF4-FFF2-40B4-BE49-F238E27FC236}">
                <a16:creationId xmlns:a16="http://schemas.microsoft.com/office/drawing/2014/main" id="{599C5F1B-7351-49A1-85BE-D577D2A11CD3}"/>
              </a:ext>
            </a:extLst>
          </p:cNvPr>
          <p:cNvSpPr>
            <a:spLocks xmlns:a="http://schemas.openxmlformats.org/drawingml/2006/main" noGrp="1"/>
          </p:cNvSpPr>
          <p:nvPr/>
        </p:nvSpPr>
        <p:spPr>
          <a:xfrm xmlns:a="http://schemas.openxmlformats.org/drawingml/2006/main">
            <a:off x="7524750" y="3905250"/>
            <a:ext cx="3714750" cy="1390650"/>
          </a:xfrm>
          <a:prstGeom xmlns:a="http://schemas.openxmlformats.org/drawingml/2006/main" prst="roundRect">
            <a:avLst>
              <a:gd name="adj" fmla="val 12329"/>
            </a:avLst>
          </a:prstGeom>
          <a:solidFill xmlns:a="http://schemas.openxmlformats.org/drawingml/2006/main">
            <a:srgbClr val="FFFFFF"/>
          </a:solidFill>
          <a:ln xmlns:a="http://schemas.openxmlformats.org/drawingml/2006/main" w="11430">
            <a:solidFill>
              <a:srgbClr val="D66B4D"/>
            </a:solidFill>
            <a:prstDash val="solid"/>
          </a:ln>
        </p:spPr>
      </p:sp>
      <p:sp>
        <p:nvSpPr>
          <p:cNvPr id="24" name="rt-sim-t">
            <a:extLst xmlns:a="http://schemas.openxmlformats.org/drawingml/2006/main">
              <a:ext uri="{FF2B5EF4-FFF2-40B4-BE49-F238E27FC236}">
                <a16:creationId xmlns:a16="http://schemas.microsoft.com/office/drawing/2014/main" id="{8DD2072B-954D-4959-AD83-EDB318ACB0AB}"/>
              </a:ext>
            </a:extLst>
          </p:cNvPr>
          <p:cNvSpPr>
            <a:spLocks xmlns:a="http://schemas.openxmlformats.org/drawingml/2006/main" noGrp="1"/>
          </p:cNvSpPr>
          <p:nvPr/>
        </p:nvSpPr>
        <p:spPr>
          <a:xfrm xmlns:a="http://schemas.openxmlformats.org/drawingml/2006/main">
            <a:off x="7810500" y="41719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2A"/>
                </a:solidFill>
              </a:defRPr>
            </a:pPr>
            <a:r>
              <a:rPr sz="1650" b="1">
                <a:solidFill>
                  <a:srgbClr val="102A2A"/>
                </a:solidFill>
              </a:rPr>
              <a:t>Simulation de démonstration</a:t>
            </a:r>
          </a:p>
        </p:txBody>
      </p:sp>
      <p:sp>
        <p:nvSpPr>
          <p:cNvPr id="25" name="rt-sim-b">
            <a:extLst xmlns:a="http://schemas.openxmlformats.org/drawingml/2006/main">
              <a:ext uri="{FF2B5EF4-FFF2-40B4-BE49-F238E27FC236}">
                <a16:creationId xmlns:a16="http://schemas.microsoft.com/office/drawing/2014/main" id="{DEA4FB30-D449-46E5-A4E9-378D421B8999}"/>
              </a:ext>
            </a:extLst>
          </p:cNvPr>
          <p:cNvSpPr>
            <a:spLocks xmlns:a="http://schemas.openxmlformats.org/drawingml/2006/main" noGrp="1"/>
          </p:cNvSpPr>
          <p:nvPr/>
        </p:nvSpPr>
        <p:spPr>
          <a:xfrm xmlns:a="http://schemas.openxmlformats.org/drawingml/2006/main">
            <a:off x="7810500" y="46291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D66B4D"/>
                </a:solidFill>
              </a:defRPr>
            </a:pPr>
            <a:r>
              <a:rPr sz="1350" b="1">
                <a:solidFill>
                  <a:srgbClr val="D66B4D"/>
                </a:solidFill>
              </a:rPr>
              <a:t>30 à 180 points · plusieurs scénarios</a:t>
            </a:r>
          </a:p>
          <a:p xmlns:a="http://schemas.openxmlformats.org/drawingml/2006/main">
            <a:pPr algn="l">
              <a:defRPr sz="1350" b="1">
                <a:solidFill>
                  <a:srgbClr val="D66B4D"/>
                </a:solidFill>
              </a:defRPr>
            </a:pPr>
            <a:r>
              <a:rPr sz="1350" b="1">
                <a:solidFill>
                  <a:srgbClr val="D66B4D"/>
                </a:solidFill>
              </a:rPr>
              <a:t>Jamais écrits dans les bases</a:t>
            </a:r>
          </a:p>
        </p:txBody>
      </p:sp>
      <p:sp>
        <p:nvSpPr>
          <p:cNvPr id="26" name="rt-foot">
            <a:extLst xmlns:a="http://schemas.openxmlformats.org/drawingml/2006/main">
              <a:ext uri="{FF2B5EF4-FFF2-40B4-BE49-F238E27FC236}">
                <a16:creationId xmlns:a16="http://schemas.microsoft.com/office/drawing/2014/main" id="{6F63B8E7-5F08-45D1-981A-62E1FFBE6EBE}"/>
              </a:ext>
            </a:extLst>
          </p:cNvPr>
          <p:cNvSpPr>
            <a:spLocks xmlns:a="http://schemas.openxmlformats.org/drawingml/2006/main" noGrp="1"/>
          </p:cNvSpPr>
          <p:nvPr/>
        </p:nvSpPr>
        <p:spPr>
          <a:xfrm xmlns:a="http://schemas.openxmlformats.org/drawingml/2006/main">
            <a:off x="3000375" y="58102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F6F5F"/>
                </a:solidFill>
              </a:defRPr>
            </a:pPr>
            <a:r>
              <a:rPr sz="1350" b="1">
                <a:solidFill>
                  <a:srgbClr val="1F6F5F"/>
                </a:solidFill>
              </a:rPr>
              <a:t>Fréquence de collecte ≠ fréquence de publication · aucun Kafka</a:t>
            </a:r>
          </a:p>
        </p:txBody>
      </p:sp>
    </p:spTree>
    <p:extLst>
      <p:ext uri="{BB962C8B-B14F-4D97-AF65-F5344CB8AC3E}">
        <p14:creationId xmlns:p14="http://schemas.microsoft.com/office/powerpoint/2010/main" val="1240336544"/>
      </p:ext>
    </p:extLst>
  </p:cSld>
</p:sld>
</file>

<file path=ppt/slides/slide1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5" name="kicker-18">
            <a:extLst xmlns:a="http://schemas.openxmlformats.org/drawingml/2006/main">
              <a:ext uri="{FF2B5EF4-FFF2-40B4-BE49-F238E27FC236}">
                <a16:creationId xmlns:a16="http://schemas.microsoft.com/office/drawing/2014/main" id="{46B1AE06-4227-4253-8B48-DAD7D07709C3}"/>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WORKER ET QUALITÉ</a:t>
            </a:r>
          </a:p>
        </p:txBody>
      </p:sp>
      <p:sp>
        <p:nvSpPr>
          <p:cNvPr id="2" name="title-18">
            <a:extLst xmlns:a="http://schemas.openxmlformats.org/drawingml/2006/main">
              <a:ext uri="{FF2B5EF4-FFF2-40B4-BE49-F238E27FC236}">
                <a16:creationId xmlns:a16="http://schemas.microsoft.com/office/drawing/2014/main" id="{881B23CA-DD99-44AD-AAA1-310809F3D3A1}"/>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Chaque collecte est validée, persistée et auditée</a:t>
            </a:r>
          </a:p>
        </p:txBody>
      </p:sp>
      <p:sp>
        <p:nvSpPr>
          <p:cNvPr id="3" name="rule-18">
            <a:extLst xmlns:a="http://schemas.openxmlformats.org/drawingml/2006/main">
              <a:ext uri="{FF2B5EF4-FFF2-40B4-BE49-F238E27FC236}">
                <a16:creationId xmlns:a16="http://schemas.microsoft.com/office/drawing/2014/main" id="{4BE61CB9-C8F2-42DA-B7D6-4C5AC7C57594}"/>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8">
            <a:extLst xmlns:a="http://schemas.openxmlformats.org/drawingml/2006/main">
              <a:ext uri="{FF2B5EF4-FFF2-40B4-BE49-F238E27FC236}">
                <a16:creationId xmlns:a16="http://schemas.microsoft.com/office/drawing/2014/main" id="{7840AD0D-EBD3-4449-9A0A-BCA4922485B7}"/>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18</a:t>
            </a:r>
          </a:p>
        </p:txBody>
      </p:sp>
      <p:sp>
        <p:nvSpPr>
          <p:cNvPr id="5" name="dq-n-0">
            <a:extLst xmlns:a="http://schemas.openxmlformats.org/drawingml/2006/main">
              <a:ext uri="{FF2B5EF4-FFF2-40B4-BE49-F238E27FC236}">
                <a16:creationId xmlns:a16="http://schemas.microsoft.com/office/drawing/2014/main" id="{54E56534-830F-42C6-8E8F-A2C9FF041EC0}"/>
              </a:ext>
            </a:extLst>
          </p:cNvPr>
          <p:cNvSpPr>
            <a:spLocks xmlns:a="http://schemas.openxmlformats.org/drawingml/2006/main" noGrp="1"/>
          </p:cNvSpPr>
          <p:nvPr/>
        </p:nvSpPr>
        <p:spPr>
          <a:xfrm xmlns:a="http://schemas.openxmlformats.org/drawingml/2006/main">
            <a:off x="685800" y="18097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01</a:t>
            </a:r>
          </a:p>
        </p:txBody>
      </p:sp>
      <p:sp>
        <p:nvSpPr>
          <p:cNvPr id="6" name="dq-a-0">
            <a:extLst xmlns:a="http://schemas.openxmlformats.org/drawingml/2006/main">
              <a:ext uri="{FF2B5EF4-FFF2-40B4-BE49-F238E27FC236}">
                <a16:creationId xmlns:a16="http://schemas.microsoft.com/office/drawing/2014/main" id="{4FEEAB09-F71A-4B3E-8B53-9BBFCAB12564}"/>
              </a:ext>
            </a:extLst>
          </p:cNvPr>
          <p:cNvSpPr>
            <a:spLocks xmlns:a="http://schemas.openxmlformats.org/drawingml/2006/main" noGrp="1"/>
          </p:cNvSpPr>
          <p:nvPr/>
        </p:nvSpPr>
        <p:spPr>
          <a:xfrm xmlns:a="http://schemas.openxmlformats.org/drawingml/2006/main">
            <a:off x="1333500" y="17907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UID</a:t>
            </a:r>
          </a:p>
        </p:txBody>
      </p:sp>
      <p:sp>
        <p:nvSpPr>
          <p:cNvPr id="7" name="dq-b-0">
            <a:extLst xmlns:a="http://schemas.openxmlformats.org/drawingml/2006/main">
              <a:ext uri="{FF2B5EF4-FFF2-40B4-BE49-F238E27FC236}">
                <a16:creationId xmlns:a16="http://schemas.microsoft.com/office/drawing/2014/main" id="{4ED566EA-3ED6-43CA-BF54-A08339E09883}"/>
              </a:ext>
            </a:extLst>
          </p:cNvPr>
          <p:cNvSpPr>
            <a:spLocks xmlns:a="http://schemas.openxmlformats.org/drawingml/2006/main" noGrp="1"/>
          </p:cNvSpPr>
          <p:nvPr/>
        </p:nvSpPr>
        <p:spPr>
          <a:xfrm xmlns:a="http://schemas.openxmlformats.org/drawingml/2006/main">
            <a:off x="3143250" y="1809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06D"/>
                </a:solidFill>
              </a:defRPr>
            </a:pPr>
            <a:r>
              <a:rPr sz="1350" b="0">
                <a:solidFill>
                  <a:srgbClr val="62706D"/>
                </a:solidFill>
              </a:rPr>
              <a:t>non vide</a:t>
            </a:r>
          </a:p>
        </p:txBody>
      </p:sp>
      <p:sp>
        <p:nvSpPr>
          <p:cNvPr id="8" name="dq-l-0">
            <a:extLst xmlns:a="http://schemas.openxmlformats.org/drawingml/2006/main">
              <a:ext uri="{FF2B5EF4-FFF2-40B4-BE49-F238E27FC236}">
                <a16:creationId xmlns:a16="http://schemas.microsoft.com/office/drawing/2014/main" id="{29B9CD92-C9EA-4AC6-88F9-DA0762728940}"/>
              </a:ext>
            </a:extLst>
          </p:cNvPr>
          <p:cNvSpPr>
            <a:spLocks xmlns:a="http://schemas.openxmlformats.org/drawingml/2006/main" noGrp="1"/>
          </p:cNvSpPr>
          <p:nvPr/>
        </p:nvSpPr>
        <p:spPr>
          <a:xfrm xmlns:a="http://schemas.openxmlformats.org/drawingml/2006/main">
            <a:off x="1333500" y="2305050"/>
            <a:ext cx="4572000" cy="0"/>
          </a:xfrm>
          <a:prstGeom xmlns:a="http://schemas.openxmlformats.org/drawingml/2006/main" prst="line">
            <a:avLst/>
          </a:prstGeom>
          <a:noFill xmlns:a="http://schemas.openxmlformats.org/drawingml/2006/main"/>
          <a:ln xmlns:a="http://schemas.openxmlformats.org/drawingml/2006/main" w="9525">
            <a:solidFill>
              <a:srgbClr val="C8D5D1"/>
            </a:solidFill>
            <a:prstDash val="solid"/>
          </a:ln>
        </p:spPr>
      </p:sp>
      <p:sp>
        <p:nvSpPr>
          <p:cNvPr id="9" name="dq-n-1">
            <a:extLst xmlns:a="http://schemas.openxmlformats.org/drawingml/2006/main">
              <a:ext uri="{FF2B5EF4-FFF2-40B4-BE49-F238E27FC236}">
                <a16:creationId xmlns:a16="http://schemas.microsoft.com/office/drawing/2014/main" id="{5625A790-F968-44E0-B978-8421BF3DD1EB}"/>
              </a:ext>
            </a:extLst>
          </p:cNvPr>
          <p:cNvSpPr>
            <a:spLocks xmlns:a="http://schemas.openxmlformats.org/drawingml/2006/main" noGrp="1"/>
          </p:cNvSpPr>
          <p:nvPr/>
        </p:nvSpPr>
        <p:spPr>
          <a:xfrm xmlns:a="http://schemas.openxmlformats.org/drawingml/2006/main">
            <a:off x="685800" y="259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02</a:t>
            </a:r>
          </a:p>
        </p:txBody>
      </p:sp>
      <p:sp>
        <p:nvSpPr>
          <p:cNvPr id="10" name="dq-a-1">
            <a:extLst xmlns:a="http://schemas.openxmlformats.org/drawingml/2006/main">
              <a:ext uri="{FF2B5EF4-FFF2-40B4-BE49-F238E27FC236}">
                <a16:creationId xmlns:a16="http://schemas.microsoft.com/office/drawing/2014/main" id="{0EF0AA20-C631-4C0D-AE27-6D676499577F}"/>
              </a:ext>
            </a:extLst>
          </p:cNvPr>
          <p:cNvSpPr>
            <a:spLocks xmlns:a="http://schemas.openxmlformats.org/drawingml/2006/main" noGrp="1"/>
          </p:cNvSpPr>
          <p:nvPr/>
        </p:nvSpPr>
        <p:spPr>
          <a:xfrm xmlns:a="http://schemas.openxmlformats.org/drawingml/2006/main">
            <a:off x="1333500" y="2571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Période</a:t>
            </a:r>
          </a:p>
        </p:txBody>
      </p:sp>
      <p:sp>
        <p:nvSpPr>
          <p:cNvPr id="11" name="dq-b-1">
            <a:extLst xmlns:a="http://schemas.openxmlformats.org/drawingml/2006/main">
              <a:ext uri="{FF2B5EF4-FFF2-40B4-BE49-F238E27FC236}">
                <a16:creationId xmlns:a16="http://schemas.microsoft.com/office/drawing/2014/main" id="{DFF5159C-A3B3-4F6B-B29E-415D85A84B2B}"/>
              </a:ext>
            </a:extLst>
          </p:cNvPr>
          <p:cNvSpPr>
            <a:spLocks xmlns:a="http://schemas.openxmlformats.org/drawingml/2006/main" noGrp="1"/>
          </p:cNvSpPr>
          <p:nvPr/>
        </p:nvSpPr>
        <p:spPr>
          <a:xfrm xmlns:a="http://schemas.openxmlformats.org/drawingml/2006/main">
            <a:off x="3143250" y="25908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06D"/>
                </a:solidFill>
              </a:defRPr>
            </a:pPr>
            <a:r>
              <a:rPr sz="1350" b="0">
                <a:solidFill>
                  <a:srgbClr val="62706D"/>
                </a:solidFill>
              </a:rPr>
              <a:t>format AAAA-T1…T4</a:t>
            </a:r>
          </a:p>
        </p:txBody>
      </p:sp>
      <p:sp>
        <p:nvSpPr>
          <p:cNvPr id="12" name="dq-l-1">
            <a:extLst xmlns:a="http://schemas.openxmlformats.org/drawingml/2006/main">
              <a:ext uri="{FF2B5EF4-FFF2-40B4-BE49-F238E27FC236}">
                <a16:creationId xmlns:a16="http://schemas.microsoft.com/office/drawing/2014/main" id="{A4137B76-09AF-4665-A31B-8A845EF5AD2C}"/>
              </a:ext>
            </a:extLst>
          </p:cNvPr>
          <p:cNvSpPr>
            <a:spLocks xmlns:a="http://schemas.openxmlformats.org/drawingml/2006/main" noGrp="1"/>
          </p:cNvSpPr>
          <p:nvPr/>
        </p:nvSpPr>
        <p:spPr>
          <a:xfrm xmlns:a="http://schemas.openxmlformats.org/drawingml/2006/main">
            <a:off x="1333500" y="3086100"/>
            <a:ext cx="4572000" cy="0"/>
          </a:xfrm>
          <a:prstGeom xmlns:a="http://schemas.openxmlformats.org/drawingml/2006/main" prst="line">
            <a:avLst/>
          </a:prstGeom>
          <a:noFill xmlns:a="http://schemas.openxmlformats.org/drawingml/2006/main"/>
          <a:ln xmlns:a="http://schemas.openxmlformats.org/drawingml/2006/main" w="9525">
            <a:solidFill>
              <a:srgbClr val="C8D5D1"/>
            </a:solidFill>
            <a:prstDash val="solid"/>
          </a:ln>
        </p:spPr>
      </p:sp>
      <p:sp>
        <p:nvSpPr>
          <p:cNvPr id="13" name="dq-n-2">
            <a:extLst xmlns:a="http://schemas.openxmlformats.org/drawingml/2006/main">
              <a:ext uri="{FF2B5EF4-FFF2-40B4-BE49-F238E27FC236}">
                <a16:creationId xmlns:a16="http://schemas.microsoft.com/office/drawing/2014/main" id="{77C028B7-7416-46BA-9F1C-7124CE5C0313}"/>
              </a:ext>
            </a:extLst>
          </p:cNvPr>
          <p:cNvSpPr>
            <a:spLocks xmlns:a="http://schemas.openxmlformats.org/drawingml/2006/main" noGrp="1"/>
          </p:cNvSpPr>
          <p:nvPr/>
        </p:nvSpPr>
        <p:spPr>
          <a:xfrm xmlns:a="http://schemas.openxmlformats.org/drawingml/2006/main">
            <a:off x="685800" y="33718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03</a:t>
            </a:r>
          </a:p>
        </p:txBody>
      </p:sp>
      <p:sp>
        <p:nvSpPr>
          <p:cNvPr id="14" name="dq-a-2">
            <a:extLst xmlns:a="http://schemas.openxmlformats.org/drawingml/2006/main">
              <a:ext uri="{FF2B5EF4-FFF2-40B4-BE49-F238E27FC236}">
                <a16:creationId xmlns:a16="http://schemas.microsoft.com/office/drawing/2014/main" id="{BA41D1FB-44C6-43F3-87B3-A3795E9CC914}"/>
              </a:ext>
            </a:extLst>
          </p:cNvPr>
          <p:cNvSpPr>
            <a:spLocks xmlns:a="http://schemas.openxmlformats.org/drawingml/2006/main" noGrp="1"/>
          </p:cNvSpPr>
          <p:nvPr/>
        </p:nvSpPr>
        <p:spPr>
          <a:xfrm xmlns:a="http://schemas.openxmlformats.org/drawingml/2006/main">
            <a:off x="1333500" y="33528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Valeur</a:t>
            </a:r>
          </a:p>
        </p:txBody>
      </p:sp>
      <p:sp>
        <p:nvSpPr>
          <p:cNvPr id="15" name="dq-b-2">
            <a:extLst xmlns:a="http://schemas.openxmlformats.org/drawingml/2006/main">
              <a:ext uri="{FF2B5EF4-FFF2-40B4-BE49-F238E27FC236}">
                <a16:creationId xmlns:a16="http://schemas.microsoft.com/office/drawing/2014/main" id="{B6FBF737-2F88-4BEE-B0C0-B88AEE58BD15}"/>
              </a:ext>
            </a:extLst>
          </p:cNvPr>
          <p:cNvSpPr>
            <a:spLocks xmlns:a="http://schemas.openxmlformats.org/drawingml/2006/main" noGrp="1"/>
          </p:cNvSpPr>
          <p:nvPr/>
        </p:nvSpPr>
        <p:spPr>
          <a:xfrm xmlns:a="http://schemas.openxmlformats.org/drawingml/2006/main">
            <a:off x="3143250" y="33718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06D"/>
                </a:solidFill>
              </a:defRPr>
            </a:pPr>
            <a:r>
              <a:rPr sz="1350" b="0">
                <a:solidFill>
                  <a:srgbClr val="62706D"/>
                </a:solidFill>
              </a:rPr>
              <a:t>finie et dans une plage large</a:t>
            </a:r>
          </a:p>
        </p:txBody>
      </p:sp>
      <p:sp>
        <p:nvSpPr>
          <p:cNvPr id="16" name="dq-l-2">
            <a:extLst xmlns:a="http://schemas.openxmlformats.org/drawingml/2006/main">
              <a:ext uri="{FF2B5EF4-FFF2-40B4-BE49-F238E27FC236}">
                <a16:creationId xmlns:a16="http://schemas.microsoft.com/office/drawing/2014/main" id="{BD187DAC-D972-41BF-A001-569F2EF01706}"/>
              </a:ext>
            </a:extLst>
          </p:cNvPr>
          <p:cNvSpPr>
            <a:spLocks xmlns:a="http://schemas.openxmlformats.org/drawingml/2006/main" noGrp="1"/>
          </p:cNvSpPr>
          <p:nvPr/>
        </p:nvSpPr>
        <p:spPr>
          <a:xfrm xmlns:a="http://schemas.openxmlformats.org/drawingml/2006/main">
            <a:off x="1333500" y="3867150"/>
            <a:ext cx="4572000" cy="0"/>
          </a:xfrm>
          <a:prstGeom xmlns:a="http://schemas.openxmlformats.org/drawingml/2006/main" prst="line">
            <a:avLst/>
          </a:prstGeom>
          <a:noFill xmlns:a="http://schemas.openxmlformats.org/drawingml/2006/main"/>
          <a:ln xmlns:a="http://schemas.openxmlformats.org/drawingml/2006/main" w="9525">
            <a:solidFill>
              <a:srgbClr val="C8D5D1"/>
            </a:solidFill>
            <a:prstDash val="solid"/>
          </a:ln>
        </p:spPr>
      </p:sp>
      <p:sp>
        <p:nvSpPr>
          <p:cNvPr id="17" name="dq-n-3">
            <a:extLst xmlns:a="http://schemas.openxmlformats.org/drawingml/2006/main">
              <a:ext uri="{FF2B5EF4-FFF2-40B4-BE49-F238E27FC236}">
                <a16:creationId xmlns:a16="http://schemas.microsoft.com/office/drawing/2014/main" id="{59BFB7D8-DA30-4090-A562-BA1C3699C70D}"/>
              </a:ext>
            </a:extLst>
          </p:cNvPr>
          <p:cNvSpPr>
            <a:spLocks xmlns:a="http://schemas.openxmlformats.org/drawingml/2006/main" noGrp="1"/>
          </p:cNvSpPr>
          <p:nvPr/>
        </p:nvSpPr>
        <p:spPr>
          <a:xfrm xmlns:a="http://schemas.openxmlformats.org/drawingml/2006/main">
            <a:off x="685800" y="41529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6B4D"/>
                </a:solidFill>
              </a:defRPr>
            </a:pPr>
            <a:r>
              <a:rPr sz="1200" b="1">
                <a:solidFill>
                  <a:srgbClr val="D66B4D"/>
                </a:solidFill>
              </a:rPr>
              <a:t>04</a:t>
            </a:r>
          </a:p>
        </p:txBody>
      </p:sp>
      <p:sp>
        <p:nvSpPr>
          <p:cNvPr id="18" name="dq-a-3">
            <a:extLst xmlns:a="http://schemas.openxmlformats.org/drawingml/2006/main">
              <a:ext uri="{FF2B5EF4-FFF2-40B4-BE49-F238E27FC236}">
                <a16:creationId xmlns:a16="http://schemas.microsoft.com/office/drawing/2014/main" id="{0FEBC3EC-C369-497C-8560-6C8CAFCA471C}"/>
              </a:ext>
            </a:extLst>
          </p:cNvPr>
          <p:cNvSpPr>
            <a:spLocks xmlns:a="http://schemas.openxmlformats.org/drawingml/2006/main" noGrp="1"/>
          </p:cNvSpPr>
          <p:nvPr/>
        </p:nvSpPr>
        <p:spPr>
          <a:xfrm xmlns:a="http://schemas.openxmlformats.org/drawingml/2006/main">
            <a:off x="1333500" y="41338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02A2A"/>
                </a:solidFill>
              </a:defRPr>
            </a:pPr>
            <a:r>
              <a:rPr sz="1725" b="1">
                <a:solidFill>
                  <a:srgbClr val="102A2A"/>
                </a:solidFill>
              </a:rPr>
              <a:t>Source</a:t>
            </a:r>
          </a:p>
        </p:txBody>
      </p:sp>
      <p:sp>
        <p:nvSpPr>
          <p:cNvPr id="19" name="dq-b-3">
            <a:extLst xmlns:a="http://schemas.openxmlformats.org/drawingml/2006/main">
              <a:ext uri="{FF2B5EF4-FFF2-40B4-BE49-F238E27FC236}">
                <a16:creationId xmlns:a16="http://schemas.microsoft.com/office/drawing/2014/main" id="{77FF7094-91F4-408B-BA71-A4B48A56CC06}"/>
              </a:ext>
            </a:extLst>
          </p:cNvPr>
          <p:cNvSpPr>
            <a:spLocks xmlns:a="http://schemas.openxmlformats.org/drawingml/2006/main" noGrp="1"/>
          </p:cNvSpPr>
          <p:nvPr/>
        </p:nvSpPr>
        <p:spPr>
          <a:xfrm xmlns:a="http://schemas.openxmlformats.org/drawingml/2006/main">
            <a:off x="3143250" y="41529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706D"/>
                </a:solidFill>
              </a:defRPr>
            </a:pPr>
            <a:r>
              <a:rPr sz="1350" b="0">
                <a:solidFill>
                  <a:srgbClr val="62706D"/>
                </a:solidFill>
              </a:rPr>
              <a:t>URL présente</a:t>
            </a:r>
          </a:p>
        </p:txBody>
      </p:sp>
      <p:sp>
        <p:nvSpPr>
          <p:cNvPr id="20" name="dq-l-3">
            <a:extLst xmlns:a="http://schemas.openxmlformats.org/drawingml/2006/main">
              <a:ext uri="{FF2B5EF4-FFF2-40B4-BE49-F238E27FC236}">
                <a16:creationId xmlns:a16="http://schemas.microsoft.com/office/drawing/2014/main" id="{F1BED4EC-09AE-4A15-918F-9E7F5ADDA613}"/>
              </a:ext>
            </a:extLst>
          </p:cNvPr>
          <p:cNvSpPr>
            <a:spLocks xmlns:a="http://schemas.openxmlformats.org/drawingml/2006/main" noGrp="1"/>
          </p:cNvSpPr>
          <p:nvPr/>
        </p:nvSpPr>
        <p:spPr>
          <a:xfrm xmlns:a="http://schemas.openxmlformats.org/drawingml/2006/main">
            <a:off x="1333500" y="4648200"/>
            <a:ext cx="4572000" cy="0"/>
          </a:xfrm>
          <a:prstGeom xmlns:a="http://schemas.openxmlformats.org/drawingml/2006/main" prst="line">
            <a:avLst/>
          </a:prstGeom>
          <a:noFill xmlns:a="http://schemas.openxmlformats.org/drawingml/2006/main"/>
          <a:ln xmlns:a="http://schemas.openxmlformats.org/drawingml/2006/main" w="9525">
            <a:solidFill>
              <a:srgbClr val="C8D5D1"/>
            </a:solidFill>
            <a:prstDash val="solid"/>
          </a:ln>
        </p:spPr>
      </p:sp>
      <p:sp>
        <p:nvSpPr>
          <p:cNvPr id="21" name="dq-run">
            <a:extLst xmlns:a="http://schemas.openxmlformats.org/drawingml/2006/main">
              <a:ext uri="{FF2B5EF4-FFF2-40B4-BE49-F238E27FC236}">
                <a16:creationId xmlns:a16="http://schemas.microsoft.com/office/drawing/2014/main" id="{8EF13F5D-A4D2-41DA-AA8E-C0FCD46FC012}"/>
              </a:ext>
            </a:extLst>
          </p:cNvPr>
          <p:cNvSpPr>
            <a:spLocks xmlns:a="http://schemas.openxmlformats.org/drawingml/2006/main" noGrp="1"/>
          </p:cNvSpPr>
          <p:nvPr/>
        </p:nvSpPr>
        <p:spPr>
          <a:xfrm xmlns:a="http://schemas.openxmlformats.org/drawingml/2006/main">
            <a:off x="6858000" y="1771650"/>
            <a:ext cx="4400550" cy="3371850"/>
          </a:xfrm>
          <a:prstGeom xmlns:a="http://schemas.openxmlformats.org/drawingml/2006/main" prst="roundRect">
            <a:avLst>
              <a:gd name="adj" fmla="val 5650"/>
            </a:avLst>
          </a:prstGeom>
          <a:solidFill xmlns:a="http://schemas.openxmlformats.org/drawingml/2006/main">
            <a:srgbClr val="153D3A"/>
          </a:solidFill>
          <a:ln xmlns:a="http://schemas.openxmlformats.org/drawingml/2006/main" w="11430">
            <a:solidFill>
              <a:srgbClr val="153D3A"/>
            </a:solidFill>
            <a:prstDash val="solid"/>
          </a:ln>
        </p:spPr>
      </p:sp>
      <p:sp>
        <p:nvSpPr>
          <p:cNvPr id="22" name="dq-run-h">
            <a:extLst xmlns:a="http://schemas.openxmlformats.org/drawingml/2006/main">
              <a:ext uri="{FF2B5EF4-FFF2-40B4-BE49-F238E27FC236}">
                <a16:creationId xmlns:a16="http://schemas.microsoft.com/office/drawing/2014/main" id="{8D2A7C95-7645-4CC1-96B2-4033F7BA6E2A}"/>
              </a:ext>
            </a:extLst>
          </p:cNvPr>
          <p:cNvSpPr>
            <a:spLocks xmlns:a="http://schemas.openxmlformats.org/drawingml/2006/main" noGrp="1"/>
          </p:cNvSpPr>
          <p:nvPr/>
        </p:nvSpPr>
        <p:spPr>
          <a:xfrm xmlns:a="http://schemas.openxmlformats.org/drawingml/2006/main">
            <a:off x="7200900" y="21145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Un run garde toujours une preuve</a:t>
            </a:r>
          </a:p>
        </p:txBody>
      </p:sp>
      <p:sp>
        <p:nvSpPr>
          <p:cNvPr id="23" name="dq-run-b">
            <a:extLst xmlns:a="http://schemas.openxmlformats.org/drawingml/2006/main">
              <a:ext uri="{FF2B5EF4-FFF2-40B4-BE49-F238E27FC236}">
                <a16:creationId xmlns:a16="http://schemas.microsoft.com/office/drawing/2014/main" id="{B333E0E4-1304-433D-8DF6-570A53DB9AFB}"/>
              </a:ext>
            </a:extLst>
          </p:cNvPr>
          <p:cNvSpPr>
            <a:spLocks xmlns:a="http://schemas.openxmlformats.org/drawingml/2006/main" noGrp="1"/>
          </p:cNvSpPr>
          <p:nvPr/>
        </p:nvSpPr>
        <p:spPr>
          <a:xfrm xmlns:a="http://schemas.openxmlformats.org/drawingml/2006/main">
            <a:off x="7200900" y="28194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DCEDE7"/>
                </a:solidFill>
              </a:defRPr>
            </a:pPr>
            <a:r>
              <a:rPr sz="1575" b="0">
                <a:solidFill>
                  <a:srgbClr val="DCEDE7"/>
                </a:solidFill>
              </a:rPr>
              <a:t>points trouvés</a:t>
            </a:r>
          </a:p>
          <a:p xmlns:a="http://schemas.openxmlformats.org/drawingml/2006/main">
            <a:pPr algn="l">
              <a:defRPr sz="1575" b="0">
                <a:solidFill>
                  <a:srgbClr val="DCEDE7"/>
                </a:solidFill>
              </a:defRPr>
            </a:pPr>
            <a:r>
              <a:rPr sz="1575" b="0">
                <a:solidFill>
                  <a:srgbClr val="DCEDE7"/>
                </a:solidFill>
              </a:rPr>
              <a:t>points valides</a:t>
            </a:r>
          </a:p>
          <a:p xmlns:a="http://schemas.openxmlformats.org/drawingml/2006/main">
            <a:pPr algn="l">
              <a:defRPr sz="1575" b="0">
                <a:solidFill>
                  <a:srgbClr val="DCEDE7"/>
                </a:solidFill>
              </a:defRPr>
            </a:pPr>
            <a:r>
              <a:rPr sz="1575" b="0">
                <a:solidFill>
                  <a:srgbClr val="DCEDE7"/>
                </a:solidFill>
              </a:rPr>
              <a:t>history inséré / ignoré</a:t>
            </a:r>
          </a:p>
          <a:p xmlns:a="http://schemas.openxmlformats.org/drawingml/2006/main">
            <a:pPr algn="l">
              <a:defRPr sz="1575" b="0">
                <a:solidFill>
                  <a:srgbClr val="DCEDE7"/>
                </a:solidFill>
              </a:defRPr>
            </a:pPr>
            <a:r>
              <a:rPr sz="1575" b="0">
                <a:solidFill>
                  <a:srgbClr val="DCEDE7"/>
                </a:solidFill>
              </a:rPr>
              <a:t>erreurs DQ</a:t>
            </a:r>
          </a:p>
          <a:p xmlns:a="http://schemas.openxmlformats.org/drawingml/2006/main">
            <a:pPr algn="l">
              <a:defRPr sz="1575" b="0">
                <a:solidFill>
                  <a:srgbClr val="DCEDE7"/>
                </a:solidFill>
              </a:defRPr>
            </a:pPr>
            <a:r>
              <a:rPr sz="1575" b="0">
                <a:solidFill>
                  <a:srgbClr val="DCEDE7"/>
                </a:solidFill>
              </a:rPr>
              <a:t>statut ok, warn ou error</a:t>
            </a:r>
          </a:p>
        </p:txBody>
      </p:sp>
      <p:sp>
        <p:nvSpPr>
          <p:cNvPr id="24" name="dq-foot">
            <a:extLst xmlns:a="http://schemas.openxmlformats.org/drawingml/2006/main">
              <a:ext uri="{FF2B5EF4-FFF2-40B4-BE49-F238E27FC236}">
                <a16:creationId xmlns:a16="http://schemas.microsoft.com/office/drawing/2014/main" id="{D019D5D2-2EAF-4FF7-A7F3-473D107035EC}"/>
              </a:ext>
            </a:extLst>
          </p:cNvPr>
          <p:cNvSpPr>
            <a:spLocks xmlns:a="http://schemas.openxmlformats.org/drawingml/2006/main" noGrp="1"/>
          </p:cNvSpPr>
          <p:nvPr/>
        </p:nvSpPr>
        <p:spPr>
          <a:xfrm xmlns:a="http://schemas.openxmlformats.org/drawingml/2006/main">
            <a:off x="1714500" y="5600700"/>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F6F5F"/>
                </a:solidFill>
              </a:defRPr>
            </a:pPr>
            <a:r>
              <a:rPr sz="1500" b="1">
                <a:solidFill>
                  <a:srgbClr val="1F6F5F"/>
                </a:solidFill>
              </a:rPr>
              <a:t>history ne change que si période ou valeur change ; runs enregistre chaque tentative.</a:t>
            </a:r>
          </a:p>
        </p:txBody>
      </p:sp>
    </p:spTree>
    <p:extLst>
      <p:ext uri="{BB962C8B-B14F-4D97-AF65-F5344CB8AC3E}">
        <p14:creationId xmlns:p14="http://schemas.microsoft.com/office/powerpoint/2010/main" val="2042265875"/>
      </p:ext>
    </p:extLst>
  </p:cSld>
</p:sld>
</file>

<file path=ppt/slides/slide1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8" name="kicker-19">
            <a:extLst xmlns:a="http://schemas.openxmlformats.org/drawingml/2006/main">
              <a:ext uri="{FF2B5EF4-FFF2-40B4-BE49-F238E27FC236}">
                <a16:creationId xmlns:a16="http://schemas.microsoft.com/office/drawing/2014/main" id="{28F24854-E1CD-460E-A02A-84DA9F494A43}"/>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INTERFACE STREAMLIT</a:t>
            </a:r>
          </a:p>
        </p:txBody>
      </p:sp>
      <p:sp>
        <p:nvSpPr>
          <p:cNvPr id="2" name="title-19">
            <a:extLst xmlns:a="http://schemas.openxmlformats.org/drawingml/2006/main">
              <a:ext uri="{FF2B5EF4-FFF2-40B4-BE49-F238E27FC236}">
                <a16:creationId xmlns:a16="http://schemas.microsoft.com/office/drawing/2014/main" id="{CFFAEA13-7AD2-459F-8BC7-1097AD04DE03}"/>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Un filtre, un périmètre, toutes les vues</a:t>
            </a:r>
          </a:p>
        </p:txBody>
      </p:sp>
      <p:sp>
        <p:nvSpPr>
          <p:cNvPr id="3" name="rule-19">
            <a:extLst xmlns:a="http://schemas.openxmlformats.org/drawingml/2006/main">
              <a:ext uri="{FF2B5EF4-FFF2-40B4-BE49-F238E27FC236}">
                <a16:creationId xmlns:a16="http://schemas.microsoft.com/office/drawing/2014/main" id="{C490952C-3038-44A2-9A4A-CADEF7F8B8D1}"/>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19">
            <a:extLst xmlns:a="http://schemas.openxmlformats.org/drawingml/2006/main">
              <a:ext uri="{FF2B5EF4-FFF2-40B4-BE49-F238E27FC236}">
                <a16:creationId xmlns:a16="http://schemas.microsoft.com/office/drawing/2014/main" id="{2247E8F2-CF67-45BA-8843-7DB1C18B0C50}"/>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19</a:t>
            </a:r>
          </a:p>
        </p:txBody>
      </p:sp>
      <p:sp>
        <p:nvSpPr>
          <p:cNvPr id="5" name="filter-rail">
            <a:extLst xmlns:a="http://schemas.openxmlformats.org/drawingml/2006/main">
              <a:ext uri="{FF2B5EF4-FFF2-40B4-BE49-F238E27FC236}">
                <a16:creationId xmlns:a16="http://schemas.microsoft.com/office/drawing/2014/main" id="{35E0A4A4-3027-43DC-BB79-E7C27708BDC2}"/>
              </a:ext>
            </a:extLst>
          </p:cNvPr>
          <p:cNvSpPr>
            <a:spLocks xmlns:a="http://schemas.openxmlformats.org/drawingml/2006/main" noGrp="1"/>
          </p:cNvSpPr>
          <p:nvPr/>
        </p:nvSpPr>
        <p:spPr>
          <a:xfrm xmlns:a="http://schemas.openxmlformats.org/drawingml/2006/main">
            <a:off x="609600" y="1714500"/>
            <a:ext cx="2190750" cy="3714750"/>
          </a:xfrm>
          <a:prstGeom xmlns:a="http://schemas.openxmlformats.org/drawingml/2006/main" prst="roundRect">
            <a:avLst>
              <a:gd name="adj" fmla="val 8696"/>
            </a:avLst>
          </a:prstGeom>
          <a:solidFill xmlns:a="http://schemas.openxmlformats.org/drawingml/2006/main">
            <a:srgbClr val="153D3A"/>
          </a:solidFill>
          <a:ln xmlns:a="http://schemas.openxmlformats.org/drawingml/2006/main" w="11430">
            <a:solidFill>
              <a:srgbClr val="153D3A"/>
            </a:solidFill>
            <a:prstDash val="solid"/>
          </a:ln>
        </p:spPr>
      </p:sp>
      <p:sp>
        <p:nvSpPr>
          <p:cNvPr id="6" name="filter-title">
            <a:extLst xmlns:a="http://schemas.openxmlformats.org/drawingml/2006/main">
              <a:ext uri="{FF2B5EF4-FFF2-40B4-BE49-F238E27FC236}">
                <a16:creationId xmlns:a16="http://schemas.microsoft.com/office/drawing/2014/main" id="{9150FCA5-08F6-4F3A-8E5F-0177238FE069}"/>
              </a:ext>
            </a:extLst>
          </p:cNvPr>
          <p:cNvSpPr>
            <a:spLocks xmlns:a="http://schemas.openxmlformats.org/drawingml/2006/main" noGrp="1"/>
          </p:cNvSpPr>
          <p:nvPr/>
        </p:nvSpPr>
        <p:spPr>
          <a:xfrm xmlns:a="http://schemas.openxmlformats.org/drawingml/2006/main">
            <a:off x="895350" y="20193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EDE7"/>
                </a:solidFill>
              </a:defRPr>
            </a:pPr>
            <a:r>
              <a:rPr sz="1200" b="1">
                <a:solidFill>
                  <a:srgbClr val="DCEDE7"/>
                </a:solidFill>
              </a:rPr>
              <a:t>FILTRES</a:t>
            </a:r>
          </a:p>
        </p:txBody>
      </p:sp>
      <p:sp>
        <p:nvSpPr>
          <p:cNvPr id="7" name="filter-list">
            <a:extLst xmlns:a="http://schemas.openxmlformats.org/drawingml/2006/main">
              <a:ext uri="{FF2B5EF4-FFF2-40B4-BE49-F238E27FC236}">
                <a16:creationId xmlns:a16="http://schemas.microsoft.com/office/drawing/2014/main" id="{7BA73B80-1B3C-4C79-9799-BF574123836A}"/>
              </a:ext>
            </a:extLst>
          </p:cNvPr>
          <p:cNvSpPr>
            <a:spLocks xmlns:a="http://schemas.openxmlformats.org/drawingml/2006/main" noGrp="1"/>
          </p:cNvSpPr>
          <p:nvPr/>
        </p:nvSpPr>
        <p:spPr>
          <a:xfrm xmlns:a="http://schemas.openxmlformats.org/drawingml/2006/main">
            <a:off x="895350" y="2628900"/>
            <a:ext cx="1619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defRPr>
            </a:pPr>
            <a:r>
              <a:rPr sz="1650" b="0">
                <a:solidFill>
                  <a:srgbClr val="FFFFFF"/>
                </a:solidFill>
              </a:rPr>
              <a:t>Département</a:t>
            </a:r>
          </a:p>
          <a:p xmlns:a="http://schemas.openxmlformats.org/drawingml/2006/main">
            <a:pPr algn="l">
              <a:defRPr sz="1650" b="0">
                <a:solidFill>
                  <a:srgbClr val="FFFFFF"/>
                </a:solidFill>
              </a:defRPr>
            </a:pPr>
            <a:r>
              <a:rPr sz="1650" b="0">
                <a:solidFill>
                  <a:srgbClr val="FFFFFF"/>
                </a:solidFill>
              </a:rPr>
              <a:t>Type de bien</a:t>
            </a:r>
          </a:p>
          <a:p xmlns:a="http://schemas.openxmlformats.org/drawingml/2006/main">
            <a:pPr algn="l">
              <a:defRPr sz="1650" b="0">
                <a:solidFill>
                  <a:srgbClr val="FFFFFF"/>
                </a:solidFill>
              </a:defRPr>
            </a:pPr>
            <a:r>
              <a:rPr sz="1650" b="0">
                <a:solidFill>
                  <a:srgbClr val="FFFFFF"/>
                </a:solidFill>
              </a:rPr>
              <a:t>Prix / surface</a:t>
            </a:r>
          </a:p>
          <a:p xmlns:a="http://schemas.openxmlformats.org/drawingml/2006/main">
            <a:pPr algn="l">
              <a:defRPr sz="1650" b="0">
                <a:solidFill>
                  <a:srgbClr val="FFFFFF"/>
                </a:solidFill>
              </a:defRPr>
            </a:pPr>
            <a:r>
              <a:rPr sz="1650" b="0">
                <a:solidFill>
                  <a:srgbClr val="FFFFFF"/>
                </a:solidFill>
              </a:rPr>
              <a:t>Période</a:t>
            </a:r>
          </a:p>
        </p:txBody>
      </p:sp>
      <p:sp>
        <p:nvSpPr>
          <p:cNvPr id="8" name="filter-export">
            <a:extLst xmlns:a="http://schemas.openxmlformats.org/drawingml/2006/main">
              <a:ext uri="{FF2B5EF4-FFF2-40B4-BE49-F238E27FC236}">
                <a16:creationId xmlns:a16="http://schemas.microsoft.com/office/drawing/2014/main" id="{5E9D8D9C-FB43-4BCD-80E0-3260226E9018}"/>
              </a:ext>
            </a:extLst>
          </p:cNvPr>
          <p:cNvSpPr>
            <a:spLocks xmlns:a="http://schemas.openxmlformats.org/drawingml/2006/main" noGrp="1"/>
          </p:cNvSpPr>
          <p:nvPr/>
        </p:nvSpPr>
        <p:spPr>
          <a:xfrm xmlns:a="http://schemas.openxmlformats.org/drawingml/2006/main">
            <a:off x="895350" y="48577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8D9BF"/>
                </a:solidFill>
              </a:defRPr>
            </a:pPr>
            <a:r>
              <a:rPr sz="1350" b="1">
                <a:solidFill>
                  <a:srgbClr val="E8D9BF"/>
                </a:solidFill>
              </a:rPr>
              <a:t>Export CSV</a:t>
            </a:r>
          </a:p>
        </p:txBody>
      </p:sp>
      <p:sp>
        <p:nvSpPr>
          <p:cNvPr id="9" name="ui-arrow">
            <a:extLst xmlns:a="http://schemas.openxmlformats.org/drawingml/2006/main">
              <a:ext uri="{FF2B5EF4-FFF2-40B4-BE49-F238E27FC236}">
                <a16:creationId xmlns:a16="http://schemas.microsoft.com/office/drawing/2014/main" id="{CC6E184F-8BE2-4F07-9E14-FEB69F2A12E0}"/>
              </a:ext>
            </a:extLst>
          </p:cNvPr>
          <p:cNvSpPr>
            <a:spLocks xmlns:a="http://schemas.openxmlformats.org/drawingml/2006/main" noGrp="1"/>
          </p:cNvSpPr>
          <p:nvPr/>
        </p:nvSpPr>
        <p:spPr>
          <a:xfrm xmlns:a="http://schemas.openxmlformats.org/drawingml/2006/main">
            <a:off x="2800350" y="3543300"/>
            <a:ext cx="857250" cy="0"/>
          </a:xfrm>
          <a:prstGeom xmlns:a="http://schemas.openxmlformats.org/drawingml/2006/main" prst="line">
            <a:avLst/>
          </a:prstGeom>
          <a:noFill xmlns:a="http://schemas.openxmlformats.org/drawingml/2006/main"/>
          <a:ln xmlns:a="http://schemas.openxmlformats.org/drawingml/2006/main" w="28575">
            <a:solidFill>
              <a:srgbClr val="1F6F5F"/>
            </a:solidFill>
            <a:prstDash val="solid"/>
          </a:ln>
        </p:spPr>
      </p:sp>
      <p:sp>
        <p:nvSpPr>
          <p:cNvPr id="10" name="ui-main">
            <a:extLst xmlns:a="http://schemas.openxmlformats.org/drawingml/2006/main">
              <a:ext uri="{FF2B5EF4-FFF2-40B4-BE49-F238E27FC236}">
                <a16:creationId xmlns:a16="http://schemas.microsoft.com/office/drawing/2014/main" id="{5E583721-3C3E-4640-9D09-17C80120A067}"/>
              </a:ext>
            </a:extLst>
          </p:cNvPr>
          <p:cNvSpPr>
            <a:spLocks xmlns:a="http://schemas.openxmlformats.org/drawingml/2006/main" noGrp="1"/>
          </p:cNvSpPr>
          <p:nvPr/>
        </p:nvSpPr>
        <p:spPr>
          <a:xfrm xmlns:a="http://schemas.openxmlformats.org/drawingml/2006/main">
            <a:off x="3657600" y="1714500"/>
            <a:ext cx="7924800" cy="371475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11430">
            <a:solidFill>
              <a:srgbClr val="C8D5D1"/>
            </a:solidFill>
            <a:prstDash val="solid"/>
          </a:ln>
        </p:spPr>
      </p:sp>
      <p:sp>
        <p:nvSpPr>
          <p:cNvPr id="11" name="ui-kpi">
            <a:extLst xmlns:a="http://schemas.openxmlformats.org/drawingml/2006/main">
              <a:ext uri="{FF2B5EF4-FFF2-40B4-BE49-F238E27FC236}">
                <a16:creationId xmlns:a16="http://schemas.microsoft.com/office/drawing/2014/main" id="{7731559B-1E81-476A-AA8C-D5F603ECF219}"/>
              </a:ext>
            </a:extLst>
          </p:cNvPr>
          <p:cNvSpPr>
            <a:spLocks xmlns:a="http://schemas.openxmlformats.org/drawingml/2006/main" noGrp="1"/>
          </p:cNvSpPr>
          <p:nvPr/>
        </p:nvSpPr>
        <p:spPr>
          <a:xfrm xmlns:a="http://schemas.openxmlformats.org/drawingml/2006/main">
            <a:off x="4038600" y="20764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2A"/>
                </a:solidFill>
              </a:defRPr>
            </a:pPr>
            <a:r>
              <a:rPr sz="1650" b="1">
                <a:solidFill>
                  <a:srgbClr val="102A2A"/>
                </a:solidFill>
              </a:rPr>
              <a:t>KPI</a:t>
            </a:r>
          </a:p>
        </p:txBody>
      </p:sp>
      <p:sp>
        <p:nvSpPr>
          <p:cNvPr id="12" name="ui-table">
            <a:extLst xmlns:a="http://schemas.openxmlformats.org/drawingml/2006/main">
              <a:ext uri="{FF2B5EF4-FFF2-40B4-BE49-F238E27FC236}">
                <a16:creationId xmlns:a16="http://schemas.microsoft.com/office/drawing/2014/main" id="{163792E7-FA17-49DC-B60D-78747C38C22E}"/>
              </a:ext>
            </a:extLst>
          </p:cNvPr>
          <p:cNvSpPr>
            <a:spLocks xmlns:a="http://schemas.openxmlformats.org/drawingml/2006/main" noGrp="1"/>
          </p:cNvSpPr>
          <p:nvPr/>
        </p:nvSpPr>
        <p:spPr>
          <a:xfrm xmlns:a="http://schemas.openxmlformats.org/drawingml/2006/main">
            <a:off x="6286500" y="20764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2A"/>
                </a:solidFill>
              </a:defRPr>
            </a:pPr>
            <a:r>
              <a:rPr sz="1650" b="1">
                <a:solidFill>
                  <a:srgbClr val="102A2A"/>
                </a:solidFill>
              </a:rPr>
              <a:t>TABLEAUX</a:t>
            </a:r>
          </a:p>
        </p:txBody>
      </p:sp>
      <p:sp>
        <p:nvSpPr>
          <p:cNvPr id="13" name="ui-map">
            <a:extLst xmlns:a="http://schemas.openxmlformats.org/drawingml/2006/main">
              <a:ext uri="{FF2B5EF4-FFF2-40B4-BE49-F238E27FC236}">
                <a16:creationId xmlns:a16="http://schemas.microsoft.com/office/drawing/2014/main" id="{C5CCC52E-2216-4888-A879-A7B59D5A6570}"/>
              </a:ext>
            </a:extLst>
          </p:cNvPr>
          <p:cNvSpPr>
            <a:spLocks xmlns:a="http://schemas.openxmlformats.org/drawingml/2006/main" noGrp="1"/>
          </p:cNvSpPr>
          <p:nvPr/>
        </p:nvSpPr>
        <p:spPr>
          <a:xfrm xmlns:a="http://schemas.openxmlformats.org/drawingml/2006/main">
            <a:off x="9163050" y="20764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2A"/>
                </a:solidFill>
              </a:defRPr>
            </a:pPr>
            <a:r>
              <a:rPr sz="1650" b="1">
                <a:solidFill>
                  <a:srgbClr val="102A2A"/>
                </a:solidFill>
              </a:rPr>
              <a:t>CARTES</a:t>
            </a:r>
          </a:p>
        </p:txBody>
      </p:sp>
      <p:sp>
        <p:nvSpPr>
          <p:cNvPr id="14" name="ui-mini-bg">
            <a:extLst xmlns:a="http://schemas.openxmlformats.org/drawingml/2006/main">
              <a:ext uri="{FF2B5EF4-FFF2-40B4-BE49-F238E27FC236}">
                <a16:creationId xmlns:a16="http://schemas.microsoft.com/office/drawing/2014/main" id="{FA00931A-0F08-40B0-AF74-57ED41010924}"/>
              </a:ext>
            </a:extLst>
          </p:cNvPr>
          <p:cNvSpPr>
            <a:spLocks xmlns:a="http://schemas.openxmlformats.org/drawingml/2006/main" noGrp="1"/>
          </p:cNvSpPr>
          <p:nvPr/>
        </p:nvSpPr>
        <p:spPr>
          <a:xfrm xmlns:a="http://schemas.openxmlformats.org/drawingml/2006/main">
            <a:off x="4000500" y="2628900"/>
            <a:ext cx="2000250" cy="1409700"/>
          </a:xfrm>
          <a:prstGeom xmlns:a="http://schemas.openxmlformats.org/drawingml/2006/main" prst="roundRect">
            <a:avLst>
              <a:gd name="adj" fmla="val 12162"/>
            </a:avLst>
          </a:prstGeom>
          <a:solidFill xmlns:a="http://schemas.openxmlformats.org/drawingml/2006/main">
            <a:srgbClr val="FFFFFF"/>
          </a:solidFill>
          <a:ln xmlns:a="http://schemas.openxmlformats.org/drawingml/2006/main" w="11430">
            <a:solidFill>
              <a:srgbClr val="C8D5D1"/>
            </a:solidFill>
            <a:prstDash val="solid"/>
          </a:ln>
        </p:spPr>
      </p:sp>
      <p:sp>
        <p:nvSpPr>
          <p:cNvPr id="15" name="ui-mini-accent">
            <a:extLst xmlns:a="http://schemas.openxmlformats.org/drawingml/2006/main">
              <a:ext uri="{FF2B5EF4-FFF2-40B4-BE49-F238E27FC236}">
                <a16:creationId xmlns:a16="http://schemas.microsoft.com/office/drawing/2014/main" id="{5AD89E5F-9584-4028-A18F-4004F9306F92}"/>
              </a:ext>
            </a:extLst>
          </p:cNvPr>
          <p:cNvSpPr>
            <a:spLocks xmlns:a="http://schemas.openxmlformats.org/drawingml/2006/main" noGrp="1"/>
          </p:cNvSpPr>
          <p:nvPr/>
        </p:nvSpPr>
        <p:spPr>
          <a:xfrm xmlns:a="http://schemas.openxmlformats.org/drawingml/2006/main">
            <a:off x="4000500" y="2628900"/>
            <a:ext cx="95250" cy="1409700"/>
          </a:xfrm>
          <a:prstGeom xmlns:a="http://schemas.openxmlformats.org/drawingml/2006/main" prst="roundRect">
            <a:avLst>
              <a:gd name="adj" fmla="val 50000"/>
            </a:avLst>
          </a:prstGeom>
          <a:solidFill xmlns:a="http://schemas.openxmlformats.org/drawingml/2006/main">
            <a:srgbClr val="1F6F5F"/>
          </a:solidFill>
          <a:ln xmlns:a="http://schemas.openxmlformats.org/drawingml/2006/main" w="11430">
            <a:solidFill>
              <a:srgbClr val="1F6F5F"/>
            </a:solidFill>
            <a:prstDash val="solid"/>
          </a:ln>
        </p:spPr>
      </p:sp>
      <p:sp>
        <p:nvSpPr>
          <p:cNvPr id="16" name="ui-mini-value">
            <a:extLst xmlns:a="http://schemas.openxmlformats.org/drawingml/2006/main">
              <a:ext uri="{FF2B5EF4-FFF2-40B4-BE49-F238E27FC236}">
                <a16:creationId xmlns:a16="http://schemas.microsoft.com/office/drawing/2014/main" id="{835ABF5B-0819-4D74-9C43-58AA0EA04F47}"/>
              </a:ext>
            </a:extLst>
          </p:cNvPr>
          <p:cNvSpPr>
            <a:spLocks xmlns:a="http://schemas.openxmlformats.org/drawingml/2006/main" noGrp="1"/>
          </p:cNvSpPr>
          <p:nvPr/>
        </p:nvSpPr>
        <p:spPr>
          <a:xfrm xmlns:a="http://schemas.openxmlformats.org/drawingml/2006/main">
            <a:off x="4267200" y="2838450"/>
            <a:ext cx="1562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2A"/>
                </a:solidFill>
              </a:defRPr>
            </a:pPr>
            <a:r>
              <a:rPr sz="2700" b="1">
                <a:solidFill>
                  <a:srgbClr val="102A2A"/>
                </a:solidFill>
              </a:rPr>
              <a:t>1,88 M</a:t>
            </a:r>
          </a:p>
        </p:txBody>
      </p:sp>
      <p:sp>
        <p:nvSpPr>
          <p:cNvPr id="17" name="ui-mini-label">
            <a:extLst xmlns:a="http://schemas.openxmlformats.org/drawingml/2006/main">
              <a:ext uri="{FF2B5EF4-FFF2-40B4-BE49-F238E27FC236}">
                <a16:creationId xmlns:a16="http://schemas.microsoft.com/office/drawing/2014/main" id="{3B4ED809-C79F-4C59-AE98-E54A7D7D1625}"/>
              </a:ext>
            </a:extLst>
          </p:cNvPr>
          <p:cNvSpPr>
            <a:spLocks xmlns:a="http://schemas.openxmlformats.org/drawingml/2006/main" noGrp="1"/>
          </p:cNvSpPr>
          <p:nvPr/>
        </p:nvSpPr>
        <p:spPr>
          <a:xfrm xmlns:a="http://schemas.openxmlformats.org/drawingml/2006/main">
            <a:off x="4267200" y="3467100"/>
            <a:ext cx="1562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faits exploitables</a:t>
            </a:r>
          </a:p>
        </p:txBody>
      </p:sp>
      <p:sp>
        <p:nvSpPr>
          <p:cNvPr id="18" name="ui-chart">
            <a:extLst xmlns:a="http://schemas.openxmlformats.org/drawingml/2006/main">
              <a:ext uri="{FF2B5EF4-FFF2-40B4-BE49-F238E27FC236}">
                <a16:creationId xmlns:a16="http://schemas.microsoft.com/office/drawing/2014/main" id="{BD211162-5285-4BAB-AD00-F8C1BD387206}"/>
              </a:ext>
            </a:extLst>
          </p:cNvPr>
          <p:cNvSpPr>
            <a:spLocks xmlns:a="http://schemas.openxmlformats.org/drawingml/2006/main" noGrp="1"/>
          </p:cNvSpPr>
          <p:nvPr/>
        </p:nvSpPr>
        <p:spPr>
          <a:xfrm xmlns:a="http://schemas.openxmlformats.org/drawingml/2006/main">
            <a:off x="6496050" y="2628900"/>
            <a:ext cx="2000250" cy="1409700"/>
          </a:xfrm>
          <a:prstGeom xmlns:a="http://schemas.openxmlformats.org/drawingml/2006/main" prst="roundRect">
            <a:avLst>
              <a:gd name="adj" fmla="val 10811"/>
            </a:avLst>
          </a:prstGeom>
          <a:solidFill xmlns:a="http://schemas.openxmlformats.org/drawingml/2006/main">
            <a:srgbClr val="DCEDE7"/>
          </a:solidFill>
          <a:ln xmlns:a="http://schemas.openxmlformats.org/drawingml/2006/main" w="11430">
            <a:solidFill>
              <a:srgbClr val="DCEDE7"/>
            </a:solidFill>
            <a:prstDash val="solid"/>
          </a:ln>
        </p:spPr>
      </p:sp>
      <p:sp>
        <p:nvSpPr>
          <p:cNvPr id="19" name="bar-0">
            <a:extLst xmlns:a="http://schemas.openxmlformats.org/drawingml/2006/main">
              <a:ext uri="{FF2B5EF4-FFF2-40B4-BE49-F238E27FC236}">
                <a16:creationId xmlns:a16="http://schemas.microsoft.com/office/drawing/2014/main" id="{608BB227-297E-40BD-8B9B-A5A57A0D8AB8}"/>
              </a:ext>
            </a:extLst>
          </p:cNvPr>
          <p:cNvSpPr>
            <a:spLocks xmlns:a="http://schemas.openxmlformats.org/drawingml/2006/main" noGrp="1"/>
          </p:cNvSpPr>
          <p:nvPr/>
        </p:nvSpPr>
        <p:spPr>
          <a:xfrm xmlns:a="http://schemas.openxmlformats.org/drawingml/2006/main">
            <a:off x="6762750" y="3352800"/>
            <a:ext cx="190500" cy="41910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20" name="bar-1">
            <a:extLst xmlns:a="http://schemas.openxmlformats.org/drawingml/2006/main">
              <a:ext uri="{FF2B5EF4-FFF2-40B4-BE49-F238E27FC236}">
                <a16:creationId xmlns:a16="http://schemas.microsoft.com/office/drawing/2014/main" id="{D85F1F91-C9B1-433C-B5EE-C79E1E3224CA}"/>
              </a:ext>
            </a:extLst>
          </p:cNvPr>
          <p:cNvSpPr>
            <a:spLocks xmlns:a="http://schemas.openxmlformats.org/drawingml/2006/main" noGrp="1"/>
          </p:cNvSpPr>
          <p:nvPr/>
        </p:nvSpPr>
        <p:spPr>
          <a:xfrm xmlns:a="http://schemas.openxmlformats.org/drawingml/2006/main">
            <a:off x="7086600" y="2952750"/>
            <a:ext cx="190500" cy="81915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21" name="bar-2">
            <a:extLst xmlns:a="http://schemas.openxmlformats.org/drawingml/2006/main">
              <a:ext uri="{FF2B5EF4-FFF2-40B4-BE49-F238E27FC236}">
                <a16:creationId xmlns:a16="http://schemas.microsoft.com/office/drawing/2014/main" id="{10F8F17B-DE51-46A8-843E-B4BB4E371756}"/>
              </a:ext>
            </a:extLst>
          </p:cNvPr>
          <p:cNvSpPr>
            <a:spLocks xmlns:a="http://schemas.openxmlformats.org/drawingml/2006/main" noGrp="1"/>
          </p:cNvSpPr>
          <p:nvPr/>
        </p:nvSpPr>
        <p:spPr>
          <a:xfrm xmlns:a="http://schemas.openxmlformats.org/drawingml/2006/main">
            <a:off x="7410450" y="3181350"/>
            <a:ext cx="190500" cy="59055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22" name="bar-3">
            <a:extLst xmlns:a="http://schemas.openxmlformats.org/drawingml/2006/main">
              <a:ext uri="{FF2B5EF4-FFF2-40B4-BE49-F238E27FC236}">
                <a16:creationId xmlns:a16="http://schemas.microsoft.com/office/drawing/2014/main" id="{C9FC286E-AFCA-48D7-B8F3-1D9404D93B47}"/>
              </a:ext>
            </a:extLst>
          </p:cNvPr>
          <p:cNvSpPr>
            <a:spLocks xmlns:a="http://schemas.openxmlformats.org/drawingml/2006/main" noGrp="1"/>
          </p:cNvSpPr>
          <p:nvPr/>
        </p:nvSpPr>
        <p:spPr>
          <a:xfrm xmlns:a="http://schemas.openxmlformats.org/drawingml/2006/main">
            <a:off x="7734300" y="2705100"/>
            <a:ext cx="190500" cy="1066800"/>
          </a:xfrm>
          <a:prstGeom xmlns:a="http://schemas.openxmlformats.org/drawingml/2006/main" prst="roundRect">
            <a:avLst>
              <a:gd name="adj" fmla="val 20000"/>
            </a:avLst>
          </a:prstGeom>
          <a:solidFill xmlns:a="http://schemas.openxmlformats.org/drawingml/2006/main">
            <a:srgbClr val="D66B4D"/>
          </a:solidFill>
          <a:ln xmlns:a="http://schemas.openxmlformats.org/drawingml/2006/main" w="11430">
            <a:solidFill>
              <a:srgbClr val="D66B4D"/>
            </a:solidFill>
            <a:prstDash val="solid"/>
          </a:ln>
        </p:spPr>
      </p:sp>
      <p:sp>
        <p:nvSpPr>
          <p:cNvPr id="23" name="bar-4">
            <a:extLst xmlns:a="http://schemas.openxmlformats.org/drawingml/2006/main">
              <a:ext uri="{FF2B5EF4-FFF2-40B4-BE49-F238E27FC236}">
                <a16:creationId xmlns:a16="http://schemas.microsoft.com/office/drawing/2014/main" id="{FAD008B2-A08A-4759-A9AC-17377363B6C3}"/>
              </a:ext>
            </a:extLst>
          </p:cNvPr>
          <p:cNvSpPr>
            <a:spLocks xmlns:a="http://schemas.openxmlformats.org/drawingml/2006/main" noGrp="1"/>
          </p:cNvSpPr>
          <p:nvPr/>
        </p:nvSpPr>
        <p:spPr>
          <a:xfrm xmlns:a="http://schemas.openxmlformats.org/drawingml/2006/main">
            <a:off x="8058150" y="3067050"/>
            <a:ext cx="190500" cy="70485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24" name="ui-map-shape">
            <a:extLst xmlns:a="http://schemas.openxmlformats.org/drawingml/2006/main">
              <a:ext uri="{FF2B5EF4-FFF2-40B4-BE49-F238E27FC236}">
                <a16:creationId xmlns:a16="http://schemas.microsoft.com/office/drawing/2014/main" id="{1E78DFEA-7A6C-477A-AAD6-CA2A000D0AEA}"/>
              </a:ext>
            </a:extLst>
          </p:cNvPr>
          <p:cNvSpPr>
            <a:spLocks xmlns:a="http://schemas.openxmlformats.org/drawingml/2006/main" noGrp="1"/>
          </p:cNvSpPr>
          <p:nvPr/>
        </p:nvSpPr>
        <p:spPr>
          <a:xfrm xmlns:a="http://schemas.openxmlformats.org/drawingml/2006/main">
            <a:off x="9029700" y="2628900"/>
            <a:ext cx="2095500" cy="1409700"/>
          </a:xfrm>
          <a:prstGeom xmlns:a="http://schemas.openxmlformats.org/drawingml/2006/main" prst="roundRect">
            <a:avLst>
              <a:gd name="adj" fmla="val 10811"/>
            </a:avLst>
          </a:prstGeom>
          <a:solidFill xmlns:a="http://schemas.openxmlformats.org/drawingml/2006/main">
            <a:srgbClr val="E8D9BF"/>
          </a:solidFill>
          <a:ln xmlns:a="http://schemas.openxmlformats.org/drawingml/2006/main" w="11430">
            <a:solidFill>
              <a:srgbClr val="E8D9BF"/>
            </a:solidFill>
            <a:prstDash val="solid"/>
          </a:ln>
        </p:spPr>
      </p:sp>
      <p:sp>
        <p:nvSpPr>
          <p:cNvPr id="25" name="ui-map-label">
            <a:extLst xmlns:a="http://schemas.openxmlformats.org/drawingml/2006/main">
              <a:ext uri="{FF2B5EF4-FFF2-40B4-BE49-F238E27FC236}">
                <a16:creationId xmlns:a16="http://schemas.microsoft.com/office/drawing/2014/main" id="{85BEEEC6-294F-404A-8749-3F5AAA6847FE}"/>
              </a:ext>
            </a:extLst>
          </p:cNvPr>
          <p:cNvSpPr>
            <a:spLocks xmlns:a="http://schemas.openxmlformats.org/drawingml/2006/main" noGrp="1"/>
          </p:cNvSpPr>
          <p:nvPr/>
        </p:nvSpPr>
        <p:spPr>
          <a:xfrm xmlns:a="http://schemas.openxmlformats.org/drawingml/2006/main">
            <a:off x="9296400" y="3038475"/>
            <a:ext cx="1562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53D3A"/>
                </a:solidFill>
              </a:defRPr>
            </a:pPr>
            <a:r>
              <a:rPr sz="1650" b="1">
                <a:solidFill>
                  <a:srgbClr val="153D3A"/>
                </a:solidFill>
              </a:rPr>
              <a:t>Départements</a:t>
            </a:r>
          </a:p>
          <a:p xmlns:a="http://schemas.openxmlformats.org/drawingml/2006/main">
            <a:pPr algn="ctr">
              <a:defRPr sz="1650" b="1">
                <a:solidFill>
                  <a:srgbClr val="153D3A"/>
                </a:solidFill>
              </a:defRPr>
            </a:pPr>
            <a:r>
              <a:rPr sz="1650" b="1">
                <a:solidFill>
                  <a:srgbClr val="153D3A"/>
                </a:solidFill>
              </a:rPr>
              <a:t>&amp; régions</a:t>
            </a:r>
          </a:p>
        </p:txBody>
      </p:sp>
      <p:sp>
        <p:nvSpPr>
          <p:cNvPr id="26" name="ui-caption">
            <a:extLst xmlns:a="http://schemas.openxmlformats.org/drawingml/2006/main">
              <a:ext uri="{FF2B5EF4-FFF2-40B4-BE49-F238E27FC236}">
                <a16:creationId xmlns:a16="http://schemas.microsoft.com/office/drawing/2014/main" id="{6CB811F0-7CA7-44E1-A85E-467B8D80482A}"/>
              </a:ext>
            </a:extLst>
          </p:cNvPr>
          <p:cNvSpPr>
            <a:spLocks xmlns:a="http://schemas.openxmlformats.org/drawingml/2006/main" noGrp="1"/>
          </p:cNvSpPr>
          <p:nvPr/>
        </p:nvSpPr>
        <p:spPr>
          <a:xfrm xmlns:a="http://schemas.openxmlformats.org/drawingml/2006/main">
            <a:off x="4019550" y="4495800"/>
            <a:ext cx="676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F6F5F"/>
                </a:solidFill>
              </a:defRPr>
            </a:pPr>
            <a:r>
              <a:rPr sz="1500" b="1">
                <a:solidFill>
                  <a:srgbClr val="1F6F5F"/>
                </a:solidFill>
              </a:rPr>
              <a:t>Même masque de données pour KPI, tableaux, exports, cartes et graphiques</a:t>
            </a:r>
          </a:p>
        </p:txBody>
      </p:sp>
      <p:sp>
        <p:nvSpPr>
          <p:cNvPr id="27" name="ui-views">
            <a:extLst xmlns:a="http://schemas.openxmlformats.org/drawingml/2006/main">
              <a:ext uri="{FF2B5EF4-FFF2-40B4-BE49-F238E27FC236}">
                <a16:creationId xmlns:a16="http://schemas.microsoft.com/office/drawing/2014/main" id="{736452AA-232C-4C97-9AB0-62516C8F5FFF}"/>
              </a:ext>
            </a:extLst>
          </p:cNvPr>
          <p:cNvSpPr>
            <a:spLocks xmlns:a="http://schemas.openxmlformats.org/drawingml/2006/main" noGrp="1"/>
          </p:cNvSpPr>
          <p:nvPr/>
        </p:nvSpPr>
        <p:spPr>
          <a:xfrm xmlns:a="http://schemas.openxmlformats.org/drawingml/2006/main">
            <a:off x="3714750" y="577215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62706D"/>
                </a:solidFill>
              </a:defRPr>
            </a:pPr>
            <a:r>
              <a:rPr sz="1275" b="0">
                <a:solidFill>
                  <a:srgbClr val="62706D"/>
                </a:solidFill>
              </a:rPr>
              <a:t>Standard · Spark · Socio-économie · Région · Méthodologie · Temps réel</a:t>
            </a:r>
          </a:p>
        </p:txBody>
      </p:sp>
    </p:spTree>
    <p:extLst>
      <p:ext uri="{BB962C8B-B14F-4D97-AF65-F5344CB8AC3E}">
        <p14:creationId xmlns:p14="http://schemas.microsoft.com/office/powerpoint/2010/main" val="2127881884"/>
      </p:ext>
    </p:extLst>
  </p:cSld>
</p:sld>
</file>

<file path=ppt/slides/slide20.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7" name="kicker-20">
            <a:extLst xmlns:a="http://schemas.openxmlformats.org/drawingml/2006/main">
              <a:ext uri="{FF2B5EF4-FFF2-40B4-BE49-F238E27FC236}">
                <a16:creationId xmlns:a16="http://schemas.microsoft.com/office/drawing/2014/main" id="{0CA0331E-492C-4B95-9F76-8052C0B71DEE}"/>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VUES APPLICATIVES</a:t>
            </a:r>
          </a:p>
        </p:txBody>
      </p:sp>
      <p:sp>
        <p:nvSpPr>
          <p:cNvPr id="2" name="title-20">
            <a:extLst xmlns:a="http://schemas.openxmlformats.org/drawingml/2006/main">
              <a:ext uri="{FF2B5EF4-FFF2-40B4-BE49-F238E27FC236}">
                <a16:creationId xmlns:a16="http://schemas.microsoft.com/office/drawing/2014/main" id="{5C305489-A47F-468C-88BF-311164DCBA9E}"/>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L’interface raconte le projet par six angles d’analyse</a:t>
            </a:r>
          </a:p>
        </p:txBody>
      </p:sp>
      <p:sp>
        <p:nvSpPr>
          <p:cNvPr id="3" name="rule-20">
            <a:extLst xmlns:a="http://schemas.openxmlformats.org/drawingml/2006/main">
              <a:ext uri="{FF2B5EF4-FFF2-40B4-BE49-F238E27FC236}">
                <a16:creationId xmlns:a16="http://schemas.microsoft.com/office/drawing/2014/main" id="{675BE87A-6979-4CA7-8B63-511F6B900E0D}"/>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20">
            <a:extLst xmlns:a="http://schemas.openxmlformats.org/drawingml/2006/main">
              <a:ext uri="{FF2B5EF4-FFF2-40B4-BE49-F238E27FC236}">
                <a16:creationId xmlns:a16="http://schemas.microsoft.com/office/drawing/2014/main" id="{15376B08-1F32-4B19-90D2-9BFD192F6D99}"/>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20</a:t>
            </a:r>
          </a:p>
        </p:txBody>
      </p:sp>
      <p:sp>
        <p:nvSpPr>
          <p:cNvPr id="5" name="vw-n-0">
            <a:extLst xmlns:a="http://schemas.openxmlformats.org/drawingml/2006/main">
              <a:ext uri="{FF2B5EF4-FFF2-40B4-BE49-F238E27FC236}">
                <a16:creationId xmlns:a16="http://schemas.microsoft.com/office/drawing/2014/main" id="{B676848D-6DC1-4960-A5B3-3D321AB458EB}"/>
              </a:ext>
            </a:extLst>
          </p:cNvPr>
          <p:cNvSpPr>
            <a:spLocks xmlns:a="http://schemas.openxmlformats.org/drawingml/2006/main" noGrp="1"/>
          </p:cNvSpPr>
          <p:nvPr/>
        </p:nvSpPr>
        <p:spPr>
          <a:xfrm xmlns:a="http://schemas.openxmlformats.org/drawingml/2006/main">
            <a:off x="609600" y="1771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6B4D"/>
                </a:solidFill>
              </a:defRPr>
            </a:pPr>
            <a:r>
              <a:rPr sz="1125" b="1">
                <a:solidFill>
                  <a:srgbClr val="D66B4D"/>
                </a:solidFill>
              </a:rPr>
              <a:t>01</a:t>
            </a:r>
          </a:p>
        </p:txBody>
      </p:sp>
      <p:sp>
        <p:nvSpPr>
          <p:cNvPr id="6" name="vw-h-0">
            <a:extLst xmlns:a="http://schemas.openxmlformats.org/drawingml/2006/main">
              <a:ext uri="{FF2B5EF4-FFF2-40B4-BE49-F238E27FC236}">
                <a16:creationId xmlns:a16="http://schemas.microsoft.com/office/drawing/2014/main" id="{0CAC83D4-8F07-432C-9DEF-119342E4C892}"/>
              </a:ext>
            </a:extLst>
          </p:cNvPr>
          <p:cNvSpPr>
            <a:spLocks xmlns:a="http://schemas.openxmlformats.org/drawingml/2006/main" noGrp="1"/>
          </p:cNvSpPr>
          <p:nvPr/>
        </p:nvSpPr>
        <p:spPr>
          <a:xfrm xmlns:a="http://schemas.openxmlformats.org/drawingml/2006/main">
            <a:off x="609600" y="21336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Standard</a:t>
            </a:r>
          </a:p>
        </p:txBody>
      </p:sp>
      <p:sp>
        <p:nvSpPr>
          <p:cNvPr id="7" name="vw-b-0">
            <a:extLst xmlns:a="http://schemas.openxmlformats.org/drawingml/2006/main">
              <a:ext uri="{FF2B5EF4-FFF2-40B4-BE49-F238E27FC236}">
                <a16:creationId xmlns:a16="http://schemas.microsoft.com/office/drawing/2014/main" id="{D74D0072-8DCB-46C1-ADC8-FD3EB862F7A7}"/>
              </a:ext>
            </a:extLst>
          </p:cNvPr>
          <p:cNvSpPr>
            <a:spLocks xmlns:a="http://schemas.openxmlformats.org/drawingml/2006/main" noGrp="1"/>
          </p:cNvSpPr>
          <p:nvPr/>
        </p:nvSpPr>
        <p:spPr>
          <a:xfrm xmlns:a="http://schemas.openxmlformats.org/drawingml/2006/main">
            <a:off x="609600" y="26098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transactions, KPI, carte, distributions</a:t>
            </a:r>
          </a:p>
        </p:txBody>
      </p:sp>
      <p:sp>
        <p:nvSpPr>
          <p:cNvPr id="8" name="vw-l-0">
            <a:extLst xmlns:a="http://schemas.openxmlformats.org/drawingml/2006/main">
              <a:ext uri="{FF2B5EF4-FFF2-40B4-BE49-F238E27FC236}">
                <a16:creationId xmlns:a16="http://schemas.microsoft.com/office/drawing/2014/main" id="{3BAC34AB-8A77-4855-BE61-50727AFB68C7}"/>
              </a:ext>
            </a:extLst>
          </p:cNvPr>
          <p:cNvSpPr>
            <a:spLocks xmlns:a="http://schemas.openxmlformats.org/drawingml/2006/main" noGrp="1"/>
          </p:cNvSpPr>
          <p:nvPr/>
        </p:nvSpPr>
        <p:spPr>
          <a:xfrm xmlns:a="http://schemas.openxmlformats.org/drawingml/2006/main">
            <a:off x="609600" y="3276600"/>
            <a:ext cx="3048000" cy="0"/>
          </a:xfrm>
          <a:prstGeom xmlns:a="http://schemas.openxmlformats.org/drawingml/2006/main" prst="line">
            <a:avLst/>
          </a:prstGeom>
          <a:noFill xmlns:a="http://schemas.openxmlformats.org/drawingml/2006/main"/>
          <a:ln xmlns:a="http://schemas.openxmlformats.org/drawingml/2006/main" w="9525">
            <a:solidFill>
              <a:srgbClr val="C8D5D1"/>
            </a:solidFill>
            <a:prstDash val="solid"/>
          </a:ln>
        </p:spPr>
      </p:sp>
      <p:sp>
        <p:nvSpPr>
          <p:cNvPr id="9" name="vw-n-1">
            <a:extLst xmlns:a="http://schemas.openxmlformats.org/drawingml/2006/main">
              <a:ext uri="{FF2B5EF4-FFF2-40B4-BE49-F238E27FC236}">
                <a16:creationId xmlns:a16="http://schemas.microsoft.com/office/drawing/2014/main" id="{663852CB-735E-4F85-AD72-BC5EF580C3F6}"/>
              </a:ext>
            </a:extLst>
          </p:cNvPr>
          <p:cNvSpPr>
            <a:spLocks xmlns:a="http://schemas.openxmlformats.org/drawingml/2006/main" noGrp="1"/>
          </p:cNvSpPr>
          <p:nvPr/>
        </p:nvSpPr>
        <p:spPr>
          <a:xfrm xmlns:a="http://schemas.openxmlformats.org/drawingml/2006/main">
            <a:off x="4267200" y="1771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6B4D"/>
                </a:solidFill>
              </a:defRPr>
            </a:pPr>
            <a:r>
              <a:rPr sz="1125" b="1">
                <a:solidFill>
                  <a:srgbClr val="D66B4D"/>
                </a:solidFill>
              </a:rPr>
              <a:t>02</a:t>
            </a:r>
          </a:p>
        </p:txBody>
      </p:sp>
      <p:sp>
        <p:nvSpPr>
          <p:cNvPr id="10" name="vw-h-1">
            <a:extLst xmlns:a="http://schemas.openxmlformats.org/drawingml/2006/main">
              <a:ext uri="{FF2B5EF4-FFF2-40B4-BE49-F238E27FC236}">
                <a16:creationId xmlns:a16="http://schemas.microsoft.com/office/drawing/2014/main" id="{7D2533D2-2818-49D7-8E7B-8FAB3363D049}"/>
              </a:ext>
            </a:extLst>
          </p:cNvPr>
          <p:cNvSpPr>
            <a:spLocks xmlns:a="http://schemas.openxmlformats.org/drawingml/2006/main" noGrp="1"/>
          </p:cNvSpPr>
          <p:nvPr/>
        </p:nvSpPr>
        <p:spPr>
          <a:xfrm xmlns:a="http://schemas.openxmlformats.org/drawingml/2006/main">
            <a:off x="4267200" y="21336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Spark</a:t>
            </a:r>
          </a:p>
        </p:txBody>
      </p:sp>
      <p:sp>
        <p:nvSpPr>
          <p:cNvPr id="11" name="vw-b-1">
            <a:extLst xmlns:a="http://schemas.openxmlformats.org/drawingml/2006/main">
              <a:ext uri="{FF2B5EF4-FFF2-40B4-BE49-F238E27FC236}">
                <a16:creationId xmlns:a16="http://schemas.microsoft.com/office/drawing/2014/main" id="{0701001B-488B-4DFC-A393-AFBC3EEBB9B4}"/>
              </a:ext>
            </a:extLst>
          </p:cNvPr>
          <p:cNvSpPr>
            <a:spLocks xmlns:a="http://schemas.openxmlformats.org/drawingml/2006/main" noGrp="1"/>
          </p:cNvSpPr>
          <p:nvPr/>
        </p:nvSpPr>
        <p:spPr>
          <a:xfrm xmlns:a="http://schemas.openxmlformats.org/drawingml/2006/main">
            <a:off x="4267200" y="26098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agrégats départementaux pré-calculés</a:t>
            </a:r>
          </a:p>
        </p:txBody>
      </p:sp>
      <p:sp>
        <p:nvSpPr>
          <p:cNvPr id="12" name="vw-l-1">
            <a:extLst xmlns:a="http://schemas.openxmlformats.org/drawingml/2006/main">
              <a:ext uri="{FF2B5EF4-FFF2-40B4-BE49-F238E27FC236}">
                <a16:creationId xmlns:a16="http://schemas.microsoft.com/office/drawing/2014/main" id="{5079B336-6EBD-4928-8E0F-8D51482F8927}"/>
              </a:ext>
            </a:extLst>
          </p:cNvPr>
          <p:cNvSpPr>
            <a:spLocks xmlns:a="http://schemas.openxmlformats.org/drawingml/2006/main" noGrp="1"/>
          </p:cNvSpPr>
          <p:nvPr/>
        </p:nvSpPr>
        <p:spPr>
          <a:xfrm xmlns:a="http://schemas.openxmlformats.org/drawingml/2006/main">
            <a:off x="4267200" y="3276600"/>
            <a:ext cx="3048000" cy="0"/>
          </a:xfrm>
          <a:prstGeom xmlns:a="http://schemas.openxmlformats.org/drawingml/2006/main" prst="line">
            <a:avLst/>
          </a:prstGeom>
          <a:noFill xmlns:a="http://schemas.openxmlformats.org/drawingml/2006/main"/>
          <a:ln xmlns:a="http://schemas.openxmlformats.org/drawingml/2006/main" w="9525">
            <a:solidFill>
              <a:srgbClr val="C8D5D1"/>
            </a:solidFill>
            <a:prstDash val="solid"/>
          </a:ln>
        </p:spPr>
      </p:sp>
      <p:sp>
        <p:nvSpPr>
          <p:cNvPr id="13" name="vw-n-2">
            <a:extLst xmlns:a="http://schemas.openxmlformats.org/drawingml/2006/main">
              <a:ext uri="{FF2B5EF4-FFF2-40B4-BE49-F238E27FC236}">
                <a16:creationId xmlns:a16="http://schemas.microsoft.com/office/drawing/2014/main" id="{315A946D-F0A1-4C70-AAEB-13D443295FB5}"/>
              </a:ext>
            </a:extLst>
          </p:cNvPr>
          <p:cNvSpPr>
            <a:spLocks xmlns:a="http://schemas.openxmlformats.org/drawingml/2006/main" noGrp="1"/>
          </p:cNvSpPr>
          <p:nvPr/>
        </p:nvSpPr>
        <p:spPr>
          <a:xfrm xmlns:a="http://schemas.openxmlformats.org/drawingml/2006/main">
            <a:off x="7924800" y="1771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6B4D"/>
                </a:solidFill>
              </a:defRPr>
            </a:pPr>
            <a:r>
              <a:rPr sz="1125" b="1">
                <a:solidFill>
                  <a:srgbClr val="D66B4D"/>
                </a:solidFill>
              </a:rPr>
              <a:t>03</a:t>
            </a:r>
          </a:p>
        </p:txBody>
      </p:sp>
      <p:sp>
        <p:nvSpPr>
          <p:cNvPr id="14" name="vw-h-2">
            <a:extLst xmlns:a="http://schemas.openxmlformats.org/drawingml/2006/main">
              <a:ext uri="{FF2B5EF4-FFF2-40B4-BE49-F238E27FC236}">
                <a16:creationId xmlns:a16="http://schemas.microsoft.com/office/drawing/2014/main" id="{77296A68-0087-41C7-BC64-D3A99A34EA38}"/>
              </a:ext>
            </a:extLst>
          </p:cNvPr>
          <p:cNvSpPr>
            <a:spLocks xmlns:a="http://schemas.openxmlformats.org/drawingml/2006/main" noGrp="1"/>
          </p:cNvSpPr>
          <p:nvPr/>
        </p:nvSpPr>
        <p:spPr>
          <a:xfrm xmlns:a="http://schemas.openxmlformats.org/drawingml/2006/main">
            <a:off x="7924800" y="21336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Socio-économie</a:t>
            </a:r>
          </a:p>
        </p:txBody>
      </p:sp>
      <p:sp>
        <p:nvSpPr>
          <p:cNvPr id="15" name="vw-b-2">
            <a:extLst xmlns:a="http://schemas.openxmlformats.org/drawingml/2006/main">
              <a:ext uri="{FF2B5EF4-FFF2-40B4-BE49-F238E27FC236}">
                <a16:creationId xmlns:a16="http://schemas.microsoft.com/office/drawing/2014/main" id="{D9BA10DE-1CC4-4241-A672-34306B66F217}"/>
              </a:ext>
            </a:extLst>
          </p:cNvPr>
          <p:cNvSpPr>
            <a:spLocks xmlns:a="http://schemas.openxmlformats.org/drawingml/2006/main" noGrp="1"/>
          </p:cNvSpPr>
          <p:nvPr/>
        </p:nvSpPr>
        <p:spPr>
          <a:xfrm xmlns:a="http://schemas.openxmlformats.org/drawingml/2006/main">
            <a:off x="7924800" y="26098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population, revenu, chômage, pauvreté</a:t>
            </a:r>
          </a:p>
        </p:txBody>
      </p:sp>
      <p:sp>
        <p:nvSpPr>
          <p:cNvPr id="16" name="vw-l-2">
            <a:extLst xmlns:a="http://schemas.openxmlformats.org/drawingml/2006/main">
              <a:ext uri="{FF2B5EF4-FFF2-40B4-BE49-F238E27FC236}">
                <a16:creationId xmlns:a16="http://schemas.microsoft.com/office/drawing/2014/main" id="{61498B68-DED5-4439-8AA9-E27C7236675A}"/>
              </a:ext>
            </a:extLst>
          </p:cNvPr>
          <p:cNvSpPr>
            <a:spLocks xmlns:a="http://schemas.openxmlformats.org/drawingml/2006/main" noGrp="1"/>
          </p:cNvSpPr>
          <p:nvPr/>
        </p:nvSpPr>
        <p:spPr>
          <a:xfrm xmlns:a="http://schemas.openxmlformats.org/drawingml/2006/main">
            <a:off x="7924800" y="3276600"/>
            <a:ext cx="3048000" cy="0"/>
          </a:xfrm>
          <a:prstGeom xmlns:a="http://schemas.openxmlformats.org/drawingml/2006/main" prst="line">
            <a:avLst/>
          </a:prstGeom>
          <a:noFill xmlns:a="http://schemas.openxmlformats.org/drawingml/2006/main"/>
          <a:ln xmlns:a="http://schemas.openxmlformats.org/drawingml/2006/main" w="9525">
            <a:solidFill>
              <a:srgbClr val="C8D5D1"/>
            </a:solidFill>
            <a:prstDash val="solid"/>
          </a:ln>
        </p:spPr>
      </p:sp>
      <p:sp>
        <p:nvSpPr>
          <p:cNvPr id="17" name="vw-n-3">
            <a:extLst xmlns:a="http://schemas.openxmlformats.org/drawingml/2006/main">
              <a:ext uri="{FF2B5EF4-FFF2-40B4-BE49-F238E27FC236}">
                <a16:creationId xmlns:a16="http://schemas.microsoft.com/office/drawing/2014/main" id="{1152524F-777D-4DB3-9235-AABEBA459AAE}"/>
              </a:ext>
            </a:extLst>
          </p:cNvPr>
          <p:cNvSpPr>
            <a:spLocks xmlns:a="http://schemas.openxmlformats.org/drawingml/2006/main" noGrp="1"/>
          </p:cNvSpPr>
          <p:nvPr/>
        </p:nvSpPr>
        <p:spPr>
          <a:xfrm xmlns:a="http://schemas.openxmlformats.org/drawingml/2006/main">
            <a:off x="609600" y="36195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6B4D"/>
                </a:solidFill>
              </a:defRPr>
            </a:pPr>
            <a:r>
              <a:rPr sz="1125" b="1">
                <a:solidFill>
                  <a:srgbClr val="D66B4D"/>
                </a:solidFill>
              </a:rPr>
              <a:t>04</a:t>
            </a:r>
          </a:p>
        </p:txBody>
      </p:sp>
      <p:sp>
        <p:nvSpPr>
          <p:cNvPr id="18" name="vw-h-3">
            <a:extLst xmlns:a="http://schemas.openxmlformats.org/drawingml/2006/main">
              <a:ext uri="{FF2B5EF4-FFF2-40B4-BE49-F238E27FC236}">
                <a16:creationId xmlns:a16="http://schemas.microsoft.com/office/drawing/2014/main" id="{C22DB3BB-838F-49FE-9337-D9604CC503DD}"/>
              </a:ext>
            </a:extLst>
          </p:cNvPr>
          <p:cNvSpPr>
            <a:spLocks xmlns:a="http://schemas.openxmlformats.org/drawingml/2006/main" noGrp="1"/>
          </p:cNvSpPr>
          <p:nvPr/>
        </p:nvSpPr>
        <p:spPr>
          <a:xfrm xmlns:a="http://schemas.openxmlformats.org/drawingml/2006/main">
            <a:off x="609600" y="39814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Régions</a:t>
            </a:r>
          </a:p>
        </p:txBody>
      </p:sp>
      <p:sp>
        <p:nvSpPr>
          <p:cNvPr id="19" name="vw-b-3">
            <a:extLst xmlns:a="http://schemas.openxmlformats.org/drawingml/2006/main">
              <a:ext uri="{FF2B5EF4-FFF2-40B4-BE49-F238E27FC236}">
                <a16:creationId xmlns:a16="http://schemas.microsoft.com/office/drawing/2014/main" id="{F2AF7798-7D95-4ED9-B913-ADDD60EBB2BE}"/>
              </a:ext>
            </a:extLst>
          </p:cNvPr>
          <p:cNvSpPr>
            <a:spLocks xmlns:a="http://schemas.openxmlformats.org/drawingml/2006/main" noGrp="1"/>
          </p:cNvSpPr>
          <p:nvPr/>
        </p:nvSpPr>
        <p:spPr>
          <a:xfrm xmlns:a="http://schemas.openxmlformats.org/drawingml/2006/main">
            <a:off x="609600" y="44577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carte, distributions, matrice à cinq variables</a:t>
            </a:r>
          </a:p>
        </p:txBody>
      </p:sp>
      <p:sp>
        <p:nvSpPr>
          <p:cNvPr id="20" name="vw-n-4">
            <a:extLst xmlns:a="http://schemas.openxmlformats.org/drawingml/2006/main">
              <a:ext uri="{FF2B5EF4-FFF2-40B4-BE49-F238E27FC236}">
                <a16:creationId xmlns:a16="http://schemas.microsoft.com/office/drawing/2014/main" id="{B6F8038F-A233-4833-9F95-A55C52C08488}"/>
              </a:ext>
            </a:extLst>
          </p:cNvPr>
          <p:cNvSpPr>
            <a:spLocks xmlns:a="http://schemas.openxmlformats.org/drawingml/2006/main" noGrp="1"/>
          </p:cNvSpPr>
          <p:nvPr/>
        </p:nvSpPr>
        <p:spPr>
          <a:xfrm xmlns:a="http://schemas.openxmlformats.org/drawingml/2006/main">
            <a:off x="4267200" y="36195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6B4D"/>
                </a:solidFill>
              </a:defRPr>
            </a:pPr>
            <a:r>
              <a:rPr sz="1125" b="1">
                <a:solidFill>
                  <a:srgbClr val="D66B4D"/>
                </a:solidFill>
              </a:rPr>
              <a:t>05</a:t>
            </a:r>
          </a:p>
        </p:txBody>
      </p:sp>
      <p:sp>
        <p:nvSpPr>
          <p:cNvPr id="21" name="vw-h-4">
            <a:extLst xmlns:a="http://schemas.openxmlformats.org/drawingml/2006/main">
              <a:ext uri="{FF2B5EF4-FFF2-40B4-BE49-F238E27FC236}">
                <a16:creationId xmlns:a16="http://schemas.microsoft.com/office/drawing/2014/main" id="{9C0F070E-81CF-42B7-B59D-45428102314A}"/>
              </a:ext>
            </a:extLst>
          </p:cNvPr>
          <p:cNvSpPr>
            <a:spLocks xmlns:a="http://schemas.openxmlformats.org/drawingml/2006/main" noGrp="1"/>
          </p:cNvSpPr>
          <p:nvPr/>
        </p:nvSpPr>
        <p:spPr>
          <a:xfrm xmlns:a="http://schemas.openxmlformats.org/drawingml/2006/main">
            <a:off x="4267200" y="39814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Méthodologie</a:t>
            </a:r>
          </a:p>
        </p:txBody>
      </p:sp>
      <p:sp>
        <p:nvSpPr>
          <p:cNvPr id="22" name="vw-b-4">
            <a:extLst xmlns:a="http://schemas.openxmlformats.org/drawingml/2006/main">
              <a:ext uri="{FF2B5EF4-FFF2-40B4-BE49-F238E27FC236}">
                <a16:creationId xmlns:a16="http://schemas.microsoft.com/office/drawing/2014/main" id="{AA859150-D876-42ED-99ED-E62955B52766}"/>
              </a:ext>
            </a:extLst>
          </p:cNvPr>
          <p:cNvSpPr>
            <a:spLocks xmlns:a="http://schemas.openxmlformats.org/drawingml/2006/main" noGrp="1"/>
          </p:cNvSpPr>
          <p:nvPr/>
        </p:nvSpPr>
        <p:spPr>
          <a:xfrm xmlns:a="http://schemas.openxmlformats.org/drawingml/2006/main">
            <a:off x="4267200" y="44577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choix techniques et chiffres de contrôle</a:t>
            </a:r>
          </a:p>
        </p:txBody>
      </p:sp>
      <p:sp>
        <p:nvSpPr>
          <p:cNvPr id="23" name="vw-n-5">
            <a:extLst xmlns:a="http://schemas.openxmlformats.org/drawingml/2006/main">
              <a:ext uri="{FF2B5EF4-FFF2-40B4-BE49-F238E27FC236}">
                <a16:creationId xmlns:a16="http://schemas.microsoft.com/office/drawing/2014/main" id="{2FA76882-1B81-40CC-B826-7FD19F778E7B}"/>
              </a:ext>
            </a:extLst>
          </p:cNvPr>
          <p:cNvSpPr>
            <a:spLocks xmlns:a="http://schemas.openxmlformats.org/drawingml/2006/main" noGrp="1"/>
          </p:cNvSpPr>
          <p:nvPr/>
        </p:nvSpPr>
        <p:spPr>
          <a:xfrm xmlns:a="http://schemas.openxmlformats.org/drawingml/2006/main">
            <a:off x="7924800" y="36195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6B4D"/>
                </a:solidFill>
              </a:defRPr>
            </a:pPr>
            <a:r>
              <a:rPr sz="1125" b="1">
                <a:solidFill>
                  <a:srgbClr val="D66B4D"/>
                </a:solidFill>
              </a:rPr>
              <a:t>06</a:t>
            </a:r>
          </a:p>
        </p:txBody>
      </p:sp>
      <p:sp>
        <p:nvSpPr>
          <p:cNvPr id="24" name="vw-h-5">
            <a:extLst xmlns:a="http://schemas.openxmlformats.org/drawingml/2006/main">
              <a:ext uri="{FF2B5EF4-FFF2-40B4-BE49-F238E27FC236}">
                <a16:creationId xmlns:a16="http://schemas.microsoft.com/office/drawing/2014/main" id="{A2DFCB40-0DAF-465D-8C6C-DABDDD3C3BE8}"/>
              </a:ext>
            </a:extLst>
          </p:cNvPr>
          <p:cNvSpPr>
            <a:spLocks xmlns:a="http://schemas.openxmlformats.org/drawingml/2006/main" noGrp="1"/>
          </p:cNvSpPr>
          <p:nvPr/>
        </p:nvSpPr>
        <p:spPr>
          <a:xfrm xmlns:a="http://schemas.openxmlformats.org/drawingml/2006/main">
            <a:off x="7924800" y="39814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02A2A"/>
                </a:solidFill>
              </a:defRPr>
            </a:pPr>
            <a:r>
              <a:rPr sz="1800" b="1">
                <a:solidFill>
                  <a:srgbClr val="102A2A"/>
                </a:solidFill>
              </a:rPr>
              <a:t>Temps réel</a:t>
            </a:r>
          </a:p>
        </p:txBody>
      </p:sp>
      <p:sp>
        <p:nvSpPr>
          <p:cNvPr id="25" name="vw-b-5">
            <a:extLst xmlns:a="http://schemas.openxmlformats.org/drawingml/2006/main">
              <a:ext uri="{FF2B5EF4-FFF2-40B4-BE49-F238E27FC236}">
                <a16:creationId xmlns:a16="http://schemas.microsoft.com/office/drawing/2014/main" id="{F0CF9453-88D2-46B2-9E1E-A129B4024E5D}"/>
              </a:ext>
            </a:extLst>
          </p:cNvPr>
          <p:cNvSpPr>
            <a:spLocks xmlns:a="http://schemas.openxmlformats.org/drawingml/2006/main" noGrp="1"/>
          </p:cNvSpPr>
          <p:nvPr/>
        </p:nvSpPr>
        <p:spPr>
          <a:xfrm xmlns:a="http://schemas.openxmlformats.org/drawingml/2006/main">
            <a:off x="7924800" y="44577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latest, runs, history et simulation</a:t>
            </a:r>
          </a:p>
        </p:txBody>
      </p:sp>
      <p:sp>
        <p:nvSpPr>
          <p:cNvPr id="26" name="vw-foot">
            <a:extLst xmlns:a="http://schemas.openxmlformats.org/drawingml/2006/main">
              <a:ext uri="{FF2B5EF4-FFF2-40B4-BE49-F238E27FC236}">
                <a16:creationId xmlns:a16="http://schemas.microsoft.com/office/drawing/2014/main" id="{5C1D5611-6D1B-45C3-8E8C-A4EF289C82E1}"/>
              </a:ext>
            </a:extLst>
          </p:cNvPr>
          <p:cNvSpPr>
            <a:spLocks xmlns:a="http://schemas.openxmlformats.org/drawingml/2006/main" noGrp="1"/>
          </p:cNvSpPr>
          <p:nvPr/>
        </p:nvSpPr>
        <p:spPr>
          <a:xfrm xmlns:a="http://schemas.openxmlformats.org/drawingml/2006/main">
            <a:off x="2095500" y="58102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F6F5F"/>
                </a:solidFill>
              </a:defRPr>
            </a:pPr>
            <a:r>
              <a:rPr sz="1500" b="1">
                <a:solidFill>
                  <a:srgbClr val="1F6F5F"/>
                </a:solidFill>
              </a:rPr>
              <a:t>Les pages sont différentes ; le périmètre filtré reste cohérent.</a:t>
            </a:r>
          </a:p>
        </p:txBody>
      </p:sp>
    </p:spTree>
    <p:extLst>
      <p:ext uri="{BB962C8B-B14F-4D97-AF65-F5344CB8AC3E}">
        <p14:creationId xmlns:p14="http://schemas.microsoft.com/office/powerpoint/2010/main" val="536969550"/>
      </p:ext>
    </p:extLst>
  </p:cSld>
</p:sld>
</file>

<file path=ppt/slides/slide2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7" name="kicker-21">
            <a:extLst xmlns:a="http://schemas.openxmlformats.org/drawingml/2006/main">
              <a:ext uri="{FF2B5EF4-FFF2-40B4-BE49-F238E27FC236}">
                <a16:creationId xmlns:a16="http://schemas.microsoft.com/office/drawing/2014/main" id="{1B9AF0D8-3D33-4151-8394-79B17C12C85F}"/>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DÉPLOIEMENT LOCAL</a:t>
            </a:r>
          </a:p>
        </p:txBody>
      </p:sp>
      <p:sp>
        <p:nvSpPr>
          <p:cNvPr id="2" name="title-21">
            <a:extLst xmlns:a="http://schemas.openxmlformats.org/drawingml/2006/main">
              <a:ext uri="{FF2B5EF4-FFF2-40B4-BE49-F238E27FC236}">
                <a16:creationId xmlns:a16="http://schemas.microsoft.com/office/drawing/2014/main" id="{32030887-E1BA-4C8E-BEDD-CC799F627739}"/>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Docker Compose rend les services reproductibles sur une machine</a:t>
            </a:r>
          </a:p>
        </p:txBody>
      </p:sp>
      <p:sp>
        <p:nvSpPr>
          <p:cNvPr id="3" name="rule-21">
            <a:extLst xmlns:a="http://schemas.openxmlformats.org/drawingml/2006/main">
              <a:ext uri="{FF2B5EF4-FFF2-40B4-BE49-F238E27FC236}">
                <a16:creationId xmlns:a16="http://schemas.microsoft.com/office/drawing/2014/main" id="{6C448451-5646-4DDA-894B-D43EBB3A72FE}"/>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21">
            <a:extLst xmlns:a="http://schemas.openxmlformats.org/drawingml/2006/main">
              <a:ext uri="{FF2B5EF4-FFF2-40B4-BE49-F238E27FC236}">
                <a16:creationId xmlns:a16="http://schemas.microsoft.com/office/drawing/2014/main" id="{E9B8D02A-8F60-4315-896B-23595F8D42FB}"/>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21</a:t>
            </a:r>
          </a:p>
        </p:txBody>
      </p:sp>
      <p:sp>
        <p:nvSpPr>
          <p:cNvPr id="5" name="dc-0">
            <a:extLst xmlns:a="http://schemas.openxmlformats.org/drawingml/2006/main">
              <a:ext uri="{FF2B5EF4-FFF2-40B4-BE49-F238E27FC236}">
                <a16:creationId xmlns:a16="http://schemas.microsoft.com/office/drawing/2014/main" id="{AB1C6827-1F8C-4566-9CF0-039AF4EB17E0}"/>
              </a:ext>
            </a:extLst>
          </p:cNvPr>
          <p:cNvSpPr>
            <a:spLocks xmlns:a="http://schemas.openxmlformats.org/drawingml/2006/main" noGrp="1"/>
          </p:cNvSpPr>
          <p:nvPr/>
        </p:nvSpPr>
        <p:spPr>
          <a:xfrm xmlns:a="http://schemas.openxmlformats.org/drawingml/2006/main">
            <a:off x="609600" y="1809750"/>
            <a:ext cx="2381250" cy="1238250"/>
          </a:xfrm>
          <a:prstGeom xmlns:a="http://schemas.openxmlformats.org/drawingml/2006/main" prst="roundRect">
            <a:avLst>
              <a:gd name="adj" fmla="val 12308"/>
            </a:avLst>
          </a:prstGeom>
          <a:solidFill xmlns:a="http://schemas.openxmlformats.org/drawingml/2006/main">
            <a:srgbClr val="153D3A"/>
          </a:solidFill>
          <a:ln xmlns:a="http://schemas.openxmlformats.org/drawingml/2006/main" w="11430">
            <a:solidFill>
              <a:srgbClr val="153D3A"/>
            </a:solidFill>
            <a:prstDash val="solid"/>
          </a:ln>
        </p:spPr>
      </p:sp>
      <p:sp>
        <p:nvSpPr>
          <p:cNvPr id="6" name="dc-h-0">
            <a:extLst xmlns:a="http://schemas.openxmlformats.org/drawingml/2006/main">
              <a:ext uri="{FF2B5EF4-FFF2-40B4-BE49-F238E27FC236}">
                <a16:creationId xmlns:a16="http://schemas.microsoft.com/office/drawing/2014/main" id="{F72D9ABD-1E45-4840-824E-9183F1A742DF}"/>
              </a:ext>
            </a:extLst>
          </p:cNvPr>
          <p:cNvSpPr>
            <a:spLocks xmlns:a="http://schemas.openxmlformats.org/drawingml/2006/main" noGrp="1"/>
          </p:cNvSpPr>
          <p:nvPr/>
        </p:nvSpPr>
        <p:spPr>
          <a:xfrm xmlns:a="http://schemas.openxmlformats.org/drawingml/2006/main">
            <a:off x="742950" y="201930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defRPr>
            </a:pPr>
            <a:r>
              <a:rPr sz="1425" b="1">
                <a:solidFill>
                  <a:srgbClr val="FFFFFF"/>
                </a:solidFill>
              </a:rPr>
              <a:t>app</a:t>
            </a:r>
          </a:p>
        </p:txBody>
      </p:sp>
      <p:sp>
        <p:nvSpPr>
          <p:cNvPr id="7" name="dc-b-0">
            <a:extLst xmlns:a="http://schemas.openxmlformats.org/drawingml/2006/main">
              <a:ext uri="{FF2B5EF4-FFF2-40B4-BE49-F238E27FC236}">
                <a16:creationId xmlns:a16="http://schemas.microsoft.com/office/drawing/2014/main" id="{74A09E7B-AED4-4CA5-9171-C7B38BEB7391}"/>
              </a:ext>
            </a:extLst>
          </p:cNvPr>
          <p:cNvSpPr>
            <a:spLocks xmlns:a="http://schemas.openxmlformats.org/drawingml/2006/main" noGrp="1"/>
          </p:cNvSpPr>
          <p:nvPr/>
        </p:nvSpPr>
        <p:spPr>
          <a:xfrm xmlns:a="http://schemas.openxmlformats.org/drawingml/2006/main">
            <a:off x="742950" y="2438400"/>
            <a:ext cx="2114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DCEDE7"/>
                </a:solidFill>
              </a:defRPr>
            </a:pPr>
            <a:r>
              <a:rPr sz="1200" b="0">
                <a:solidFill>
                  <a:srgbClr val="DCEDE7"/>
                </a:solidFill>
              </a:rPr>
              <a:t>:8501</a:t>
            </a:r>
          </a:p>
          <a:p xmlns:a="http://schemas.openxmlformats.org/drawingml/2006/main">
            <a:pPr algn="ctr">
              <a:defRPr sz="1200" b="0">
                <a:solidFill>
                  <a:srgbClr val="DCEDE7"/>
                </a:solidFill>
              </a:defRPr>
            </a:pPr>
            <a:r>
              <a:rPr sz="1200" b="0">
                <a:solidFill>
                  <a:srgbClr val="DCEDE7"/>
                </a:solidFill>
              </a:rPr>
              <a:t>Streamlit</a:t>
            </a:r>
          </a:p>
        </p:txBody>
      </p:sp>
      <p:sp>
        <p:nvSpPr>
          <p:cNvPr id="8" name="dc-1">
            <a:extLst xmlns:a="http://schemas.openxmlformats.org/drawingml/2006/main">
              <a:ext uri="{FF2B5EF4-FFF2-40B4-BE49-F238E27FC236}">
                <a16:creationId xmlns:a16="http://schemas.microsoft.com/office/drawing/2014/main" id="{A8193334-5926-4BB2-AE4F-BF084FCEC798}"/>
              </a:ext>
            </a:extLst>
          </p:cNvPr>
          <p:cNvSpPr>
            <a:spLocks xmlns:a="http://schemas.openxmlformats.org/drawingml/2006/main" noGrp="1"/>
          </p:cNvSpPr>
          <p:nvPr/>
        </p:nvSpPr>
        <p:spPr>
          <a:xfrm xmlns:a="http://schemas.openxmlformats.org/drawingml/2006/main">
            <a:off x="3352800" y="1809750"/>
            <a:ext cx="23812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1430">
            <a:solidFill>
              <a:srgbClr val="C8D5D1"/>
            </a:solidFill>
            <a:prstDash val="solid"/>
          </a:ln>
        </p:spPr>
      </p:sp>
      <p:sp>
        <p:nvSpPr>
          <p:cNvPr id="9" name="dc-h-1">
            <a:extLst xmlns:a="http://schemas.openxmlformats.org/drawingml/2006/main">
              <a:ext uri="{FF2B5EF4-FFF2-40B4-BE49-F238E27FC236}">
                <a16:creationId xmlns:a16="http://schemas.microsoft.com/office/drawing/2014/main" id="{B4EA9823-3F27-48AC-8D21-67C02226422F}"/>
              </a:ext>
            </a:extLst>
          </p:cNvPr>
          <p:cNvSpPr>
            <a:spLocks xmlns:a="http://schemas.openxmlformats.org/drawingml/2006/main" noGrp="1"/>
          </p:cNvSpPr>
          <p:nvPr/>
        </p:nvSpPr>
        <p:spPr>
          <a:xfrm xmlns:a="http://schemas.openxmlformats.org/drawingml/2006/main">
            <a:off x="3486150" y="201930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02A2A"/>
                </a:solidFill>
              </a:defRPr>
            </a:pPr>
            <a:r>
              <a:rPr sz="1425" b="1">
                <a:solidFill>
                  <a:srgbClr val="102A2A"/>
                </a:solidFill>
              </a:rPr>
              <a:t>realtime-price</a:t>
            </a:r>
          </a:p>
        </p:txBody>
      </p:sp>
      <p:sp>
        <p:nvSpPr>
          <p:cNvPr id="10" name="dc-b-1">
            <a:extLst xmlns:a="http://schemas.openxmlformats.org/drawingml/2006/main">
              <a:ext uri="{FF2B5EF4-FFF2-40B4-BE49-F238E27FC236}">
                <a16:creationId xmlns:a16="http://schemas.microsoft.com/office/drawing/2014/main" id="{FBD429E9-AF7C-4771-8135-8419288E4E55}"/>
              </a:ext>
            </a:extLst>
          </p:cNvPr>
          <p:cNvSpPr>
            <a:spLocks xmlns:a="http://schemas.openxmlformats.org/drawingml/2006/main" noGrp="1"/>
          </p:cNvSpPr>
          <p:nvPr/>
        </p:nvSpPr>
        <p:spPr>
          <a:xfrm xmlns:a="http://schemas.openxmlformats.org/drawingml/2006/main">
            <a:off x="3486150" y="2438400"/>
            <a:ext cx="2114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worker</a:t>
            </a:r>
          </a:p>
          <a:p xmlns:a="http://schemas.openxmlformats.org/drawingml/2006/main">
            <a:pPr algn="ctr">
              <a:defRPr sz="1200" b="0">
                <a:solidFill>
                  <a:srgbClr val="62706D"/>
                </a:solidFill>
              </a:defRPr>
            </a:pPr>
            <a:r>
              <a:rPr sz="1200" b="0">
                <a:solidFill>
                  <a:srgbClr val="62706D"/>
                </a:solidFill>
              </a:rPr>
              <a:t>périodique</a:t>
            </a:r>
          </a:p>
        </p:txBody>
      </p:sp>
      <p:sp>
        <p:nvSpPr>
          <p:cNvPr id="11" name="dc-2">
            <a:extLst xmlns:a="http://schemas.openxmlformats.org/drawingml/2006/main">
              <a:ext uri="{FF2B5EF4-FFF2-40B4-BE49-F238E27FC236}">
                <a16:creationId xmlns:a16="http://schemas.microsoft.com/office/drawing/2014/main" id="{8FFC85F2-4FD2-498B-A7EC-AF64B64FD539}"/>
              </a:ext>
            </a:extLst>
          </p:cNvPr>
          <p:cNvSpPr>
            <a:spLocks xmlns:a="http://schemas.openxmlformats.org/drawingml/2006/main" noGrp="1"/>
          </p:cNvSpPr>
          <p:nvPr/>
        </p:nvSpPr>
        <p:spPr>
          <a:xfrm xmlns:a="http://schemas.openxmlformats.org/drawingml/2006/main">
            <a:off x="6096000" y="1809750"/>
            <a:ext cx="23812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1430">
            <a:solidFill>
              <a:srgbClr val="C8D5D1"/>
            </a:solidFill>
            <a:prstDash val="solid"/>
          </a:ln>
        </p:spPr>
      </p:sp>
      <p:sp>
        <p:nvSpPr>
          <p:cNvPr id="12" name="dc-h-2">
            <a:extLst xmlns:a="http://schemas.openxmlformats.org/drawingml/2006/main">
              <a:ext uri="{FF2B5EF4-FFF2-40B4-BE49-F238E27FC236}">
                <a16:creationId xmlns:a16="http://schemas.microsoft.com/office/drawing/2014/main" id="{E0723C92-D8C8-4799-8FB9-F46A00D38882}"/>
              </a:ext>
            </a:extLst>
          </p:cNvPr>
          <p:cNvSpPr>
            <a:spLocks xmlns:a="http://schemas.openxmlformats.org/drawingml/2006/main" noGrp="1"/>
          </p:cNvSpPr>
          <p:nvPr/>
        </p:nvSpPr>
        <p:spPr>
          <a:xfrm xmlns:a="http://schemas.openxmlformats.org/drawingml/2006/main">
            <a:off x="6229350" y="201930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02A2A"/>
                </a:solidFill>
              </a:defRPr>
            </a:pPr>
            <a:r>
              <a:rPr sz="1425" b="1">
                <a:solidFill>
                  <a:srgbClr val="102A2A"/>
                </a:solidFill>
              </a:rPr>
              <a:t>mongo</a:t>
            </a:r>
          </a:p>
        </p:txBody>
      </p:sp>
      <p:sp>
        <p:nvSpPr>
          <p:cNvPr id="13" name="dc-b-2">
            <a:extLst xmlns:a="http://schemas.openxmlformats.org/drawingml/2006/main">
              <a:ext uri="{FF2B5EF4-FFF2-40B4-BE49-F238E27FC236}">
                <a16:creationId xmlns:a16="http://schemas.microsoft.com/office/drawing/2014/main" id="{22B3AEB1-6092-4526-9CDA-CF2C817B4D5F}"/>
              </a:ext>
            </a:extLst>
          </p:cNvPr>
          <p:cNvSpPr>
            <a:spLocks xmlns:a="http://schemas.openxmlformats.org/drawingml/2006/main" noGrp="1"/>
          </p:cNvSpPr>
          <p:nvPr/>
        </p:nvSpPr>
        <p:spPr>
          <a:xfrm xmlns:a="http://schemas.openxmlformats.org/drawingml/2006/main">
            <a:off x="6229350" y="2438400"/>
            <a:ext cx="2114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:27017</a:t>
            </a:r>
          </a:p>
          <a:p xmlns:a="http://schemas.openxmlformats.org/drawingml/2006/main">
            <a:pPr algn="ctr">
              <a:defRPr sz="1200" b="0">
                <a:solidFill>
                  <a:srgbClr val="62706D"/>
                </a:solidFill>
              </a:defRPr>
            </a:pPr>
            <a:r>
              <a:rPr sz="1200" b="0">
                <a:solidFill>
                  <a:srgbClr val="62706D"/>
                </a:solidFill>
              </a:rPr>
              <a:t>MongoDB 7</a:t>
            </a:r>
          </a:p>
        </p:txBody>
      </p:sp>
      <p:sp>
        <p:nvSpPr>
          <p:cNvPr id="14" name="dc-3">
            <a:extLst xmlns:a="http://schemas.openxmlformats.org/drawingml/2006/main">
              <a:ext uri="{FF2B5EF4-FFF2-40B4-BE49-F238E27FC236}">
                <a16:creationId xmlns:a16="http://schemas.microsoft.com/office/drawing/2014/main" id="{80954BBD-F7B4-499D-A4DC-6C44BACCBEDD}"/>
              </a:ext>
            </a:extLst>
          </p:cNvPr>
          <p:cNvSpPr>
            <a:spLocks xmlns:a="http://schemas.openxmlformats.org/drawingml/2006/main" noGrp="1"/>
          </p:cNvSpPr>
          <p:nvPr/>
        </p:nvSpPr>
        <p:spPr>
          <a:xfrm xmlns:a="http://schemas.openxmlformats.org/drawingml/2006/main">
            <a:off x="8839200" y="1809750"/>
            <a:ext cx="23812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1430">
            <a:solidFill>
              <a:srgbClr val="C8D5D1"/>
            </a:solidFill>
            <a:prstDash val="solid"/>
          </a:ln>
        </p:spPr>
      </p:sp>
      <p:sp>
        <p:nvSpPr>
          <p:cNvPr id="15" name="dc-h-3">
            <a:extLst xmlns:a="http://schemas.openxmlformats.org/drawingml/2006/main">
              <a:ext uri="{FF2B5EF4-FFF2-40B4-BE49-F238E27FC236}">
                <a16:creationId xmlns:a16="http://schemas.microsoft.com/office/drawing/2014/main" id="{FC95D1A3-ABDB-40C8-8BFA-D0BB0164EBD3}"/>
              </a:ext>
            </a:extLst>
          </p:cNvPr>
          <p:cNvSpPr>
            <a:spLocks xmlns:a="http://schemas.openxmlformats.org/drawingml/2006/main" noGrp="1"/>
          </p:cNvSpPr>
          <p:nvPr/>
        </p:nvSpPr>
        <p:spPr>
          <a:xfrm xmlns:a="http://schemas.openxmlformats.org/drawingml/2006/main">
            <a:off x="8972550" y="201930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02A2A"/>
                </a:solidFill>
              </a:defRPr>
            </a:pPr>
            <a:r>
              <a:rPr sz="1425" b="1">
                <a:solidFill>
                  <a:srgbClr val="102A2A"/>
                </a:solidFill>
              </a:rPr>
              <a:t>metabase</a:t>
            </a:r>
          </a:p>
        </p:txBody>
      </p:sp>
      <p:sp>
        <p:nvSpPr>
          <p:cNvPr id="16" name="dc-b-3">
            <a:extLst xmlns:a="http://schemas.openxmlformats.org/drawingml/2006/main">
              <a:ext uri="{FF2B5EF4-FFF2-40B4-BE49-F238E27FC236}">
                <a16:creationId xmlns:a16="http://schemas.microsoft.com/office/drawing/2014/main" id="{4DDBCCD6-35D9-4488-A88C-F270422A080E}"/>
              </a:ext>
            </a:extLst>
          </p:cNvPr>
          <p:cNvSpPr>
            <a:spLocks xmlns:a="http://schemas.openxmlformats.org/drawingml/2006/main" noGrp="1"/>
          </p:cNvSpPr>
          <p:nvPr/>
        </p:nvSpPr>
        <p:spPr>
          <a:xfrm xmlns:a="http://schemas.openxmlformats.org/drawingml/2006/main">
            <a:off x="8972550" y="2438400"/>
            <a:ext cx="2114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:3000</a:t>
            </a:r>
          </a:p>
          <a:p xmlns:a="http://schemas.openxmlformats.org/drawingml/2006/main">
            <a:pPr algn="ctr">
              <a:defRPr sz="1200" b="0">
                <a:solidFill>
                  <a:srgbClr val="62706D"/>
                </a:solidFill>
              </a:defRPr>
            </a:pPr>
            <a:r>
              <a:rPr sz="1200" b="0">
                <a:solidFill>
                  <a:srgbClr val="62706D"/>
                </a:solidFill>
              </a:rPr>
              <a:t>BI optionnelle</a:t>
            </a:r>
          </a:p>
        </p:txBody>
      </p:sp>
      <p:sp>
        <p:nvSpPr>
          <p:cNvPr id="17" name="dc-4">
            <a:extLst xmlns:a="http://schemas.openxmlformats.org/drawingml/2006/main">
              <a:ext uri="{FF2B5EF4-FFF2-40B4-BE49-F238E27FC236}">
                <a16:creationId xmlns:a16="http://schemas.microsoft.com/office/drawing/2014/main" id="{B98A2347-A4A7-4B1C-87A4-8AFF2ED306B8}"/>
              </a:ext>
            </a:extLst>
          </p:cNvPr>
          <p:cNvSpPr>
            <a:spLocks xmlns:a="http://schemas.openxmlformats.org/drawingml/2006/main" noGrp="1"/>
          </p:cNvSpPr>
          <p:nvPr/>
        </p:nvSpPr>
        <p:spPr>
          <a:xfrm xmlns:a="http://schemas.openxmlformats.org/drawingml/2006/main">
            <a:off x="609600" y="3905250"/>
            <a:ext cx="304800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1430">
            <a:solidFill>
              <a:srgbClr val="C8D5D1"/>
            </a:solidFill>
            <a:prstDash val="solid"/>
          </a:ln>
        </p:spPr>
      </p:sp>
      <p:sp>
        <p:nvSpPr>
          <p:cNvPr id="18" name="dc-h-4">
            <a:extLst xmlns:a="http://schemas.openxmlformats.org/drawingml/2006/main">
              <a:ext uri="{FF2B5EF4-FFF2-40B4-BE49-F238E27FC236}">
                <a16:creationId xmlns:a16="http://schemas.microsoft.com/office/drawing/2014/main" id="{B615DBCF-3B15-4CD1-B8D8-2F99393D1D0F}"/>
              </a:ext>
            </a:extLst>
          </p:cNvPr>
          <p:cNvSpPr>
            <a:spLocks xmlns:a="http://schemas.openxmlformats.org/drawingml/2006/main" noGrp="1"/>
          </p:cNvSpPr>
          <p:nvPr/>
        </p:nvSpPr>
        <p:spPr>
          <a:xfrm xmlns:a="http://schemas.openxmlformats.org/drawingml/2006/main">
            <a:off x="742950" y="41148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02A2A"/>
                </a:solidFill>
              </a:defRPr>
            </a:pPr>
            <a:r>
              <a:rPr sz="1425" b="1">
                <a:solidFill>
                  <a:srgbClr val="102A2A"/>
                </a:solidFill>
              </a:rPr>
              <a:t>spark-master</a:t>
            </a:r>
          </a:p>
        </p:txBody>
      </p:sp>
      <p:sp>
        <p:nvSpPr>
          <p:cNvPr id="19" name="dc-b-4">
            <a:extLst xmlns:a="http://schemas.openxmlformats.org/drawingml/2006/main">
              <a:ext uri="{FF2B5EF4-FFF2-40B4-BE49-F238E27FC236}">
                <a16:creationId xmlns:a16="http://schemas.microsoft.com/office/drawing/2014/main" id="{3CA5A948-9C0D-4D89-BE0C-5F28CC8B5F55}"/>
              </a:ext>
            </a:extLst>
          </p:cNvPr>
          <p:cNvSpPr>
            <a:spLocks xmlns:a="http://schemas.openxmlformats.org/drawingml/2006/main" noGrp="1"/>
          </p:cNvSpPr>
          <p:nvPr/>
        </p:nvSpPr>
        <p:spPr>
          <a:xfrm xmlns:a="http://schemas.openxmlformats.org/drawingml/2006/main">
            <a:off x="742950" y="45339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:7077 / :8080</a:t>
            </a:r>
          </a:p>
        </p:txBody>
      </p:sp>
      <p:sp>
        <p:nvSpPr>
          <p:cNvPr id="20" name="dc-5">
            <a:extLst xmlns:a="http://schemas.openxmlformats.org/drawingml/2006/main">
              <a:ext uri="{FF2B5EF4-FFF2-40B4-BE49-F238E27FC236}">
                <a16:creationId xmlns:a16="http://schemas.microsoft.com/office/drawing/2014/main" id="{FD5496B4-14B7-4CBC-B1DD-A48003FFBD7A}"/>
              </a:ext>
            </a:extLst>
          </p:cNvPr>
          <p:cNvSpPr>
            <a:spLocks xmlns:a="http://schemas.openxmlformats.org/drawingml/2006/main" noGrp="1"/>
          </p:cNvSpPr>
          <p:nvPr/>
        </p:nvSpPr>
        <p:spPr>
          <a:xfrm xmlns:a="http://schemas.openxmlformats.org/drawingml/2006/main">
            <a:off x="4267200" y="3905250"/>
            <a:ext cx="304800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1430">
            <a:solidFill>
              <a:srgbClr val="C8D5D1"/>
            </a:solidFill>
            <a:prstDash val="solid"/>
          </a:ln>
        </p:spPr>
      </p:sp>
      <p:sp>
        <p:nvSpPr>
          <p:cNvPr id="21" name="dc-h-5">
            <a:extLst xmlns:a="http://schemas.openxmlformats.org/drawingml/2006/main">
              <a:ext uri="{FF2B5EF4-FFF2-40B4-BE49-F238E27FC236}">
                <a16:creationId xmlns:a16="http://schemas.microsoft.com/office/drawing/2014/main" id="{CC4C14F5-0710-4A0F-882F-DA7030BC9A0B}"/>
              </a:ext>
            </a:extLst>
          </p:cNvPr>
          <p:cNvSpPr>
            <a:spLocks xmlns:a="http://schemas.openxmlformats.org/drawingml/2006/main" noGrp="1"/>
          </p:cNvSpPr>
          <p:nvPr/>
        </p:nvSpPr>
        <p:spPr>
          <a:xfrm xmlns:a="http://schemas.openxmlformats.org/drawingml/2006/main">
            <a:off x="4400550" y="41148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02A2A"/>
                </a:solidFill>
              </a:defRPr>
            </a:pPr>
            <a:r>
              <a:rPr sz="1425" b="1">
                <a:solidFill>
                  <a:srgbClr val="102A2A"/>
                </a:solidFill>
              </a:rPr>
              <a:t>2 workers</a:t>
            </a:r>
          </a:p>
        </p:txBody>
      </p:sp>
      <p:sp>
        <p:nvSpPr>
          <p:cNvPr id="22" name="dc-b-5">
            <a:extLst xmlns:a="http://schemas.openxmlformats.org/drawingml/2006/main">
              <a:ext uri="{FF2B5EF4-FFF2-40B4-BE49-F238E27FC236}">
                <a16:creationId xmlns:a16="http://schemas.microsoft.com/office/drawing/2014/main" id="{81EECEF9-A6E2-4EF0-8930-02F3FBAAD84A}"/>
              </a:ext>
            </a:extLst>
          </p:cNvPr>
          <p:cNvSpPr>
            <a:spLocks xmlns:a="http://schemas.openxmlformats.org/drawingml/2006/main" noGrp="1"/>
          </p:cNvSpPr>
          <p:nvPr/>
        </p:nvSpPr>
        <p:spPr>
          <a:xfrm xmlns:a="http://schemas.openxmlformats.org/drawingml/2006/main">
            <a:off x="4400550" y="45339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1 cœur · 1 Gio</a:t>
            </a:r>
          </a:p>
          <a:p xmlns:a="http://schemas.openxmlformats.org/drawingml/2006/main">
            <a:pPr algn="ctr">
              <a:defRPr sz="1200" b="0">
                <a:solidFill>
                  <a:srgbClr val="62706D"/>
                </a:solidFill>
              </a:defRPr>
            </a:pPr>
            <a:r>
              <a:rPr sz="1200" b="0">
                <a:solidFill>
                  <a:srgbClr val="62706D"/>
                </a:solidFill>
              </a:rPr>
              <a:t>chacun</a:t>
            </a:r>
          </a:p>
        </p:txBody>
      </p:sp>
      <p:sp>
        <p:nvSpPr>
          <p:cNvPr id="23" name="dc-6">
            <a:extLst xmlns:a="http://schemas.openxmlformats.org/drawingml/2006/main">
              <a:ext uri="{FF2B5EF4-FFF2-40B4-BE49-F238E27FC236}">
                <a16:creationId xmlns:a16="http://schemas.microsoft.com/office/drawing/2014/main" id="{7F1B2163-56B2-4BBD-8528-207373744B4C}"/>
              </a:ext>
            </a:extLst>
          </p:cNvPr>
          <p:cNvSpPr>
            <a:spLocks xmlns:a="http://schemas.openxmlformats.org/drawingml/2006/main" noGrp="1"/>
          </p:cNvSpPr>
          <p:nvPr/>
        </p:nvSpPr>
        <p:spPr>
          <a:xfrm xmlns:a="http://schemas.openxmlformats.org/drawingml/2006/main">
            <a:off x="7924800" y="3905250"/>
            <a:ext cx="304800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1430">
            <a:solidFill>
              <a:srgbClr val="C8D5D1"/>
            </a:solidFill>
            <a:prstDash val="solid"/>
          </a:ln>
        </p:spPr>
      </p:sp>
      <p:sp>
        <p:nvSpPr>
          <p:cNvPr id="24" name="dc-h-6">
            <a:extLst xmlns:a="http://schemas.openxmlformats.org/drawingml/2006/main">
              <a:ext uri="{FF2B5EF4-FFF2-40B4-BE49-F238E27FC236}">
                <a16:creationId xmlns:a16="http://schemas.microsoft.com/office/drawing/2014/main" id="{BA6501DD-AEF8-43C2-B503-82E48632F867}"/>
              </a:ext>
            </a:extLst>
          </p:cNvPr>
          <p:cNvSpPr>
            <a:spLocks xmlns:a="http://schemas.openxmlformats.org/drawingml/2006/main" noGrp="1"/>
          </p:cNvSpPr>
          <p:nvPr/>
        </p:nvSpPr>
        <p:spPr>
          <a:xfrm xmlns:a="http://schemas.openxmlformats.org/drawingml/2006/main">
            <a:off x="8058150" y="41148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02A2A"/>
                </a:solidFill>
              </a:defRPr>
            </a:pPr>
            <a:r>
              <a:rPr sz="1425" b="1">
                <a:solidFill>
                  <a:srgbClr val="102A2A"/>
                </a:solidFill>
              </a:rPr>
              <a:t>spark-submit</a:t>
            </a:r>
          </a:p>
        </p:txBody>
      </p:sp>
      <p:sp>
        <p:nvSpPr>
          <p:cNvPr id="25" name="dc-b-6">
            <a:extLst xmlns:a="http://schemas.openxmlformats.org/drawingml/2006/main">
              <a:ext uri="{FF2B5EF4-FFF2-40B4-BE49-F238E27FC236}">
                <a16:creationId xmlns:a16="http://schemas.microsoft.com/office/drawing/2014/main" id="{2854EE9A-84F7-4814-A8E7-9E14FB4FBCC9}"/>
              </a:ext>
            </a:extLst>
          </p:cNvPr>
          <p:cNvSpPr>
            <a:spLocks xmlns:a="http://schemas.openxmlformats.org/drawingml/2006/main" noGrp="1"/>
          </p:cNvSpPr>
          <p:nvPr/>
        </p:nvSpPr>
        <p:spPr>
          <a:xfrm xmlns:a="http://schemas.openxmlformats.org/drawingml/2006/main">
            <a:off x="8058150" y="45339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62706D"/>
                </a:solidFill>
              </a:defRPr>
            </a:pPr>
            <a:r>
              <a:rPr sz="1200" b="0">
                <a:solidFill>
                  <a:srgbClr val="62706D"/>
                </a:solidFill>
              </a:rPr>
              <a:t>profil tools</a:t>
            </a:r>
          </a:p>
          <a:p xmlns:a="http://schemas.openxmlformats.org/drawingml/2006/main">
            <a:pPr algn="ctr">
              <a:defRPr sz="1200" b="0">
                <a:solidFill>
                  <a:srgbClr val="62706D"/>
                </a:solidFill>
              </a:defRPr>
            </a:pPr>
            <a:r>
              <a:rPr sz="1200" b="0">
                <a:solidFill>
                  <a:srgbClr val="62706D"/>
                </a:solidFill>
              </a:rPr>
              <a:t>job ponctuel</a:t>
            </a:r>
          </a:p>
        </p:txBody>
      </p:sp>
      <p:sp>
        <p:nvSpPr>
          <p:cNvPr id="26" name="dc-foot">
            <a:extLst xmlns:a="http://schemas.openxmlformats.org/drawingml/2006/main">
              <a:ext uri="{FF2B5EF4-FFF2-40B4-BE49-F238E27FC236}">
                <a16:creationId xmlns:a16="http://schemas.microsoft.com/office/drawing/2014/main" id="{E750EAC6-2D23-45D0-8862-8CBF4B02AD09}"/>
              </a:ext>
            </a:extLst>
          </p:cNvPr>
          <p:cNvSpPr>
            <a:spLocks xmlns:a="http://schemas.openxmlformats.org/drawingml/2006/main" noGrp="1"/>
          </p:cNvSpPr>
          <p:nvPr/>
        </p:nvSpPr>
        <p:spPr>
          <a:xfrm xmlns:a="http://schemas.openxmlformats.org/drawingml/2006/main">
            <a:off x="1333500" y="561975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D66B4D"/>
                </a:solidFill>
              </a:defRPr>
            </a:pPr>
            <a:r>
              <a:rPr sz="1425" b="1">
                <a:solidFill>
                  <a:srgbClr val="D66B4D"/>
                </a:solidFill>
              </a:rPr>
              <a:t>Les conteneurs isolent les services ; ils ne transforment pas l’ordinateur en cluster multi-hôtes.</a:t>
            </a:r>
          </a:p>
        </p:txBody>
      </p:sp>
    </p:spTree>
    <p:extLst>
      <p:ext uri="{BB962C8B-B14F-4D97-AF65-F5344CB8AC3E}">
        <p14:creationId xmlns:p14="http://schemas.microsoft.com/office/powerpoint/2010/main" val="68159157"/>
      </p:ext>
    </p:extLst>
  </p:cSld>
</p:sld>
</file>

<file path=ppt/slides/slide22.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2" name="kicker-22">
            <a:extLst xmlns:a="http://schemas.openxmlformats.org/drawingml/2006/main">
              <a:ext uri="{FF2B5EF4-FFF2-40B4-BE49-F238E27FC236}">
                <a16:creationId xmlns:a16="http://schemas.microsoft.com/office/drawing/2014/main" id="{D4821772-A109-4FCE-8D81-378EF301B4C4}"/>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MÉTHODE D’ANALYSE</a:t>
            </a:r>
          </a:p>
        </p:txBody>
      </p:sp>
      <p:sp>
        <p:nvSpPr>
          <p:cNvPr id="2" name="title-22">
            <a:extLst xmlns:a="http://schemas.openxmlformats.org/drawingml/2006/main">
              <a:ext uri="{FF2B5EF4-FFF2-40B4-BE49-F238E27FC236}">
                <a16:creationId xmlns:a16="http://schemas.microsoft.com/office/drawing/2014/main" id="{3D77F48C-4DD8-4774-95E5-87EF81F7AFCD}"/>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La corrélation décrit une relation, jamais une cause</a:t>
            </a:r>
          </a:p>
        </p:txBody>
      </p:sp>
      <p:sp>
        <p:nvSpPr>
          <p:cNvPr id="3" name="rule-22">
            <a:extLst xmlns:a="http://schemas.openxmlformats.org/drawingml/2006/main">
              <a:ext uri="{FF2B5EF4-FFF2-40B4-BE49-F238E27FC236}">
                <a16:creationId xmlns:a16="http://schemas.microsoft.com/office/drawing/2014/main" id="{AA5B0DB2-3D11-46E8-8FB0-0ED011ABC38A}"/>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22">
            <a:extLst xmlns:a="http://schemas.openxmlformats.org/drawingml/2006/main">
              <a:ext uri="{FF2B5EF4-FFF2-40B4-BE49-F238E27FC236}">
                <a16:creationId xmlns:a16="http://schemas.microsoft.com/office/drawing/2014/main" id="{85AE98DB-6961-4692-B147-2F63D9E8DE4D}"/>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22</a:t>
            </a:r>
          </a:p>
        </p:txBody>
      </p:sp>
      <p:sp>
        <p:nvSpPr>
          <p:cNvPr id="5" name="corr-left">
            <a:extLst xmlns:a="http://schemas.openxmlformats.org/drawingml/2006/main">
              <a:ext uri="{FF2B5EF4-FFF2-40B4-BE49-F238E27FC236}">
                <a16:creationId xmlns:a16="http://schemas.microsoft.com/office/drawing/2014/main" id="{C4C3D75E-E2E2-432C-8CA0-E919FA39209C}"/>
              </a:ext>
            </a:extLst>
          </p:cNvPr>
          <p:cNvSpPr>
            <a:spLocks xmlns:a="http://schemas.openxmlformats.org/drawingml/2006/main" noGrp="1"/>
          </p:cNvSpPr>
          <p:nvPr/>
        </p:nvSpPr>
        <p:spPr>
          <a:xfrm xmlns:a="http://schemas.openxmlformats.org/drawingml/2006/main">
            <a:off x="609600" y="1809750"/>
            <a:ext cx="4857750" cy="3276600"/>
          </a:xfrm>
          <a:prstGeom xmlns:a="http://schemas.openxmlformats.org/drawingml/2006/main" prst="roundRect">
            <a:avLst>
              <a:gd name="adj" fmla="val 5814"/>
            </a:avLst>
          </a:prstGeom>
          <a:solidFill xmlns:a="http://schemas.openxmlformats.org/drawingml/2006/main">
            <a:srgbClr val="FFFFFF"/>
          </a:solidFill>
          <a:ln xmlns:a="http://schemas.openxmlformats.org/drawingml/2006/main" w="11430">
            <a:solidFill>
              <a:srgbClr val="C8D5D1"/>
            </a:solidFill>
            <a:prstDash val="solid"/>
          </a:ln>
        </p:spPr>
      </p:sp>
      <p:sp>
        <p:nvSpPr>
          <p:cNvPr id="6" name="corr-left-h">
            <a:extLst xmlns:a="http://schemas.openxmlformats.org/drawingml/2006/main">
              <a:ext uri="{FF2B5EF4-FFF2-40B4-BE49-F238E27FC236}">
                <a16:creationId xmlns:a16="http://schemas.microsoft.com/office/drawing/2014/main" id="{E4596C47-F98A-4035-9330-A5DE2084BD63}"/>
              </a:ext>
            </a:extLst>
          </p:cNvPr>
          <p:cNvSpPr>
            <a:spLocks xmlns:a="http://schemas.openxmlformats.org/drawingml/2006/main" noGrp="1"/>
          </p:cNvSpPr>
          <p:nvPr/>
        </p:nvSpPr>
        <p:spPr>
          <a:xfrm xmlns:a="http://schemas.openxmlformats.org/drawingml/2006/main">
            <a:off x="914400" y="21526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2A"/>
                </a:solidFill>
              </a:defRPr>
            </a:pPr>
            <a:r>
              <a:rPr sz="1875" b="1">
                <a:solidFill>
                  <a:srgbClr val="102A2A"/>
                </a:solidFill>
              </a:rPr>
              <a:t>Ce que mesure le coefficient</a:t>
            </a:r>
          </a:p>
        </p:txBody>
      </p:sp>
      <p:sp>
        <p:nvSpPr>
          <p:cNvPr id="7" name="corr-left-b">
            <a:extLst xmlns:a="http://schemas.openxmlformats.org/drawingml/2006/main">
              <a:ext uri="{FF2B5EF4-FFF2-40B4-BE49-F238E27FC236}">
                <a16:creationId xmlns:a16="http://schemas.microsoft.com/office/drawing/2014/main" id="{02D8B8EF-0EE0-4D4B-9ABC-CD10B88D36D3}"/>
              </a:ext>
            </a:extLst>
          </p:cNvPr>
          <p:cNvSpPr>
            <a:spLocks xmlns:a="http://schemas.openxmlformats.org/drawingml/2006/main" noGrp="1"/>
          </p:cNvSpPr>
          <p:nvPr/>
        </p:nvSpPr>
        <p:spPr>
          <a:xfrm xmlns:a="http://schemas.openxmlformats.org/drawingml/2006/main">
            <a:off x="914400" y="2895600"/>
            <a:ext cx="4000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62706D"/>
                </a:solidFill>
              </a:defRPr>
            </a:pPr>
            <a:r>
              <a:rPr sz="1575" b="0">
                <a:solidFill>
                  <a:srgbClr val="62706D"/>
                </a:solidFill>
              </a:rPr>
              <a:t>Direction de la relation</a:t>
            </a:r>
          </a:p>
          <a:p xmlns:a="http://schemas.openxmlformats.org/drawingml/2006/main">
            <a:pPr algn="l">
              <a:defRPr sz="1575" b="0">
                <a:solidFill>
                  <a:srgbClr val="62706D"/>
                </a:solidFill>
              </a:defRPr>
            </a:pPr>
            <a:r>
              <a:rPr sz="1575" b="0">
                <a:solidFill>
                  <a:srgbClr val="62706D"/>
                </a:solidFill>
              </a:rPr>
              <a:t>Intensité linéaire</a:t>
            </a:r>
          </a:p>
          <a:p xmlns:a="http://schemas.openxmlformats.org/drawingml/2006/main">
            <a:pPr algn="l">
              <a:defRPr sz="1575" b="0">
                <a:solidFill>
                  <a:srgbClr val="62706D"/>
                </a:solidFill>
              </a:defRPr>
            </a:pPr>
            <a:r>
              <a:rPr sz="1575" b="0">
                <a:solidFill>
                  <a:srgbClr val="62706D"/>
                </a:solidFill>
              </a:rPr>
              <a:t>Entre deux variables</a:t>
            </a:r>
          </a:p>
          <a:p xmlns:a="http://schemas.openxmlformats.org/drawingml/2006/main">
            <a:pPr algn="l">
              <a:defRPr sz="1575" b="0">
                <a:solidFill>
                  <a:srgbClr val="62706D"/>
                </a:solidFill>
              </a:defRPr>
            </a:pPr>
            <a:r>
              <a:rPr sz="1575" b="0">
                <a:solidFill>
                  <a:srgbClr val="62706D"/>
                </a:solidFill>
              </a:rPr>
              <a:t>Indépendamment des autres coefficients</a:t>
            </a:r>
          </a:p>
        </p:txBody>
      </p:sp>
      <p:sp>
        <p:nvSpPr>
          <p:cNvPr id="8" name="corr-right">
            <a:extLst xmlns:a="http://schemas.openxmlformats.org/drawingml/2006/main">
              <a:ext uri="{FF2B5EF4-FFF2-40B4-BE49-F238E27FC236}">
                <a16:creationId xmlns:a16="http://schemas.microsoft.com/office/drawing/2014/main" id="{CE9ED4F9-DFB6-486F-B925-9196538F044A}"/>
              </a:ext>
            </a:extLst>
          </p:cNvPr>
          <p:cNvSpPr>
            <a:spLocks xmlns:a="http://schemas.openxmlformats.org/drawingml/2006/main" noGrp="1"/>
          </p:cNvSpPr>
          <p:nvPr/>
        </p:nvSpPr>
        <p:spPr>
          <a:xfrm xmlns:a="http://schemas.openxmlformats.org/drawingml/2006/main">
            <a:off x="6115050" y="1809750"/>
            <a:ext cx="5467350" cy="3276600"/>
          </a:xfrm>
          <a:prstGeom xmlns:a="http://schemas.openxmlformats.org/drawingml/2006/main" prst="roundRect">
            <a:avLst>
              <a:gd name="adj" fmla="val 5814"/>
            </a:avLst>
          </a:prstGeom>
          <a:solidFill xmlns:a="http://schemas.openxmlformats.org/drawingml/2006/main">
            <a:srgbClr val="153D3A"/>
          </a:solidFill>
          <a:ln xmlns:a="http://schemas.openxmlformats.org/drawingml/2006/main" w="11430">
            <a:solidFill>
              <a:srgbClr val="153D3A"/>
            </a:solidFill>
            <a:prstDash val="solid"/>
          </a:ln>
        </p:spPr>
      </p:sp>
      <p:sp>
        <p:nvSpPr>
          <p:cNvPr id="9" name="corr-right-h">
            <a:extLst xmlns:a="http://schemas.openxmlformats.org/drawingml/2006/main">
              <a:ext uri="{FF2B5EF4-FFF2-40B4-BE49-F238E27FC236}">
                <a16:creationId xmlns:a16="http://schemas.microsoft.com/office/drawing/2014/main" id="{72E18F07-734A-4930-9E09-765FCD4DE456}"/>
              </a:ext>
            </a:extLst>
          </p:cNvPr>
          <p:cNvSpPr>
            <a:spLocks xmlns:a="http://schemas.openxmlformats.org/drawingml/2006/main" noGrp="1"/>
          </p:cNvSpPr>
          <p:nvPr/>
        </p:nvSpPr>
        <p:spPr>
          <a:xfrm xmlns:a="http://schemas.openxmlformats.org/drawingml/2006/main">
            <a:off x="6438900" y="21526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Ce qu’il ne prouve pas</a:t>
            </a:r>
          </a:p>
        </p:txBody>
      </p:sp>
      <p:sp>
        <p:nvSpPr>
          <p:cNvPr id="10" name="corr-right-b">
            <a:extLst xmlns:a="http://schemas.openxmlformats.org/drawingml/2006/main">
              <a:ext uri="{FF2B5EF4-FFF2-40B4-BE49-F238E27FC236}">
                <a16:creationId xmlns:a16="http://schemas.microsoft.com/office/drawing/2014/main" id="{9AB31DDA-D233-4E64-921F-36C46FB0D032}"/>
              </a:ext>
            </a:extLst>
          </p:cNvPr>
          <p:cNvSpPr>
            <a:spLocks xmlns:a="http://schemas.openxmlformats.org/drawingml/2006/main" noGrp="1"/>
          </p:cNvSpPr>
          <p:nvPr/>
        </p:nvSpPr>
        <p:spPr>
          <a:xfrm xmlns:a="http://schemas.openxmlformats.org/drawingml/2006/main">
            <a:off x="6438900" y="2895600"/>
            <a:ext cx="4572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DCEDE7"/>
                </a:solidFill>
              </a:defRPr>
            </a:pPr>
            <a:r>
              <a:rPr sz="1575" b="0">
                <a:solidFill>
                  <a:srgbClr val="DCEDE7"/>
                </a:solidFill>
              </a:rPr>
              <a:t>Aucune causalité</a:t>
            </a:r>
          </a:p>
          <a:p xmlns:a="http://schemas.openxmlformats.org/drawingml/2006/main">
            <a:pPr algn="l">
              <a:defRPr sz="1575" b="0">
                <a:solidFill>
                  <a:srgbClr val="DCEDE7"/>
                </a:solidFill>
              </a:defRPr>
            </a:pPr>
            <a:r>
              <a:rPr sz="1575" b="0">
                <a:solidFill>
                  <a:srgbClr val="DCEDE7"/>
                </a:solidFill>
              </a:rPr>
              <a:t>Aucune part d’un total</a:t>
            </a:r>
          </a:p>
          <a:p xmlns:a="http://schemas.openxmlformats.org/drawingml/2006/main">
            <a:pPr algn="l">
              <a:defRPr sz="1575" b="0">
                <a:solidFill>
                  <a:srgbClr val="DCEDE7"/>
                </a:solidFill>
              </a:defRPr>
            </a:pPr>
            <a:r>
              <a:rPr sz="1575" b="0">
                <a:solidFill>
                  <a:srgbClr val="DCEDE7"/>
                </a:solidFill>
              </a:rPr>
              <a:t>Aucune absence de facteur confondant</a:t>
            </a:r>
          </a:p>
          <a:p xmlns:a="http://schemas.openxmlformats.org/drawingml/2006/main">
            <a:pPr algn="l">
              <a:defRPr sz="1575" b="0">
                <a:solidFill>
                  <a:srgbClr val="DCEDE7"/>
                </a:solidFill>
              </a:defRPr>
            </a:pPr>
            <a:r>
              <a:rPr sz="1575" b="0">
                <a:solidFill>
                  <a:srgbClr val="DCEDE7"/>
                </a:solidFill>
              </a:rPr>
              <a:t>Aucune équivalence temporelle</a:t>
            </a:r>
          </a:p>
        </p:txBody>
      </p:sp>
      <p:sp>
        <p:nvSpPr>
          <p:cNvPr id="11" name="corr-foot">
            <a:extLst xmlns:a="http://schemas.openxmlformats.org/drawingml/2006/main">
              <a:ext uri="{FF2B5EF4-FFF2-40B4-BE49-F238E27FC236}">
                <a16:creationId xmlns:a16="http://schemas.microsoft.com/office/drawing/2014/main" id="{AD8922B1-5A2C-4B85-A985-FF34225D2EE0}"/>
              </a:ext>
            </a:extLst>
          </p:cNvPr>
          <p:cNvSpPr>
            <a:spLocks xmlns:a="http://schemas.openxmlformats.org/drawingml/2006/main" noGrp="1"/>
          </p:cNvSpPr>
          <p:nvPr/>
        </p:nvSpPr>
        <p:spPr>
          <a:xfrm xmlns:a="http://schemas.openxmlformats.org/drawingml/2006/main">
            <a:off x="1428750" y="552450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F6F5F"/>
                </a:solidFill>
              </a:defRPr>
            </a:pPr>
            <a:r>
              <a:rPr sz="1425" b="1">
                <a:solidFill>
                  <a:srgbClr val="1F6F5F"/>
                </a:solidFill>
              </a:rPr>
              <a:t>Prix/m² · population · revenu · chômage · pauvreté : cinq variables, dix relations deux à deux.</a:t>
            </a:r>
          </a:p>
        </p:txBody>
      </p:sp>
    </p:spTree>
    <p:extLst>
      <p:ext uri="{BB962C8B-B14F-4D97-AF65-F5344CB8AC3E}">
        <p14:creationId xmlns:p14="http://schemas.microsoft.com/office/powerpoint/2010/main" val="1354760937"/>
      </p:ext>
    </p:extLst>
  </p:cSld>
</p:sld>
</file>

<file path=ppt/slides/slide23.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29" name="kicker-23">
            <a:extLst xmlns:a="http://schemas.openxmlformats.org/drawingml/2006/main">
              <a:ext uri="{FF2B5EF4-FFF2-40B4-BE49-F238E27FC236}">
                <a16:creationId xmlns:a16="http://schemas.microsoft.com/office/drawing/2014/main" id="{7E0E73E4-8C00-4C98-8815-ED6B8180A5CA}"/>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PREUVES CONCRÈTES</a:t>
            </a:r>
          </a:p>
        </p:txBody>
      </p:sp>
      <p:sp>
        <p:nvSpPr>
          <p:cNvPr id="2" name="title-23">
            <a:extLst xmlns:a="http://schemas.openxmlformats.org/drawingml/2006/main">
              <a:ext uri="{FF2B5EF4-FFF2-40B4-BE49-F238E27FC236}">
                <a16:creationId xmlns:a16="http://schemas.microsoft.com/office/drawing/2014/main" id="{B664E51D-8263-4764-A398-4D5F8A84B5E0}"/>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Les résultats sont mesurables et réutilisables</a:t>
            </a:r>
          </a:p>
        </p:txBody>
      </p:sp>
      <p:sp>
        <p:nvSpPr>
          <p:cNvPr id="3" name="rule-23">
            <a:extLst xmlns:a="http://schemas.openxmlformats.org/drawingml/2006/main">
              <a:ext uri="{FF2B5EF4-FFF2-40B4-BE49-F238E27FC236}">
                <a16:creationId xmlns:a16="http://schemas.microsoft.com/office/drawing/2014/main" id="{140DC2AA-6AF3-4401-89E6-60E398B0406A}"/>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23">
            <a:extLst xmlns:a="http://schemas.openxmlformats.org/drawingml/2006/main">
              <a:ext uri="{FF2B5EF4-FFF2-40B4-BE49-F238E27FC236}">
                <a16:creationId xmlns:a16="http://schemas.microsoft.com/office/drawing/2014/main" id="{B10D6385-FC99-4004-A7E7-6CDBA65D0ABB}"/>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23</a:t>
            </a:r>
          </a:p>
        </p:txBody>
      </p:sp>
      <p:sp>
        <p:nvSpPr>
          <p:cNvPr id="5" name="r1-bg">
            <a:extLst xmlns:a="http://schemas.openxmlformats.org/drawingml/2006/main">
              <a:ext uri="{FF2B5EF4-FFF2-40B4-BE49-F238E27FC236}">
                <a16:creationId xmlns:a16="http://schemas.microsoft.com/office/drawing/2014/main" id="{384E323B-2718-43D2-870B-53B089D4F39A}"/>
              </a:ext>
            </a:extLst>
          </p:cNvPr>
          <p:cNvSpPr>
            <a:spLocks xmlns:a="http://schemas.openxmlformats.org/drawingml/2006/main" noGrp="1"/>
          </p:cNvSpPr>
          <p:nvPr/>
        </p:nvSpPr>
        <p:spPr>
          <a:xfrm xmlns:a="http://schemas.openxmlformats.org/drawingml/2006/main">
            <a:off x="609600" y="1676400"/>
            <a:ext cx="3276600" cy="1409700"/>
          </a:xfrm>
          <a:prstGeom xmlns:a="http://schemas.openxmlformats.org/drawingml/2006/main" prst="roundRect">
            <a:avLst>
              <a:gd name="adj" fmla="val 12162"/>
            </a:avLst>
          </a:prstGeom>
          <a:solidFill xmlns:a="http://schemas.openxmlformats.org/drawingml/2006/main">
            <a:srgbClr val="FFFFFF"/>
          </a:solidFill>
          <a:ln xmlns:a="http://schemas.openxmlformats.org/drawingml/2006/main" w="11430">
            <a:solidFill>
              <a:srgbClr val="C8D5D1"/>
            </a:solidFill>
            <a:prstDash val="solid"/>
          </a:ln>
        </p:spPr>
      </p:sp>
      <p:sp>
        <p:nvSpPr>
          <p:cNvPr id="6" name="r1-accent">
            <a:extLst xmlns:a="http://schemas.openxmlformats.org/drawingml/2006/main">
              <a:ext uri="{FF2B5EF4-FFF2-40B4-BE49-F238E27FC236}">
                <a16:creationId xmlns:a16="http://schemas.microsoft.com/office/drawing/2014/main" id="{DCA9D836-DC75-450E-BDB3-DA00D89A3305}"/>
              </a:ext>
            </a:extLst>
          </p:cNvPr>
          <p:cNvSpPr>
            <a:spLocks xmlns:a="http://schemas.openxmlformats.org/drawingml/2006/main" noGrp="1"/>
          </p:cNvSpPr>
          <p:nvPr/>
        </p:nvSpPr>
        <p:spPr>
          <a:xfrm xmlns:a="http://schemas.openxmlformats.org/drawingml/2006/main">
            <a:off x="609600" y="1676400"/>
            <a:ext cx="95250" cy="1409700"/>
          </a:xfrm>
          <a:prstGeom xmlns:a="http://schemas.openxmlformats.org/drawingml/2006/main" prst="roundRect">
            <a:avLst>
              <a:gd name="adj" fmla="val 50000"/>
            </a:avLst>
          </a:prstGeom>
          <a:solidFill xmlns:a="http://schemas.openxmlformats.org/drawingml/2006/main">
            <a:srgbClr val="D66B4D"/>
          </a:solidFill>
          <a:ln xmlns:a="http://schemas.openxmlformats.org/drawingml/2006/main" w="11430">
            <a:solidFill>
              <a:srgbClr val="D66B4D"/>
            </a:solidFill>
            <a:prstDash val="solid"/>
          </a:ln>
        </p:spPr>
      </p:sp>
      <p:sp>
        <p:nvSpPr>
          <p:cNvPr id="7" name="r1-value">
            <a:extLst xmlns:a="http://schemas.openxmlformats.org/drawingml/2006/main">
              <a:ext uri="{FF2B5EF4-FFF2-40B4-BE49-F238E27FC236}">
                <a16:creationId xmlns:a16="http://schemas.microsoft.com/office/drawing/2014/main" id="{05E4D56D-16C9-4290-9184-27000AB17FEA}"/>
              </a:ext>
            </a:extLst>
          </p:cNvPr>
          <p:cNvSpPr>
            <a:spLocks xmlns:a="http://schemas.openxmlformats.org/drawingml/2006/main" noGrp="1"/>
          </p:cNvSpPr>
          <p:nvPr/>
        </p:nvSpPr>
        <p:spPr>
          <a:xfrm xmlns:a="http://schemas.openxmlformats.org/drawingml/2006/main">
            <a:off x="876300" y="1885950"/>
            <a:ext cx="2838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2A"/>
                </a:solidFill>
              </a:defRPr>
            </a:pPr>
            <a:r>
              <a:rPr sz="2700" b="1">
                <a:solidFill>
                  <a:srgbClr val="102A2A"/>
                </a:solidFill>
              </a:rPr>
              <a:t>1 884 593</a:t>
            </a:r>
          </a:p>
        </p:txBody>
      </p:sp>
      <p:sp>
        <p:nvSpPr>
          <p:cNvPr id="8" name="r1-label">
            <a:extLst xmlns:a="http://schemas.openxmlformats.org/drawingml/2006/main">
              <a:ext uri="{FF2B5EF4-FFF2-40B4-BE49-F238E27FC236}">
                <a16:creationId xmlns:a16="http://schemas.microsoft.com/office/drawing/2014/main" id="{36A2A7CD-1CE8-4BD6-9170-D4C926F0F02B}"/>
              </a:ext>
            </a:extLst>
          </p:cNvPr>
          <p:cNvSpPr>
            <a:spLocks xmlns:a="http://schemas.openxmlformats.org/drawingml/2006/main" noGrp="1"/>
          </p:cNvSpPr>
          <p:nvPr/>
        </p:nvSpPr>
        <p:spPr>
          <a:xfrm xmlns:a="http://schemas.openxmlformats.org/drawingml/2006/main">
            <a:off x="876300" y="2514600"/>
            <a:ext cx="2838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transactions uniques</a:t>
            </a:r>
          </a:p>
        </p:txBody>
      </p:sp>
      <p:sp>
        <p:nvSpPr>
          <p:cNvPr id="9" name="r2-bg">
            <a:extLst xmlns:a="http://schemas.openxmlformats.org/drawingml/2006/main">
              <a:ext uri="{FF2B5EF4-FFF2-40B4-BE49-F238E27FC236}">
                <a16:creationId xmlns:a16="http://schemas.microsoft.com/office/drawing/2014/main" id="{8E4D55BC-A0E0-4722-B526-143525C92711}"/>
              </a:ext>
            </a:extLst>
          </p:cNvPr>
          <p:cNvSpPr>
            <a:spLocks xmlns:a="http://schemas.openxmlformats.org/drawingml/2006/main" noGrp="1"/>
          </p:cNvSpPr>
          <p:nvPr/>
        </p:nvSpPr>
        <p:spPr>
          <a:xfrm xmlns:a="http://schemas.openxmlformats.org/drawingml/2006/main">
            <a:off x="4457700" y="1676400"/>
            <a:ext cx="3276600" cy="1409700"/>
          </a:xfrm>
          <a:prstGeom xmlns:a="http://schemas.openxmlformats.org/drawingml/2006/main" prst="roundRect">
            <a:avLst>
              <a:gd name="adj" fmla="val 12162"/>
            </a:avLst>
          </a:prstGeom>
          <a:solidFill xmlns:a="http://schemas.openxmlformats.org/drawingml/2006/main">
            <a:srgbClr val="FFFFFF"/>
          </a:solidFill>
          <a:ln xmlns:a="http://schemas.openxmlformats.org/drawingml/2006/main" w="11430">
            <a:solidFill>
              <a:srgbClr val="C8D5D1"/>
            </a:solidFill>
            <a:prstDash val="solid"/>
          </a:ln>
        </p:spPr>
      </p:sp>
      <p:sp>
        <p:nvSpPr>
          <p:cNvPr id="10" name="r2-accent">
            <a:extLst xmlns:a="http://schemas.openxmlformats.org/drawingml/2006/main">
              <a:ext uri="{FF2B5EF4-FFF2-40B4-BE49-F238E27FC236}">
                <a16:creationId xmlns:a16="http://schemas.microsoft.com/office/drawing/2014/main" id="{E84B3A20-30CC-4044-964C-910E3B3A0661}"/>
              </a:ext>
            </a:extLst>
          </p:cNvPr>
          <p:cNvSpPr>
            <a:spLocks xmlns:a="http://schemas.openxmlformats.org/drawingml/2006/main" noGrp="1"/>
          </p:cNvSpPr>
          <p:nvPr/>
        </p:nvSpPr>
        <p:spPr>
          <a:xfrm xmlns:a="http://schemas.openxmlformats.org/drawingml/2006/main">
            <a:off x="4457700" y="1676400"/>
            <a:ext cx="95250" cy="1409700"/>
          </a:xfrm>
          <a:prstGeom xmlns:a="http://schemas.openxmlformats.org/drawingml/2006/main" prst="roundRect">
            <a:avLst>
              <a:gd name="adj" fmla="val 50000"/>
            </a:avLst>
          </a:prstGeom>
          <a:solidFill xmlns:a="http://schemas.openxmlformats.org/drawingml/2006/main">
            <a:srgbClr val="1F6F5F"/>
          </a:solidFill>
          <a:ln xmlns:a="http://schemas.openxmlformats.org/drawingml/2006/main" w="11430">
            <a:solidFill>
              <a:srgbClr val="1F6F5F"/>
            </a:solidFill>
            <a:prstDash val="solid"/>
          </a:ln>
        </p:spPr>
      </p:sp>
      <p:sp>
        <p:nvSpPr>
          <p:cNvPr id="11" name="r2-value">
            <a:extLst xmlns:a="http://schemas.openxmlformats.org/drawingml/2006/main">
              <a:ext uri="{FF2B5EF4-FFF2-40B4-BE49-F238E27FC236}">
                <a16:creationId xmlns:a16="http://schemas.microsoft.com/office/drawing/2014/main" id="{25236245-E21F-4BF6-BF5D-D9626BAEB2D3}"/>
              </a:ext>
            </a:extLst>
          </p:cNvPr>
          <p:cNvSpPr>
            <a:spLocks xmlns:a="http://schemas.openxmlformats.org/drawingml/2006/main" noGrp="1"/>
          </p:cNvSpPr>
          <p:nvPr/>
        </p:nvSpPr>
        <p:spPr>
          <a:xfrm xmlns:a="http://schemas.openxmlformats.org/drawingml/2006/main">
            <a:off x="4724400" y="1885950"/>
            <a:ext cx="2838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2A"/>
                </a:solidFill>
              </a:defRPr>
            </a:pPr>
            <a:r>
              <a:rPr sz="2700" b="1">
                <a:solidFill>
                  <a:srgbClr val="102A2A"/>
                </a:solidFill>
              </a:rPr>
              <a:t>94</a:t>
            </a:r>
          </a:p>
        </p:txBody>
      </p:sp>
      <p:sp>
        <p:nvSpPr>
          <p:cNvPr id="12" name="r2-label">
            <a:extLst xmlns:a="http://schemas.openxmlformats.org/drawingml/2006/main">
              <a:ext uri="{FF2B5EF4-FFF2-40B4-BE49-F238E27FC236}">
                <a16:creationId xmlns:a16="http://schemas.microsoft.com/office/drawing/2014/main" id="{98C3D668-D881-4C23-8DA0-C8F032EE8D5F}"/>
              </a:ext>
            </a:extLst>
          </p:cNvPr>
          <p:cNvSpPr>
            <a:spLocks xmlns:a="http://schemas.openxmlformats.org/drawingml/2006/main" noGrp="1"/>
          </p:cNvSpPr>
          <p:nvPr/>
        </p:nvSpPr>
        <p:spPr>
          <a:xfrm xmlns:a="http://schemas.openxmlformats.org/drawingml/2006/main">
            <a:off x="4724400" y="2514600"/>
            <a:ext cx="2838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agrégats départementaux</a:t>
            </a:r>
          </a:p>
        </p:txBody>
      </p:sp>
      <p:sp>
        <p:nvSpPr>
          <p:cNvPr id="13" name="r3-bg">
            <a:extLst xmlns:a="http://schemas.openxmlformats.org/drawingml/2006/main">
              <a:ext uri="{FF2B5EF4-FFF2-40B4-BE49-F238E27FC236}">
                <a16:creationId xmlns:a16="http://schemas.microsoft.com/office/drawing/2014/main" id="{548A94E5-B54A-47E8-85FB-1C81F0C3356B}"/>
              </a:ext>
            </a:extLst>
          </p:cNvPr>
          <p:cNvSpPr>
            <a:spLocks xmlns:a="http://schemas.openxmlformats.org/drawingml/2006/main" noGrp="1"/>
          </p:cNvSpPr>
          <p:nvPr/>
        </p:nvSpPr>
        <p:spPr>
          <a:xfrm xmlns:a="http://schemas.openxmlformats.org/drawingml/2006/main">
            <a:off x="8305800" y="1676400"/>
            <a:ext cx="3276600" cy="1409700"/>
          </a:xfrm>
          <a:prstGeom xmlns:a="http://schemas.openxmlformats.org/drawingml/2006/main" prst="roundRect">
            <a:avLst>
              <a:gd name="adj" fmla="val 12162"/>
            </a:avLst>
          </a:prstGeom>
          <a:solidFill xmlns:a="http://schemas.openxmlformats.org/drawingml/2006/main">
            <a:srgbClr val="FFFFFF"/>
          </a:solidFill>
          <a:ln xmlns:a="http://schemas.openxmlformats.org/drawingml/2006/main" w="11430">
            <a:solidFill>
              <a:srgbClr val="C8D5D1"/>
            </a:solidFill>
            <a:prstDash val="solid"/>
          </a:ln>
        </p:spPr>
      </p:sp>
      <p:sp>
        <p:nvSpPr>
          <p:cNvPr id="14" name="r3-accent">
            <a:extLst xmlns:a="http://schemas.openxmlformats.org/drawingml/2006/main">
              <a:ext uri="{FF2B5EF4-FFF2-40B4-BE49-F238E27FC236}">
                <a16:creationId xmlns:a16="http://schemas.microsoft.com/office/drawing/2014/main" id="{AEA98B11-6730-4B6E-AFFC-F4594556B351}"/>
              </a:ext>
            </a:extLst>
          </p:cNvPr>
          <p:cNvSpPr>
            <a:spLocks xmlns:a="http://schemas.openxmlformats.org/drawingml/2006/main" noGrp="1"/>
          </p:cNvSpPr>
          <p:nvPr/>
        </p:nvSpPr>
        <p:spPr>
          <a:xfrm xmlns:a="http://schemas.openxmlformats.org/drawingml/2006/main">
            <a:off x="8305800" y="1676400"/>
            <a:ext cx="95250" cy="1409700"/>
          </a:xfrm>
          <a:prstGeom xmlns:a="http://schemas.openxmlformats.org/drawingml/2006/main" prst="roundRect">
            <a:avLst>
              <a:gd name="adj" fmla="val 50000"/>
            </a:avLst>
          </a:prstGeom>
          <a:solidFill xmlns:a="http://schemas.openxmlformats.org/drawingml/2006/main">
            <a:srgbClr val="3C7891"/>
          </a:solidFill>
          <a:ln xmlns:a="http://schemas.openxmlformats.org/drawingml/2006/main" w="11430">
            <a:solidFill>
              <a:srgbClr val="3C7891"/>
            </a:solidFill>
            <a:prstDash val="solid"/>
          </a:ln>
        </p:spPr>
      </p:sp>
      <p:sp>
        <p:nvSpPr>
          <p:cNvPr id="15" name="r3-value">
            <a:extLst xmlns:a="http://schemas.openxmlformats.org/drawingml/2006/main">
              <a:ext uri="{FF2B5EF4-FFF2-40B4-BE49-F238E27FC236}">
                <a16:creationId xmlns:a16="http://schemas.microsoft.com/office/drawing/2014/main" id="{F03FE0F7-0684-4C3F-AC6E-CCA79104E862}"/>
              </a:ext>
            </a:extLst>
          </p:cNvPr>
          <p:cNvSpPr>
            <a:spLocks xmlns:a="http://schemas.openxmlformats.org/drawingml/2006/main" noGrp="1"/>
          </p:cNvSpPr>
          <p:nvPr/>
        </p:nvSpPr>
        <p:spPr>
          <a:xfrm xmlns:a="http://schemas.openxmlformats.org/drawingml/2006/main">
            <a:off x="8572500" y="1885950"/>
            <a:ext cx="2838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2A"/>
                </a:solidFill>
              </a:defRPr>
            </a:pPr>
            <a:r>
              <a:rPr sz="2700" b="1">
                <a:solidFill>
                  <a:srgbClr val="102A2A"/>
                </a:solidFill>
              </a:rPr>
              <a:t>13</a:t>
            </a:r>
          </a:p>
        </p:txBody>
      </p:sp>
      <p:sp>
        <p:nvSpPr>
          <p:cNvPr id="16" name="r3-label">
            <a:extLst xmlns:a="http://schemas.openxmlformats.org/drawingml/2006/main">
              <a:ext uri="{FF2B5EF4-FFF2-40B4-BE49-F238E27FC236}">
                <a16:creationId xmlns:a16="http://schemas.microsoft.com/office/drawing/2014/main" id="{27910AA4-EA30-45B6-B9CA-E706AE792F71}"/>
              </a:ext>
            </a:extLst>
          </p:cNvPr>
          <p:cNvSpPr>
            <a:spLocks xmlns:a="http://schemas.openxmlformats.org/drawingml/2006/main" noGrp="1"/>
          </p:cNvSpPr>
          <p:nvPr/>
        </p:nvSpPr>
        <p:spPr>
          <a:xfrm xmlns:a="http://schemas.openxmlformats.org/drawingml/2006/main">
            <a:off x="8572500" y="2514600"/>
            <a:ext cx="2838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agrégats régionaux · Corse incluse</a:t>
            </a:r>
          </a:p>
        </p:txBody>
      </p:sp>
      <p:sp>
        <p:nvSpPr>
          <p:cNvPr id="17" name="matrix-title">
            <a:extLst xmlns:a="http://schemas.openxmlformats.org/drawingml/2006/main">
              <a:ext uri="{FF2B5EF4-FFF2-40B4-BE49-F238E27FC236}">
                <a16:creationId xmlns:a16="http://schemas.microsoft.com/office/drawing/2014/main" id="{F7BB0EE9-6113-47BA-9FD3-4E41F29ED94F}"/>
              </a:ext>
            </a:extLst>
          </p:cNvPr>
          <p:cNvSpPr>
            <a:spLocks xmlns:a="http://schemas.openxmlformats.org/drawingml/2006/main" noGrp="1"/>
          </p:cNvSpPr>
          <p:nvPr/>
        </p:nvSpPr>
        <p:spPr>
          <a:xfrm xmlns:a="http://schemas.openxmlformats.org/drawingml/2006/main">
            <a:off x="609600" y="36195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2A"/>
                </a:solidFill>
              </a:defRPr>
            </a:pPr>
            <a:r>
              <a:rPr sz="1875" b="1">
                <a:solidFill>
                  <a:srgbClr val="102A2A"/>
                </a:solidFill>
              </a:rPr>
              <a:t>Matrice régionale à cinq variables</a:t>
            </a:r>
          </a:p>
        </p:txBody>
      </p:sp>
      <p:sp>
        <p:nvSpPr>
          <p:cNvPr id="18" name="var-0">
            <a:extLst xmlns:a="http://schemas.openxmlformats.org/drawingml/2006/main">
              <a:ext uri="{FF2B5EF4-FFF2-40B4-BE49-F238E27FC236}">
                <a16:creationId xmlns:a16="http://schemas.microsoft.com/office/drawing/2014/main" id="{496B6214-FB70-46D2-9CA4-EF0C3BADBA48}"/>
              </a:ext>
            </a:extLst>
          </p:cNvPr>
          <p:cNvSpPr>
            <a:spLocks xmlns:a="http://schemas.openxmlformats.org/drawingml/2006/main" noGrp="1"/>
          </p:cNvSpPr>
          <p:nvPr/>
        </p:nvSpPr>
        <p:spPr>
          <a:xfrm xmlns:a="http://schemas.openxmlformats.org/drawingml/2006/main">
            <a:off x="609600" y="4191000"/>
            <a:ext cx="1847850" cy="66675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19" name="var-t-0">
            <a:extLst xmlns:a="http://schemas.openxmlformats.org/drawingml/2006/main">
              <a:ext uri="{FF2B5EF4-FFF2-40B4-BE49-F238E27FC236}">
                <a16:creationId xmlns:a16="http://schemas.microsoft.com/office/drawing/2014/main" id="{0D454F2A-73CA-4AE6-BD13-1F2696116AA0}"/>
              </a:ext>
            </a:extLst>
          </p:cNvPr>
          <p:cNvSpPr>
            <a:spLocks xmlns:a="http://schemas.openxmlformats.org/drawingml/2006/main" noGrp="1"/>
          </p:cNvSpPr>
          <p:nvPr/>
        </p:nvSpPr>
        <p:spPr>
          <a:xfrm xmlns:a="http://schemas.openxmlformats.org/drawingml/2006/main">
            <a:off x="723900" y="4400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Prix/m²</a:t>
            </a:r>
          </a:p>
        </p:txBody>
      </p:sp>
      <p:sp>
        <p:nvSpPr>
          <p:cNvPr id="20" name="var-1">
            <a:extLst xmlns:a="http://schemas.openxmlformats.org/drawingml/2006/main">
              <a:ext uri="{FF2B5EF4-FFF2-40B4-BE49-F238E27FC236}">
                <a16:creationId xmlns:a16="http://schemas.microsoft.com/office/drawing/2014/main" id="{FE4C61A0-F8B0-4C57-BAF5-BBAC482BEF78}"/>
              </a:ext>
            </a:extLst>
          </p:cNvPr>
          <p:cNvSpPr>
            <a:spLocks xmlns:a="http://schemas.openxmlformats.org/drawingml/2006/main" noGrp="1"/>
          </p:cNvSpPr>
          <p:nvPr/>
        </p:nvSpPr>
        <p:spPr>
          <a:xfrm xmlns:a="http://schemas.openxmlformats.org/drawingml/2006/main">
            <a:off x="2743200" y="4191000"/>
            <a:ext cx="1847850" cy="666750"/>
          </a:xfrm>
          <a:prstGeom xmlns:a="http://schemas.openxmlformats.org/drawingml/2006/main" prst="roundRect">
            <a:avLst>
              <a:gd name="adj" fmla="val 20000"/>
            </a:avLst>
          </a:prstGeom>
          <a:solidFill xmlns:a="http://schemas.openxmlformats.org/drawingml/2006/main">
            <a:srgbClr val="3C7891"/>
          </a:solidFill>
          <a:ln xmlns:a="http://schemas.openxmlformats.org/drawingml/2006/main" w="11430">
            <a:solidFill>
              <a:srgbClr val="3C7891"/>
            </a:solidFill>
            <a:prstDash val="solid"/>
          </a:ln>
        </p:spPr>
      </p:sp>
      <p:sp>
        <p:nvSpPr>
          <p:cNvPr id="21" name="var-t-1">
            <a:extLst xmlns:a="http://schemas.openxmlformats.org/drawingml/2006/main">
              <a:ext uri="{FF2B5EF4-FFF2-40B4-BE49-F238E27FC236}">
                <a16:creationId xmlns:a16="http://schemas.microsoft.com/office/drawing/2014/main" id="{29982057-2949-40B7-B192-A9D6DFEF257B}"/>
              </a:ext>
            </a:extLst>
          </p:cNvPr>
          <p:cNvSpPr>
            <a:spLocks xmlns:a="http://schemas.openxmlformats.org/drawingml/2006/main" noGrp="1"/>
          </p:cNvSpPr>
          <p:nvPr/>
        </p:nvSpPr>
        <p:spPr>
          <a:xfrm xmlns:a="http://schemas.openxmlformats.org/drawingml/2006/main">
            <a:off x="2857500" y="4400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Population</a:t>
            </a:r>
          </a:p>
        </p:txBody>
      </p:sp>
      <p:sp>
        <p:nvSpPr>
          <p:cNvPr id="22" name="var-2">
            <a:extLst xmlns:a="http://schemas.openxmlformats.org/drawingml/2006/main">
              <a:ext uri="{FF2B5EF4-FFF2-40B4-BE49-F238E27FC236}">
                <a16:creationId xmlns:a16="http://schemas.microsoft.com/office/drawing/2014/main" id="{2349CDB5-C309-4ABA-B27D-7CEB75A88EE2}"/>
              </a:ext>
            </a:extLst>
          </p:cNvPr>
          <p:cNvSpPr>
            <a:spLocks xmlns:a="http://schemas.openxmlformats.org/drawingml/2006/main" noGrp="1"/>
          </p:cNvSpPr>
          <p:nvPr/>
        </p:nvSpPr>
        <p:spPr>
          <a:xfrm xmlns:a="http://schemas.openxmlformats.org/drawingml/2006/main">
            <a:off x="4876800" y="4191000"/>
            <a:ext cx="1847850" cy="666750"/>
          </a:xfrm>
          <a:prstGeom xmlns:a="http://schemas.openxmlformats.org/drawingml/2006/main" prst="roundRect">
            <a:avLst>
              <a:gd name="adj" fmla="val 20000"/>
            </a:avLst>
          </a:prstGeom>
          <a:solidFill xmlns:a="http://schemas.openxmlformats.org/drawingml/2006/main">
            <a:srgbClr val="E8D9BF"/>
          </a:solidFill>
          <a:ln xmlns:a="http://schemas.openxmlformats.org/drawingml/2006/main" w="11430">
            <a:solidFill>
              <a:srgbClr val="E8D9BF"/>
            </a:solidFill>
            <a:prstDash val="solid"/>
          </a:ln>
        </p:spPr>
      </p:sp>
      <p:sp>
        <p:nvSpPr>
          <p:cNvPr id="23" name="var-t-2">
            <a:extLst xmlns:a="http://schemas.openxmlformats.org/drawingml/2006/main">
              <a:ext uri="{FF2B5EF4-FFF2-40B4-BE49-F238E27FC236}">
                <a16:creationId xmlns:a16="http://schemas.microsoft.com/office/drawing/2014/main" id="{4CE1FDF8-DF86-4DA2-8F1B-0F78B5FAB25A}"/>
              </a:ext>
            </a:extLst>
          </p:cNvPr>
          <p:cNvSpPr>
            <a:spLocks xmlns:a="http://schemas.openxmlformats.org/drawingml/2006/main" noGrp="1"/>
          </p:cNvSpPr>
          <p:nvPr/>
        </p:nvSpPr>
        <p:spPr>
          <a:xfrm xmlns:a="http://schemas.openxmlformats.org/drawingml/2006/main">
            <a:off x="4991100" y="4400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02A2A"/>
                </a:solidFill>
              </a:defRPr>
            </a:pPr>
            <a:r>
              <a:rPr sz="1350" b="1">
                <a:solidFill>
                  <a:srgbClr val="102A2A"/>
                </a:solidFill>
              </a:rPr>
              <a:t>Revenu</a:t>
            </a:r>
          </a:p>
        </p:txBody>
      </p:sp>
      <p:sp>
        <p:nvSpPr>
          <p:cNvPr id="24" name="var-3">
            <a:extLst xmlns:a="http://schemas.openxmlformats.org/drawingml/2006/main">
              <a:ext uri="{FF2B5EF4-FFF2-40B4-BE49-F238E27FC236}">
                <a16:creationId xmlns:a16="http://schemas.microsoft.com/office/drawing/2014/main" id="{D3606331-D335-4951-84D1-F73815C9AA3A}"/>
              </a:ext>
            </a:extLst>
          </p:cNvPr>
          <p:cNvSpPr>
            <a:spLocks xmlns:a="http://schemas.openxmlformats.org/drawingml/2006/main" noGrp="1"/>
          </p:cNvSpPr>
          <p:nvPr/>
        </p:nvSpPr>
        <p:spPr>
          <a:xfrm xmlns:a="http://schemas.openxmlformats.org/drawingml/2006/main">
            <a:off x="7010400" y="4191000"/>
            <a:ext cx="1847850" cy="666750"/>
          </a:xfrm>
          <a:prstGeom xmlns:a="http://schemas.openxmlformats.org/drawingml/2006/main" prst="roundRect">
            <a:avLst>
              <a:gd name="adj" fmla="val 20000"/>
            </a:avLst>
          </a:prstGeom>
          <a:solidFill xmlns:a="http://schemas.openxmlformats.org/drawingml/2006/main">
            <a:srgbClr val="D66B4D"/>
          </a:solidFill>
          <a:ln xmlns:a="http://schemas.openxmlformats.org/drawingml/2006/main" w="11430">
            <a:solidFill>
              <a:srgbClr val="D66B4D"/>
            </a:solidFill>
            <a:prstDash val="solid"/>
          </a:ln>
        </p:spPr>
      </p:sp>
      <p:sp>
        <p:nvSpPr>
          <p:cNvPr id="25" name="var-t-3">
            <a:extLst xmlns:a="http://schemas.openxmlformats.org/drawingml/2006/main">
              <a:ext uri="{FF2B5EF4-FFF2-40B4-BE49-F238E27FC236}">
                <a16:creationId xmlns:a16="http://schemas.microsoft.com/office/drawing/2014/main" id="{11DFD933-55A1-472A-86C6-ED0374D75B8F}"/>
              </a:ext>
            </a:extLst>
          </p:cNvPr>
          <p:cNvSpPr>
            <a:spLocks xmlns:a="http://schemas.openxmlformats.org/drawingml/2006/main" noGrp="1"/>
          </p:cNvSpPr>
          <p:nvPr/>
        </p:nvSpPr>
        <p:spPr>
          <a:xfrm xmlns:a="http://schemas.openxmlformats.org/drawingml/2006/main">
            <a:off x="7124700" y="4400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Chômage</a:t>
            </a:r>
          </a:p>
        </p:txBody>
      </p:sp>
      <p:sp>
        <p:nvSpPr>
          <p:cNvPr id="26" name="var-4">
            <a:extLst xmlns:a="http://schemas.openxmlformats.org/drawingml/2006/main">
              <a:ext uri="{FF2B5EF4-FFF2-40B4-BE49-F238E27FC236}">
                <a16:creationId xmlns:a16="http://schemas.microsoft.com/office/drawing/2014/main" id="{CC42E9A3-2EA6-4496-819C-FC3FCAA331BF}"/>
              </a:ext>
            </a:extLst>
          </p:cNvPr>
          <p:cNvSpPr>
            <a:spLocks xmlns:a="http://schemas.openxmlformats.org/drawingml/2006/main" noGrp="1"/>
          </p:cNvSpPr>
          <p:nvPr/>
        </p:nvSpPr>
        <p:spPr>
          <a:xfrm xmlns:a="http://schemas.openxmlformats.org/drawingml/2006/main">
            <a:off x="9144000" y="4191000"/>
            <a:ext cx="1847850" cy="666750"/>
          </a:xfrm>
          <a:prstGeom xmlns:a="http://schemas.openxmlformats.org/drawingml/2006/main" prst="roundRect">
            <a:avLst>
              <a:gd name="adj" fmla="val 20000"/>
            </a:avLst>
          </a:prstGeom>
          <a:solidFill xmlns:a="http://schemas.openxmlformats.org/drawingml/2006/main">
            <a:srgbClr val="153D3A"/>
          </a:solidFill>
          <a:ln xmlns:a="http://schemas.openxmlformats.org/drawingml/2006/main" w="11430">
            <a:solidFill>
              <a:srgbClr val="153D3A"/>
            </a:solidFill>
            <a:prstDash val="solid"/>
          </a:ln>
        </p:spPr>
      </p:sp>
      <p:sp>
        <p:nvSpPr>
          <p:cNvPr id="27" name="var-t-4">
            <a:extLst xmlns:a="http://schemas.openxmlformats.org/drawingml/2006/main">
              <a:ext uri="{FF2B5EF4-FFF2-40B4-BE49-F238E27FC236}">
                <a16:creationId xmlns:a16="http://schemas.microsoft.com/office/drawing/2014/main" id="{64594401-9119-48A1-86CF-1C9973A8AE07}"/>
              </a:ext>
            </a:extLst>
          </p:cNvPr>
          <p:cNvSpPr>
            <a:spLocks xmlns:a="http://schemas.openxmlformats.org/drawingml/2006/main" noGrp="1"/>
          </p:cNvSpPr>
          <p:nvPr/>
        </p:nvSpPr>
        <p:spPr>
          <a:xfrm xmlns:a="http://schemas.openxmlformats.org/drawingml/2006/main">
            <a:off x="9258300" y="4400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Pauvreté</a:t>
            </a:r>
          </a:p>
        </p:txBody>
      </p:sp>
      <p:sp>
        <p:nvSpPr>
          <p:cNvPr id="28" name="corr">
            <a:extLst xmlns:a="http://schemas.openxmlformats.org/drawingml/2006/main">
              <a:ext uri="{FF2B5EF4-FFF2-40B4-BE49-F238E27FC236}">
                <a16:creationId xmlns:a16="http://schemas.microsoft.com/office/drawing/2014/main" id="{0B0A6A15-CBAB-473E-92B8-AE84A9B31543}"/>
              </a:ext>
            </a:extLst>
          </p:cNvPr>
          <p:cNvSpPr>
            <a:spLocks xmlns:a="http://schemas.openxmlformats.org/drawingml/2006/main" noGrp="1"/>
          </p:cNvSpPr>
          <p:nvPr/>
        </p:nvSpPr>
        <p:spPr>
          <a:xfrm xmlns:a="http://schemas.openxmlformats.org/drawingml/2006/main">
            <a:off x="1333500" y="5334000"/>
            <a:ext cx="952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F6F5F"/>
                </a:solidFill>
              </a:defRPr>
            </a:pPr>
            <a:r>
              <a:rPr sz="1500" b="1">
                <a:solidFill>
                  <a:srgbClr val="1F6F5F"/>
                </a:solidFill>
              </a:rPr>
              <a:t>Chaque coefficient de corrélation est indépendant · aucun ne prouve une causalité</a:t>
            </a:r>
          </a:p>
        </p:txBody>
      </p:sp>
    </p:spTree>
    <p:extLst>
      <p:ext uri="{BB962C8B-B14F-4D97-AF65-F5344CB8AC3E}">
        <p14:creationId xmlns:p14="http://schemas.microsoft.com/office/powerpoint/2010/main" val="1685954400"/>
      </p:ext>
    </p:extLst>
  </p:cSld>
</p:sld>
</file>

<file path=ppt/slides/slide2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3" name="kicker-24">
            <a:extLst xmlns:a="http://schemas.openxmlformats.org/drawingml/2006/main">
              <a:ext uri="{FF2B5EF4-FFF2-40B4-BE49-F238E27FC236}">
                <a16:creationId xmlns:a16="http://schemas.microsoft.com/office/drawing/2014/main" id="{099F1D61-3554-4F10-92FC-48DDBF5A6252}"/>
              </a:ext>
            </a:extLst>
          </p:cNvPr>
          <p:cNvSpPr>
            <a:spLocks xmlns:a="http://schemas.openxmlformats.org/drawingml/2006/main" noGrp="1"/>
          </p:cNvSpPr>
          <p:nvPr/>
        </p:nvSpPr>
        <p:spPr>
          <a:xfrm xmlns:a="http://schemas.openxmlformats.org/drawingml/2006/main">
            <a:off x="609600" y="342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F6F5F"/>
                </a:solidFill>
              </a:defRPr>
            </a:pPr>
            <a:r>
              <a:rPr sz="1050" b="1">
                <a:solidFill>
                  <a:srgbClr val="1F6F5F"/>
                </a:solidFill>
              </a:rPr>
              <a:t>RECUL CRITIQUE</a:t>
            </a:r>
          </a:p>
        </p:txBody>
      </p:sp>
      <p:sp>
        <p:nvSpPr>
          <p:cNvPr id="2" name="title-24">
            <a:extLst xmlns:a="http://schemas.openxmlformats.org/drawingml/2006/main">
              <a:ext uri="{FF2B5EF4-FFF2-40B4-BE49-F238E27FC236}">
                <a16:creationId xmlns:a16="http://schemas.microsoft.com/office/drawing/2014/main" id="{31475E96-F417-4931-A459-A5B23393E10B}"/>
              </a:ext>
            </a:extLst>
          </p:cNvPr>
          <p:cNvSpPr>
            <a:spLocks xmlns:a="http://schemas.openxmlformats.org/drawingml/2006/main" noGrp="1"/>
          </p:cNvSpPr>
          <p:nvPr/>
        </p:nvSpPr>
        <p:spPr>
          <a:xfrm xmlns:a="http://schemas.openxmlformats.org/drawingml/2006/main">
            <a:off x="609600" y="6667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02A2A"/>
                </a:solidFill>
              </a:defRPr>
            </a:pPr>
            <a:r>
              <a:rPr sz="2775" b="1">
                <a:solidFill>
                  <a:srgbClr val="102A2A"/>
                </a:solidFill>
              </a:rPr>
              <a:t>Les limites sont connues — et orientent la suite</a:t>
            </a:r>
          </a:p>
        </p:txBody>
      </p:sp>
      <p:sp>
        <p:nvSpPr>
          <p:cNvPr id="3" name="rule-24">
            <a:extLst xmlns:a="http://schemas.openxmlformats.org/drawingml/2006/main">
              <a:ext uri="{FF2B5EF4-FFF2-40B4-BE49-F238E27FC236}">
                <a16:creationId xmlns:a16="http://schemas.microsoft.com/office/drawing/2014/main" id="{D8069985-45A2-44BF-9C02-619EE0303463}"/>
              </a:ext>
            </a:extLst>
          </p:cNvPr>
          <p:cNvSpPr>
            <a:spLocks xmlns:a="http://schemas.openxmlformats.org/drawingml/2006/main" noGrp="1"/>
          </p:cNvSpPr>
          <p:nvPr/>
        </p:nvSpPr>
        <p:spPr>
          <a:xfrm xmlns:a="http://schemas.openxmlformats.org/drawingml/2006/main">
            <a:off x="609600" y="1276350"/>
            <a:ext cx="10972800" cy="0"/>
          </a:xfrm>
          <a:prstGeom xmlns:a="http://schemas.openxmlformats.org/drawingml/2006/main" prst="line">
            <a:avLst/>
          </a:prstGeom>
          <a:noFill xmlns:a="http://schemas.openxmlformats.org/drawingml/2006/main"/>
          <a:ln xmlns:a="http://schemas.openxmlformats.org/drawingml/2006/main" w="14288">
            <a:solidFill>
              <a:srgbClr val="C8D5D1"/>
            </a:solidFill>
            <a:prstDash val="solid"/>
          </a:ln>
        </p:spPr>
      </p:sp>
      <p:sp>
        <p:nvSpPr>
          <p:cNvPr id="4" name="page-24">
            <a:extLst xmlns:a="http://schemas.openxmlformats.org/drawingml/2006/main">
              <a:ext uri="{FF2B5EF4-FFF2-40B4-BE49-F238E27FC236}">
                <a16:creationId xmlns:a16="http://schemas.microsoft.com/office/drawing/2014/main" id="{A71DF398-4884-4CD3-BB4E-420D5CB8DCAB}"/>
              </a:ext>
            </a:extLst>
          </p:cNvPr>
          <p:cNvSpPr>
            <a:spLocks xmlns:a="http://schemas.openxmlformats.org/drawingml/2006/main" noGrp="1"/>
          </p:cNvSpPr>
          <p:nvPr/>
        </p:nvSpPr>
        <p:spPr>
          <a:xfrm xmlns:a="http://schemas.openxmlformats.org/drawingml/2006/main">
            <a:off x="11049000" y="633412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62706D"/>
                </a:solidFill>
              </a:defRPr>
            </a:pPr>
            <a:r>
              <a:rPr sz="975" b="1">
                <a:solidFill>
                  <a:srgbClr val="62706D"/>
                </a:solidFill>
              </a:rPr>
              <a:t>24</a:t>
            </a:r>
          </a:p>
        </p:txBody>
      </p:sp>
      <p:sp>
        <p:nvSpPr>
          <p:cNvPr id="5" name="limit-h1">
            <a:extLst xmlns:a="http://schemas.openxmlformats.org/drawingml/2006/main">
              <a:ext uri="{FF2B5EF4-FFF2-40B4-BE49-F238E27FC236}">
                <a16:creationId xmlns:a16="http://schemas.microsoft.com/office/drawing/2014/main" id="{3C4A440A-2D62-48A3-B0E9-537EA8634AF1}"/>
              </a:ext>
            </a:extLst>
          </p:cNvPr>
          <p:cNvSpPr>
            <a:spLocks xmlns:a="http://schemas.openxmlformats.org/drawingml/2006/main" noGrp="1"/>
          </p:cNvSpPr>
          <p:nvPr/>
        </p:nvSpPr>
        <p:spPr>
          <a:xfrm xmlns:a="http://schemas.openxmlformats.org/drawingml/2006/main">
            <a:off x="838200" y="17145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F6F5F"/>
                </a:solidFill>
              </a:defRPr>
            </a:pPr>
            <a:r>
              <a:rPr sz="1275" b="1">
                <a:solidFill>
                  <a:srgbClr val="1F6F5F"/>
                </a:solidFill>
              </a:rPr>
              <a:t>Constat</a:t>
            </a:r>
          </a:p>
        </p:txBody>
      </p:sp>
      <p:sp>
        <p:nvSpPr>
          <p:cNvPr id="6" name="limit-h2">
            <a:extLst xmlns:a="http://schemas.openxmlformats.org/drawingml/2006/main">
              <a:ext uri="{FF2B5EF4-FFF2-40B4-BE49-F238E27FC236}">
                <a16:creationId xmlns:a16="http://schemas.microsoft.com/office/drawing/2014/main" id="{9393B3AB-5801-410C-BEF3-E4F4F3941972}"/>
              </a:ext>
            </a:extLst>
          </p:cNvPr>
          <p:cNvSpPr>
            <a:spLocks xmlns:a="http://schemas.openxmlformats.org/drawingml/2006/main" noGrp="1"/>
          </p:cNvSpPr>
          <p:nvPr/>
        </p:nvSpPr>
        <p:spPr>
          <a:xfrm xmlns:a="http://schemas.openxmlformats.org/drawingml/2006/main">
            <a:off x="3619500" y="17145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F6F5F"/>
                </a:solidFill>
              </a:defRPr>
            </a:pPr>
            <a:r>
              <a:rPr sz="1275" b="1">
                <a:solidFill>
                  <a:srgbClr val="1F6F5F"/>
                </a:solidFill>
              </a:rPr>
              <a:t>Risque</a:t>
            </a:r>
          </a:p>
        </p:txBody>
      </p:sp>
      <p:sp>
        <p:nvSpPr>
          <p:cNvPr id="7" name="limit-h3">
            <a:extLst xmlns:a="http://schemas.openxmlformats.org/drawingml/2006/main">
              <a:ext uri="{FF2B5EF4-FFF2-40B4-BE49-F238E27FC236}">
                <a16:creationId xmlns:a16="http://schemas.microsoft.com/office/drawing/2014/main" id="{51B268C6-FA04-4027-8553-63AA337A1A0F}"/>
              </a:ext>
            </a:extLst>
          </p:cNvPr>
          <p:cNvSpPr>
            <a:spLocks xmlns:a="http://schemas.openxmlformats.org/drawingml/2006/main" noGrp="1"/>
          </p:cNvSpPr>
          <p:nvPr/>
        </p:nvSpPr>
        <p:spPr>
          <a:xfrm xmlns:a="http://schemas.openxmlformats.org/drawingml/2006/main">
            <a:off x="7524750" y="17145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F6F5F"/>
                </a:solidFill>
              </a:defRPr>
            </a:pPr>
            <a:r>
              <a:rPr sz="1275" b="1">
                <a:solidFill>
                  <a:srgbClr val="1F6F5F"/>
                </a:solidFill>
              </a:rPr>
              <a:t>Amélioration</a:t>
            </a:r>
          </a:p>
        </p:txBody>
      </p:sp>
      <p:sp>
        <p:nvSpPr>
          <p:cNvPr id="8" name="limit-row-0">
            <a:extLst xmlns:a="http://schemas.openxmlformats.org/drawingml/2006/main">
              <a:ext uri="{FF2B5EF4-FFF2-40B4-BE49-F238E27FC236}">
                <a16:creationId xmlns:a16="http://schemas.microsoft.com/office/drawing/2014/main" id="{94CFF773-B0D4-4193-B9C1-EBCAAE0F2562}"/>
              </a:ext>
            </a:extLst>
          </p:cNvPr>
          <p:cNvSpPr>
            <a:spLocks xmlns:a="http://schemas.openxmlformats.org/drawingml/2006/main" noGrp="1"/>
          </p:cNvSpPr>
          <p:nvPr/>
        </p:nvSpPr>
        <p:spPr>
          <a:xfrm xmlns:a="http://schemas.openxmlformats.org/drawingml/2006/main">
            <a:off x="609600" y="2114550"/>
            <a:ext cx="10972800" cy="723900"/>
          </a:xfrm>
          <a:prstGeom xmlns:a="http://schemas.openxmlformats.org/drawingml/2006/main" prst="roundRect">
            <a:avLst>
              <a:gd name="adj" fmla="val 13158"/>
            </a:avLst>
          </a:prstGeom>
          <a:solidFill xmlns:a="http://schemas.openxmlformats.org/drawingml/2006/main">
            <a:srgbClr val="FFFFFF"/>
          </a:solidFill>
          <a:ln xmlns:a="http://schemas.openxmlformats.org/drawingml/2006/main" w="11430">
            <a:solidFill>
              <a:srgbClr val="FFFFFF"/>
            </a:solidFill>
            <a:prstDash val="solid"/>
          </a:ln>
        </p:spPr>
      </p:sp>
      <p:sp>
        <p:nvSpPr>
          <p:cNvPr id="9" name="limit-a-0">
            <a:extLst xmlns:a="http://schemas.openxmlformats.org/drawingml/2006/main">
              <a:ext uri="{FF2B5EF4-FFF2-40B4-BE49-F238E27FC236}">
                <a16:creationId xmlns:a16="http://schemas.microsoft.com/office/drawing/2014/main" id="{DAFE7306-808D-40F6-A578-CD63B0435D4D}"/>
              </a:ext>
            </a:extLst>
          </p:cNvPr>
          <p:cNvSpPr>
            <a:spLocks xmlns:a="http://schemas.openxmlformats.org/drawingml/2006/main" noGrp="1"/>
          </p:cNvSpPr>
          <p:nvPr/>
        </p:nvSpPr>
        <p:spPr>
          <a:xfrm xmlns:a="http://schemas.openxmlformats.org/drawingml/2006/main">
            <a:off x="838200" y="22098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02A2A"/>
                </a:solidFill>
              </a:defRPr>
            </a:pPr>
            <a:r>
              <a:rPr sz="1500" b="1">
                <a:solidFill>
                  <a:srgbClr val="102A2A"/>
                </a:solidFill>
              </a:rPr>
              <a:t>SQLite local</a:t>
            </a:r>
          </a:p>
        </p:txBody>
      </p:sp>
      <p:sp>
        <p:nvSpPr>
          <p:cNvPr id="10" name="limit-b-0">
            <a:extLst xmlns:a="http://schemas.openxmlformats.org/drawingml/2006/main">
              <a:ext uri="{FF2B5EF4-FFF2-40B4-BE49-F238E27FC236}">
                <a16:creationId xmlns:a16="http://schemas.microsoft.com/office/drawing/2014/main" id="{9E2C7345-83FF-49C0-B179-3468CAD689E1}"/>
              </a:ext>
            </a:extLst>
          </p:cNvPr>
          <p:cNvSpPr>
            <a:spLocks xmlns:a="http://schemas.openxmlformats.org/drawingml/2006/main" noGrp="1"/>
          </p:cNvSpPr>
          <p:nvPr/>
        </p:nvSpPr>
        <p:spPr>
          <a:xfrm xmlns:a="http://schemas.openxmlformats.org/drawingml/2006/main">
            <a:off x="3619500" y="220980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concurrence d’écriture et absence de scale-out</a:t>
            </a:r>
          </a:p>
        </p:txBody>
      </p:sp>
      <p:sp>
        <p:nvSpPr>
          <p:cNvPr id="11" name="limit-c-0">
            <a:extLst xmlns:a="http://schemas.openxmlformats.org/drawingml/2006/main">
              <a:ext uri="{FF2B5EF4-FFF2-40B4-BE49-F238E27FC236}">
                <a16:creationId xmlns:a16="http://schemas.microsoft.com/office/drawing/2014/main" id="{62967F0F-A609-494F-8E1C-75D715FA80ED}"/>
              </a:ext>
            </a:extLst>
          </p:cNvPr>
          <p:cNvSpPr>
            <a:spLocks xmlns:a="http://schemas.openxmlformats.org/drawingml/2006/main" noGrp="1"/>
          </p:cNvSpPr>
          <p:nvPr/>
        </p:nvSpPr>
        <p:spPr>
          <a:xfrm xmlns:a="http://schemas.openxmlformats.org/drawingml/2006/main">
            <a:off x="7524750" y="220980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02A2A"/>
                </a:solidFill>
              </a:defRPr>
            </a:pPr>
            <a:r>
              <a:rPr sz="1275" b="1">
                <a:solidFill>
                  <a:srgbClr val="102A2A"/>
                </a:solidFill>
              </a:rPr>
              <a:t>PostgreSQL / moteur analytique selon la charge</a:t>
            </a:r>
          </a:p>
        </p:txBody>
      </p:sp>
      <p:sp>
        <p:nvSpPr>
          <p:cNvPr id="12" name="limit-a-1">
            <a:extLst xmlns:a="http://schemas.openxmlformats.org/drawingml/2006/main">
              <a:ext uri="{FF2B5EF4-FFF2-40B4-BE49-F238E27FC236}">
                <a16:creationId xmlns:a16="http://schemas.microsoft.com/office/drawing/2014/main" id="{798527CD-CAF9-4BF4-83E2-129241E3AEEB}"/>
              </a:ext>
            </a:extLst>
          </p:cNvPr>
          <p:cNvSpPr>
            <a:spLocks xmlns:a="http://schemas.openxmlformats.org/drawingml/2006/main" noGrp="1"/>
          </p:cNvSpPr>
          <p:nvPr/>
        </p:nvSpPr>
        <p:spPr>
          <a:xfrm xmlns:a="http://schemas.openxmlformats.org/drawingml/2006/main">
            <a:off x="838200" y="31051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02A2A"/>
                </a:solidFill>
              </a:defRPr>
            </a:pPr>
            <a:r>
              <a:rPr sz="1500" b="1">
                <a:solidFill>
                  <a:srgbClr val="102A2A"/>
                </a:solidFill>
              </a:rPr>
              <a:t>Double écriture</a:t>
            </a:r>
          </a:p>
        </p:txBody>
      </p:sp>
      <p:sp>
        <p:nvSpPr>
          <p:cNvPr id="13" name="limit-b-1">
            <a:extLst xmlns:a="http://schemas.openxmlformats.org/drawingml/2006/main">
              <a:ext uri="{FF2B5EF4-FFF2-40B4-BE49-F238E27FC236}">
                <a16:creationId xmlns:a16="http://schemas.microsoft.com/office/drawing/2014/main" id="{0581A9C7-7435-4388-B070-85C0F1BF586C}"/>
              </a:ext>
            </a:extLst>
          </p:cNvPr>
          <p:cNvSpPr>
            <a:spLocks xmlns:a="http://schemas.openxmlformats.org/drawingml/2006/main" noGrp="1"/>
          </p:cNvSpPr>
          <p:nvPr/>
        </p:nvSpPr>
        <p:spPr>
          <a:xfrm xmlns:a="http://schemas.openxmlformats.org/drawingml/2006/main">
            <a:off x="3619500" y="31051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aucune atomicité SQLite ↔ MongoDB</a:t>
            </a:r>
          </a:p>
        </p:txBody>
      </p:sp>
      <p:sp>
        <p:nvSpPr>
          <p:cNvPr id="14" name="limit-c-1">
            <a:extLst xmlns:a="http://schemas.openxmlformats.org/drawingml/2006/main">
              <a:ext uri="{FF2B5EF4-FFF2-40B4-BE49-F238E27FC236}">
                <a16:creationId xmlns:a16="http://schemas.microsoft.com/office/drawing/2014/main" id="{674667C1-3DF7-40CA-ADEF-1466C9E85E76}"/>
              </a:ext>
            </a:extLst>
          </p:cNvPr>
          <p:cNvSpPr>
            <a:spLocks xmlns:a="http://schemas.openxmlformats.org/drawingml/2006/main" noGrp="1"/>
          </p:cNvSpPr>
          <p:nvPr/>
        </p:nvSpPr>
        <p:spPr>
          <a:xfrm xmlns:a="http://schemas.openxmlformats.org/drawingml/2006/main">
            <a:off x="7524750" y="31051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02A2A"/>
                </a:solidFill>
              </a:defRPr>
            </a:pPr>
            <a:r>
              <a:rPr sz="1275" b="1">
                <a:solidFill>
                  <a:srgbClr val="102A2A"/>
                </a:solidFill>
              </a:rPr>
              <a:t>outbox ou réconciliation explicite</a:t>
            </a:r>
          </a:p>
        </p:txBody>
      </p:sp>
      <p:sp>
        <p:nvSpPr>
          <p:cNvPr id="15" name="limit-row-2">
            <a:extLst xmlns:a="http://schemas.openxmlformats.org/drawingml/2006/main">
              <a:ext uri="{FF2B5EF4-FFF2-40B4-BE49-F238E27FC236}">
                <a16:creationId xmlns:a16="http://schemas.microsoft.com/office/drawing/2014/main" id="{58B39975-5AD3-439E-8313-7A99F181D219}"/>
              </a:ext>
            </a:extLst>
          </p:cNvPr>
          <p:cNvSpPr>
            <a:spLocks xmlns:a="http://schemas.openxmlformats.org/drawingml/2006/main" noGrp="1"/>
          </p:cNvSpPr>
          <p:nvPr/>
        </p:nvSpPr>
        <p:spPr>
          <a:xfrm xmlns:a="http://schemas.openxmlformats.org/drawingml/2006/main">
            <a:off x="609600" y="3905250"/>
            <a:ext cx="10972800" cy="723900"/>
          </a:xfrm>
          <a:prstGeom xmlns:a="http://schemas.openxmlformats.org/drawingml/2006/main" prst="roundRect">
            <a:avLst>
              <a:gd name="adj" fmla="val 13158"/>
            </a:avLst>
          </a:prstGeom>
          <a:solidFill xmlns:a="http://schemas.openxmlformats.org/drawingml/2006/main">
            <a:srgbClr val="FFFFFF"/>
          </a:solidFill>
          <a:ln xmlns:a="http://schemas.openxmlformats.org/drawingml/2006/main" w="11430">
            <a:solidFill>
              <a:srgbClr val="FFFFFF"/>
            </a:solidFill>
            <a:prstDash val="solid"/>
          </a:ln>
        </p:spPr>
      </p:sp>
      <p:sp>
        <p:nvSpPr>
          <p:cNvPr id="16" name="limit-a-2">
            <a:extLst xmlns:a="http://schemas.openxmlformats.org/drawingml/2006/main">
              <a:ext uri="{FF2B5EF4-FFF2-40B4-BE49-F238E27FC236}">
                <a16:creationId xmlns:a16="http://schemas.microsoft.com/office/drawing/2014/main" id="{289023D3-A9FE-4E8D-9491-19FEE78BF9C6}"/>
              </a:ext>
            </a:extLst>
          </p:cNvPr>
          <p:cNvSpPr>
            <a:spLocks xmlns:a="http://schemas.openxmlformats.org/drawingml/2006/main" noGrp="1"/>
          </p:cNvSpPr>
          <p:nvPr/>
        </p:nvSpPr>
        <p:spPr>
          <a:xfrm xmlns:a="http://schemas.openxmlformats.org/drawingml/2006/main">
            <a:off x="838200" y="40005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02A2A"/>
                </a:solidFill>
              </a:defRPr>
            </a:pPr>
            <a:r>
              <a:rPr sz="1500" b="1">
                <a:solidFill>
                  <a:srgbClr val="102A2A"/>
                </a:solidFill>
              </a:rPr>
              <a:t>Source HTML</a:t>
            </a:r>
          </a:p>
        </p:txBody>
      </p:sp>
      <p:sp>
        <p:nvSpPr>
          <p:cNvPr id="17" name="limit-b-2">
            <a:extLst xmlns:a="http://schemas.openxmlformats.org/drawingml/2006/main">
              <a:ext uri="{FF2B5EF4-FFF2-40B4-BE49-F238E27FC236}">
                <a16:creationId xmlns:a16="http://schemas.microsoft.com/office/drawing/2014/main" id="{B83FCD21-D61E-4EE5-821F-DCED855BDBB4}"/>
              </a:ext>
            </a:extLst>
          </p:cNvPr>
          <p:cNvSpPr>
            <a:spLocks xmlns:a="http://schemas.openxmlformats.org/drawingml/2006/main" noGrp="1"/>
          </p:cNvSpPr>
          <p:nvPr/>
        </p:nvSpPr>
        <p:spPr>
          <a:xfrm xmlns:a="http://schemas.openxmlformats.org/drawingml/2006/main">
            <a:off x="3619500" y="400050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scraper sensible aux changements de structure</a:t>
            </a:r>
          </a:p>
        </p:txBody>
      </p:sp>
      <p:sp>
        <p:nvSpPr>
          <p:cNvPr id="18" name="limit-c-2">
            <a:extLst xmlns:a="http://schemas.openxmlformats.org/drawingml/2006/main">
              <a:ext uri="{FF2B5EF4-FFF2-40B4-BE49-F238E27FC236}">
                <a16:creationId xmlns:a16="http://schemas.microsoft.com/office/drawing/2014/main" id="{633FD30E-7D70-4DDD-95AE-031606F95098}"/>
              </a:ext>
            </a:extLst>
          </p:cNvPr>
          <p:cNvSpPr>
            <a:spLocks xmlns:a="http://schemas.openxmlformats.org/drawingml/2006/main" noGrp="1"/>
          </p:cNvSpPr>
          <p:nvPr/>
        </p:nvSpPr>
        <p:spPr>
          <a:xfrm xmlns:a="http://schemas.openxmlformats.org/drawingml/2006/main">
            <a:off x="7524750" y="400050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02A2A"/>
                </a:solidFill>
              </a:defRPr>
            </a:pPr>
            <a:r>
              <a:rPr sz="1275" b="1">
                <a:solidFill>
                  <a:srgbClr val="102A2A"/>
                </a:solidFill>
              </a:rPr>
              <a:t>fixtures, alertes de fraîcheur, fallback</a:t>
            </a:r>
          </a:p>
        </p:txBody>
      </p:sp>
      <p:sp>
        <p:nvSpPr>
          <p:cNvPr id="19" name="limit-a-3">
            <a:extLst xmlns:a="http://schemas.openxmlformats.org/drawingml/2006/main">
              <a:ext uri="{FF2B5EF4-FFF2-40B4-BE49-F238E27FC236}">
                <a16:creationId xmlns:a16="http://schemas.microsoft.com/office/drawing/2014/main" id="{EF559DA4-3F7F-4CCC-8BB3-B16FBCD7E8D0}"/>
              </a:ext>
            </a:extLst>
          </p:cNvPr>
          <p:cNvSpPr>
            <a:spLocks xmlns:a="http://schemas.openxmlformats.org/drawingml/2006/main" noGrp="1"/>
          </p:cNvSpPr>
          <p:nvPr/>
        </p:nvSpPr>
        <p:spPr>
          <a:xfrm xmlns:a="http://schemas.openxmlformats.org/drawingml/2006/main">
            <a:off x="838200" y="48958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02A2A"/>
                </a:solidFill>
              </a:defRPr>
            </a:pPr>
            <a:r>
              <a:rPr sz="1500" b="1">
                <a:solidFill>
                  <a:srgbClr val="102A2A"/>
                </a:solidFill>
              </a:rPr>
              <a:t>Cluster mono-machine</a:t>
            </a:r>
          </a:p>
        </p:txBody>
      </p:sp>
      <p:sp>
        <p:nvSpPr>
          <p:cNvPr id="20" name="limit-b-3">
            <a:extLst xmlns:a="http://schemas.openxmlformats.org/drawingml/2006/main">
              <a:ext uri="{FF2B5EF4-FFF2-40B4-BE49-F238E27FC236}">
                <a16:creationId xmlns:a16="http://schemas.microsoft.com/office/drawing/2014/main" id="{B7E64CE3-32A7-46EC-8913-41A6241B4C24}"/>
              </a:ext>
            </a:extLst>
          </p:cNvPr>
          <p:cNvSpPr>
            <a:spLocks xmlns:a="http://schemas.openxmlformats.org/drawingml/2006/main" noGrp="1"/>
          </p:cNvSpPr>
          <p:nvPr/>
        </p:nvSpPr>
        <p:spPr>
          <a:xfrm xmlns:a="http://schemas.openxmlformats.org/drawingml/2006/main">
            <a:off x="3619500" y="48958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706D"/>
                </a:solidFill>
              </a:defRPr>
            </a:pPr>
            <a:r>
              <a:rPr sz="1275" b="0">
                <a:solidFill>
                  <a:srgbClr val="62706D"/>
                </a:solidFill>
              </a:rPr>
              <a:t>distribution pédagogique, résilience limitée</a:t>
            </a:r>
          </a:p>
        </p:txBody>
      </p:sp>
      <p:sp>
        <p:nvSpPr>
          <p:cNvPr id="21" name="limit-c-3">
            <a:extLst xmlns:a="http://schemas.openxmlformats.org/drawingml/2006/main">
              <a:ext uri="{FF2B5EF4-FFF2-40B4-BE49-F238E27FC236}">
                <a16:creationId xmlns:a16="http://schemas.microsoft.com/office/drawing/2014/main" id="{BDED79B9-4B56-40B8-822C-271D4F726932}"/>
              </a:ext>
            </a:extLst>
          </p:cNvPr>
          <p:cNvSpPr>
            <a:spLocks xmlns:a="http://schemas.openxmlformats.org/drawingml/2006/main" noGrp="1"/>
          </p:cNvSpPr>
          <p:nvPr/>
        </p:nvSpPr>
        <p:spPr>
          <a:xfrm xmlns:a="http://schemas.openxmlformats.org/drawingml/2006/main">
            <a:off x="7524750" y="48958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02A2A"/>
                </a:solidFill>
              </a:defRPr>
            </a:pPr>
            <a:r>
              <a:rPr sz="1275" b="1">
                <a:solidFill>
                  <a:srgbClr val="102A2A"/>
                </a:solidFill>
              </a:rPr>
              <a:t>stockage distribué et plusieurs hôtes si besoin</a:t>
            </a:r>
          </a:p>
        </p:txBody>
      </p:sp>
      <p:sp>
        <p:nvSpPr>
          <p:cNvPr id="22" name="limit-foot">
            <a:extLst xmlns:a="http://schemas.openxmlformats.org/drawingml/2006/main">
              <a:ext uri="{FF2B5EF4-FFF2-40B4-BE49-F238E27FC236}">
                <a16:creationId xmlns:a16="http://schemas.microsoft.com/office/drawing/2014/main" id="{E8A30AC7-E2A6-4D44-BD47-7E744AB0842D}"/>
              </a:ext>
            </a:extLst>
          </p:cNvPr>
          <p:cNvSpPr>
            <a:spLocks xmlns:a="http://schemas.openxmlformats.org/drawingml/2006/main" noGrp="1"/>
          </p:cNvSpPr>
          <p:nvPr/>
        </p:nvSpPr>
        <p:spPr>
          <a:xfrm xmlns:a="http://schemas.openxmlformats.org/drawingml/2006/main">
            <a:off x="2238375" y="5905500"/>
            <a:ext cx="771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D66B4D"/>
                </a:solidFill>
              </a:defRPr>
            </a:pPr>
            <a:r>
              <a:rPr sz="1500" b="1">
                <a:solidFill>
                  <a:srgbClr val="D66B4D"/>
                </a:solidFill>
              </a:rPr>
              <a:t>Prototype démontrable aujourd’hui · trajectoire de production explicite</a:t>
            </a:r>
          </a:p>
        </p:txBody>
      </p:sp>
    </p:spTree>
    <p:extLst>
      <p:ext uri="{BB962C8B-B14F-4D97-AF65-F5344CB8AC3E}">
        <p14:creationId xmlns:p14="http://schemas.microsoft.com/office/powerpoint/2010/main" val="1821729199"/>
      </p:ext>
    </p:extLst>
  </p:cSld>
</p:sld>
</file>

<file path=ppt/slides/slide25.xml><?xml version="1.0" encoding="utf-8"?>
<p:sld xmlns:p="http://schemas.openxmlformats.org/presentationml/2006/main">
  <p:cSld>
    <p:bg>
      <p:bgPr>
        <a:solidFill xmlns:a="http://schemas.openxmlformats.org/drawingml/2006/main">
          <a:srgbClr val="153D3A"/>
        </a:solidFill>
      </p:bgPr>
    </p:bg>
    <p:spTree>
      <p:nvGrpSpPr>
        <p:cNvPr id="1" name=""/>
        <p:cNvGrpSpPr/>
        <p:nvPr/>
      </p:nvGrpSpPr>
      <p:grpSpPr>
        <a:xfrm xmlns:a="http://schemas.openxmlformats.org/drawingml/2006/main"/>
      </p:grpSpPr>
      <p:sp>
        <p:nvSpPr>
          <p:cNvPr id="13" name="close-kicker">
            <a:extLst xmlns:a="http://schemas.openxmlformats.org/drawingml/2006/main">
              <a:ext uri="{FF2B5EF4-FFF2-40B4-BE49-F238E27FC236}">
                <a16:creationId xmlns:a16="http://schemas.microsoft.com/office/drawing/2014/main" id="{7A5FF292-F6C5-41F3-8710-5B9D50EF5D33}"/>
              </a:ext>
            </a:extLst>
          </p:cNvPr>
          <p:cNvSpPr>
            <a:spLocks xmlns:a="http://schemas.openxmlformats.org/drawingml/2006/main" noGrp="1"/>
          </p:cNvSpPr>
          <p:nvPr/>
        </p:nvSpPr>
        <p:spPr>
          <a:xfrm xmlns:a="http://schemas.openxmlformats.org/drawingml/2006/main">
            <a:off x="609600" y="438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EDE7"/>
                </a:solidFill>
              </a:defRPr>
            </a:pPr>
            <a:r>
              <a:rPr sz="1050" b="1">
                <a:solidFill>
                  <a:srgbClr val="DCEDE7"/>
                </a:solidFill>
              </a:rPr>
              <a:t>CONCLUSION</a:t>
            </a:r>
          </a:p>
        </p:txBody>
      </p:sp>
      <p:sp>
        <p:nvSpPr>
          <p:cNvPr id="2" name="close-title">
            <a:extLst xmlns:a="http://schemas.openxmlformats.org/drawingml/2006/main">
              <a:ext uri="{FF2B5EF4-FFF2-40B4-BE49-F238E27FC236}">
                <a16:creationId xmlns:a16="http://schemas.microsoft.com/office/drawing/2014/main" id="{CBECA680-46C2-448D-BFD5-1336F3BFC91E}"/>
              </a:ext>
            </a:extLst>
          </p:cNvPr>
          <p:cNvSpPr>
            <a:spLocks xmlns:a="http://schemas.openxmlformats.org/drawingml/2006/main" noGrp="1"/>
          </p:cNvSpPr>
          <p:nvPr/>
        </p:nvSpPr>
        <p:spPr>
          <a:xfrm xmlns:a="http://schemas.openxmlformats.org/drawingml/2006/main">
            <a:off x="609600" y="971550"/>
            <a:ext cx="857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Homepedia rend une chaîne data complexe lisible et défendable</a:t>
            </a:r>
          </a:p>
        </p:txBody>
      </p:sp>
      <p:sp>
        <p:nvSpPr>
          <p:cNvPr id="3" name="close-rule">
            <a:extLst xmlns:a="http://schemas.openxmlformats.org/drawingml/2006/main">
              <a:ext uri="{FF2B5EF4-FFF2-40B4-BE49-F238E27FC236}">
                <a16:creationId xmlns:a16="http://schemas.microsoft.com/office/drawing/2014/main" id="{A62B536A-88A1-4E0F-9F8B-84D4890BB182}"/>
              </a:ext>
            </a:extLst>
          </p:cNvPr>
          <p:cNvSpPr>
            <a:spLocks xmlns:a="http://schemas.openxmlformats.org/drawingml/2006/main" noGrp="1"/>
          </p:cNvSpPr>
          <p:nvPr/>
        </p:nvSpPr>
        <p:spPr>
          <a:xfrm xmlns:a="http://schemas.openxmlformats.org/drawingml/2006/main">
            <a:off x="609600" y="2247900"/>
            <a:ext cx="10972800" cy="0"/>
          </a:xfrm>
          <a:prstGeom xmlns:a="http://schemas.openxmlformats.org/drawingml/2006/main" prst="line">
            <a:avLst/>
          </a:prstGeom>
          <a:noFill xmlns:a="http://schemas.openxmlformats.org/drawingml/2006/main"/>
          <a:ln xmlns:a="http://schemas.openxmlformats.org/drawingml/2006/main" w="19050">
            <a:solidFill>
              <a:srgbClr val="1F6F5F"/>
            </a:solidFill>
            <a:prstDash val="solid"/>
          </a:ln>
        </p:spPr>
      </p:sp>
      <p:sp>
        <p:nvSpPr>
          <p:cNvPr id="4" name="close-h-0">
            <a:extLst xmlns:a="http://schemas.openxmlformats.org/drawingml/2006/main">
              <a:ext uri="{FF2B5EF4-FFF2-40B4-BE49-F238E27FC236}">
                <a16:creationId xmlns:a16="http://schemas.microsoft.com/office/drawing/2014/main" id="{DE611FC2-3006-421D-84B1-F2AD814E3D8E}"/>
              </a:ext>
            </a:extLst>
          </p:cNvPr>
          <p:cNvSpPr>
            <a:spLocks xmlns:a="http://schemas.openxmlformats.org/drawingml/2006/main" noGrp="1"/>
          </p:cNvSpPr>
          <p:nvPr/>
        </p:nvSpPr>
        <p:spPr>
          <a:xfrm xmlns:a="http://schemas.openxmlformats.org/drawingml/2006/main">
            <a:off x="609600" y="28194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E8D9BF"/>
                </a:solidFill>
              </a:defRPr>
            </a:pPr>
            <a:r>
              <a:rPr sz="1875" b="1">
                <a:solidFill>
                  <a:srgbClr val="E8D9BF"/>
                </a:solidFill>
              </a:rPr>
              <a:t>Fiable</a:t>
            </a:r>
          </a:p>
        </p:txBody>
      </p:sp>
      <p:sp>
        <p:nvSpPr>
          <p:cNvPr id="5" name="close-b-0">
            <a:extLst xmlns:a="http://schemas.openxmlformats.org/drawingml/2006/main">
              <a:ext uri="{FF2B5EF4-FFF2-40B4-BE49-F238E27FC236}">
                <a16:creationId xmlns:a16="http://schemas.microsoft.com/office/drawing/2014/main" id="{7746016D-20BC-4F0B-B20F-A84348FCB353}"/>
              </a:ext>
            </a:extLst>
          </p:cNvPr>
          <p:cNvSpPr>
            <a:spLocks xmlns:a="http://schemas.openxmlformats.org/drawingml/2006/main" noGrp="1"/>
          </p:cNvSpPr>
          <p:nvPr/>
        </p:nvSpPr>
        <p:spPr>
          <a:xfrm xmlns:a="http://schemas.openxmlformats.org/drawingml/2006/main">
            <a:off x="609600" y="333375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CEDE7"/>
                </a:solidFill>
              </a:defRPr>
            </a:pPr>
            <a:r>
              <a:rPr sz="1425" b="0">
                <a:solidFill>
                  <a:srgbClr val="DCEDE7"/>
                </a:solidFill>
              </a:rPr>
              <a:t>nettoyage, idempotence, contrat commun</a:t>
            </a:r>
          </a:p>
        </p:txBody>
      </p:sp>
      <p:sp>
        <p:nvSpPr>
          <p:cNvPr id="6" name="close-h-1">
            <a:extLst xmlns:a="http://schemas.openxmlformats.org/drawingml/2006/main">
              <a:ext uri="{FF2B5EF4-FFF2-40B4-BE49-F238E27FC236}">
                <a16:creationId xmlns:a16="http://schemas.microsoft.com/office/drawing/2014/main" id="{E4186817-FEED-4758-A88E-6CF28D8DF6A9}"/>
              </a:ext>
            </a:extLst>
          </p:cNvPr>
          <p:cNvSpPr>
            <a:spLocks xmlns:a="http://schemas.openxmlformats.org/drawingml/2006/main" noGrp="1"/>
          </p:cNvSpPr>
          <p:nvPr/>
        </p:nvSpPr>
        <p:spPr>
          <a:xfrm xmlns:a="http://schemas.openxmlformats.org/drawingml/2006/main">
            <a:off x="4267200" y="28194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E8D9BF"/>
                </a:solidFill>
              </a:defRPr>
            </a:pPr>
            <a:r>
              <a:rPr sz="1875" b="1">
                <a:solidFill>
                  <a:srgbClr val="E8D9BF"/>
                </a:solidFill>
              </a:rPr>
              <a:t>Mesurable</a:t>
            </a:r>
          </a:p>
        </p:txBody>
      </p:sp>
      <p:sp>
        <p:nvSpPr>
          <p:cNvPr id="7" name="close-b-1">
            <a:extLst xmlns:a="http://schemas.openxmlformats.org/drawingml/2006/main">
              <a:ext uri="{FF2B5EF4-FFF2-40B4-BE49-F238E27FC236}">
                <a16:creationId xmlns:a16="http://schemas.microsoft.com/office/drawing/2014/main" id="{50820002-4ED5-493C-A911-10BC524B9EB7}"/>
              </a:ext>
            </a:extLst>
          </p:cNvPr>
          <p:cNvSpPr>
            <a:spLocks xmlns:a="http://schemas.openxmlformats.org/drawingml/2006/main" noGrp="1"/>
          </p:cNvSpPr>
          <p:nvPr/>
        </p:nvSpPr>
        <p:spPr>
          <a:xfrm xmlns:a="http://schemas.openxmlformats.org/drawingml/2006/main">
            <a:off x="4267200" y="333375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CEDE7"/>
                </a:solidFill>
              </a:defRPr>
            </a:pPr>
            <a:r>
              <a:rPr sz="1425" b="0">
                <a:solidFill>
                  <a:srgbClr val="DCEDE7"/>
                </a:solidFill>
              </a:rPr>
              <a:t>1,88 M de faits · 94 départements · 13 régions</a:t>
            </a:r>
          </a:p>
        </p:txBody>
      </p:sp>
      <p:sp>
        <p:nvSpPr>
          <p:cNvPr id="8" name="close-h-2">
            <a:extLst xmlns:a="http://schemas.openxmlformats.org/drawingml/2006/main">
              <a:ext uri="{FF2B5EF4-FFF2-40B4-BE49-F238E27FC236}">
                <a16:creationId xmlns:a16="http://schemas.microsoft.com/office/drawing/2014/main" id="{A1DDE1C9-2358-4F61-840A-94D698F2DFD0}"/>
              </a:ext>
            </a:extLst>
          </p:cNvPr>
          <p:cNvSpPr>
            <a:spLocks xmlns:a="http://schemas.openxmlformats.org/drawingml/2006/main" noGrp="1"/>
          </p:cNvSpPr>
          <p:nvPr/>
        </p:nvSpPr>
        <p:spPr>
          <a:xfrm xmlns:a="http://schemas.openxmlformats.org/drawingml/2006/main">
            <a:off x="7924800" y="28194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E8D9BF"/>
                </a:solidFill>
              </a:defRPr>
            </a:pPr>
            <a:r>
              <a:rPr sz="1875" b="1">
                <a:solidFill>
                  <a:srgbClr val="E8D9BF"/>
                </a:solidFill>
              </a:rPr>
              <a:t>Lucide</a:t>
            </a:r>
          </a:p>
        </p:txBody>
      </p:sp>
      <p:sp>
        <p:nvSpPr>
          <p:cNvPr id="9" name="close-b-2">
            <a:extLst xmlns:a="http://schemas.openxmlformats.org/drawingml/2006/main">
              <a:ext uri="{FF2B5EF4-FFF2-40B4-BE49-F238E27FC236}">
                <a16:creationId xmlns:a16="http://schemas.microsoft.com/office/drawing/2014/main" id="{FBE028F5-0E1B-4F58-91C6-8EF114D8538F}"/>
              </a:ext>
            </a:extLst>
          </p:cNvPr>
          <p:cNvSpPr>
            <a:spLocks xmlns:a="http://schemas.openxmlformats.org/drawingml/2006/main" noGrp="1"/>
          </p:cNvSpPr>
          <p:nvPr/>
        </p:nvSpPr>
        <p:spPr>
          <a:xfrm xmlns:a="http://schemas.openxmlformats.org/drawingml/2006/main">
            <a:off x="7924800" y="333375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DCEDE7"/>
                </a:solidFill>
              </a:defRPr>
            </a:pPr>
            <a:r>
              <a:rPr sz="1425" b="0">
                <a:solidFill>
                  <a:srgbClr val="DCEDE7"/>
                </a:solidFill>
              </a:rPr>
              <a:t>polling, mono-machine, cohérence éventuelle</a:t>
            </a:r>
          </a:p>
        </p:txBody>
      </p:sp>
      <p:sp>
        <p:nvSpPr>
          <p:cNvPr id="10" name="next">
            <a:extLst xmlns:a="http://schemas.openxmlformats.org/drawingml/2006/main">
              <a:ext uri="{FF2B5EF4-FFF2-40B4-BE49-F238E27FC236}">
                <a16:creationId xmlns:a16="http://schemas.microsoft.com/office/drawing/2014/main" id="{BE232872-B774-4ABC-9B14-10D89ED22385}"/>
              </a:ext>
            </a:extLst>
          </p:cNvPr>
          <p:cNvSpPr>
            <a:spLocks xmlns:a="http://schemas.openxmlformats.org/drawingml/2006/main" noGrp="1"/>
          </p:cNvSpPr>
          <p:nvPr/>
        </p:nvSpPr>
        <p:spPr>
          <a:xfrm xmlns:a="http://schemas.openxmlformats.org/drawingml/2006/main">
            <a:off x="609600" y="4800600"/>
            <a:ext cx="10972800" cy="857250"/>
          </a:xfrm>
          <a:prstGeom xmlns:a="http://schemas.openxmlformats.org/drawingml/2006/main" prst="roundRect">
            <a:avLst>
              <a:gd name="adj" fmla="val 20000"/>
            </a:avLst>
          </a:prstGeom>
          <a:solidFill xmlns:a="http://schemas.openxmlformats.org/drawingml/2006/main">
            <a:srgbClr val="1F6F5F"/>
          </a:solidFill>
          <a:ln xmlns:a="http://schemas.openxmlformats.org/drawingml/2006/main" w="11430">
            <a:solidFill>
              <a:srgbClr val="1F6F5F"/>
            </a:solidFill>
            <a:prstDash val="solid"/>
          </a:ln>
        </p:spPr>
      </p:sp>
      <p:sp>
        <p:nvSpPr>
          <p:cNvPr id="11" name="next-t">
            <a:extLst xmlns:a="http://schemas.openxmlformats.org/drawingml/2006/main">
              <a:ext uri="{FF2B5EF4-FFF2-40B4-BE49-F238E27FC236}">
                <a16:creationId xmlns:a16="http://schemas.microsoft.com/office/drawing/2014/main" id="{9B5C009A-614B-49B5-A81B-D645836120D6}"/>
              </a:ext>
            </a:extLst>
          </p:cNvPr>
          <p:cNvSpPr>
            <a:spLocks xmlns:a="http://schemas.openxmlformats.org/drawingml/2006/main" noGrp="1"/>
          </p:cNvSpPr>
          <p:nvPr/>
        </p:nvSpPr>
        <p:spPr>
          <a:xfrm xmlns:a="http://schemas.openxmlformats.org/drawingml/2006/main">
            <a:off x="914400" y="5076825"/>
            <a:ext cx="10363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FFFFF"/>
                </a:solidFill>
              </a:defRPr>
            </a:pPr>
            <a:r>
              <a:rPr sz="1725" b="1">
                <a:solidFill>
                  <a:srgbClr val="FFFFFF"/>
                </a:solidFill>
              </a:rPr>
              <a:t>Prochaine étape : tests de contrat · observabilité · stockage scalable</a:t>
            </a:r>
          </a:p>
        </p:txBody>
      </p:sp>
      <p:sp>
        <p:nvSpPr>
          <p:cNvPr id="12" name="thanks">
            <a:extLst xmlns:a="http://schemas.openxmlformats.org/drawingml/2006/main">
              <a:ext uri="{FF2B5EF4-FFF2-40B4-BE49-F238E27FC236}">
                <a16:creationId xmlns:a16="http://schemas.microsoft.com/office/drawing/2014/main" id="{86295000-AC7A-451F-A036-2856C4F31F0A}"/>
              </a:ext>
            </a:extLst>
          </p:cNvPr>
          <p:cNvSpPr>
            <a:spLocks xmlns:a="http://schemas.openxmlformats.org/drawingml/2006/main" noGrp="1"/>
          </p:cNvSpPr>
          <p:nvPr/>
        </p:nvSpPr>
        <p:spPr>
          <a:xfrm xmlns:a="http://schemas.openxmlformats.org/drawingml/2006/main">
            <a:off x="609600" y="61341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Questions</a:t>
            </a:r>
          </a:p>
        </p:txBody>
      </p:sp>
    </p:spTree>
    <p:extLst>
      <p:ext uri="{BB962C8B-B14F-4D97-AF65-F5344CB8AC3E}">
        <p14:creationId xmlns:p14="http://schemas.microsoft.com/office/powerpoint/2010/main" val="427945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2026-08-27T13:58:46.2880000Z</dcterms:created>
  <dcterms:modified xsi:type="dcterms:W3CDTF">2026-08-27T13:58:46.2880000Z</dcterms:modified>
</coreProperties>
</file>