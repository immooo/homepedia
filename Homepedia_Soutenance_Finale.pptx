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cbe504627344a1" /><Relationship Type="http://schemas.openxmlformats.org/officeDocument/2006/relationships/extended-properties" Target="/docProps/app.xml" Id="R628e9a97b3384da5" /><Relationship Type="http://schemas.openxmlformats.org/officeDocument/2006/relationships/officeDocument" Target="/ppt/presentation.xml" Id="R1edc8affb00a48aa" /></Relationships>
</file>

<file path=ppt/presentation.xml><?xml version="1.0" encoding="utf-8"?>
<p:presentation xmlns:p="http://schemas.openxmlformats.org/presentationml/2006/main">
  <p:sldMasterIdLst>
    <p:sldMasterId xmlns:r="http://schemas.openxmlformats.org/officeDocument/2006/relationships" id="2147483648" r:id="Rc2ebba11746c49ac"/>
  </p:sldMasterIdLst>
  <p:notesMasterIdLst>
    <p:notesMasterId xmlns:r="http://schemas.openxmlformats.org/officeDocument/2006/relationships" r:id="R88b6255efc59405f"/>
  </p:notesMasterIdLst>
  <p:sldIdLst>
    <p:sldId xmlns:r="http://schemas.openxmlformats.org/officeDocument/2006/relationships" id="256" r:id="R9af950f72faa4588"/>
    <p:sldId xmlns:r="http://schemas.openxmlformats.org/officeDocument/2006/relationships" id="257" r:id="Rbc706aac061d465c"/>
    <p:sldId xmlns:r="http://schemas.openxmlformats.org/officeDocument/2006/relationships" id="258" r:id="R2b9fb95aaac54c41"/>
    <p:sldId xmlns:r="http://schemas.openxmlformats.org/officeDocument/2006/relationships" id="259" r:id="Rb6c3d18485164883"/>
    <p:sldId xmlns:r="http://schemas.openxmlformats.org/officeDocument/2006/relationships" id="260" r:id="R0ee3a39d1e4841f0"/>
    <p:sldId xmlns:r="http://schemas.openxmlformats.org/officeDocument/2006/relationships" id="261" r:id="R19916970e3ef4e9d"/>
    <p:sldId xmlns:r="http://schemas.openxmlformats.org/officeDocument/2006/relationships" id="262" r:id="Rc24a94ad5fe54e17"/>
    <p:sldId xmlns:r="http://schemas.openxmlformats.org/officeDocument/2006/relationships" id="263" r:id="Rc1975f10b07946c2"/>
    <p:sldId xmlns:r="http://schemas.openxmlformats.org/officeDocument/2006/relationships" id="264" r:id="R90ef44a5c45d4131"/>
    <p:sldId xmlns:r="http://schemas.openxmlformats.org/officeDocument/2006/relationships" id="265" r:id="R8342cd99446f4d09"/>
    <p:sldId xmlns:r="http://schemas.openxmlformats.org/officeDocument/2006/relationships" id="266" r:id="R330379618ec9423d"/>
    <p:sldId xmlns:r="http://schemas.openxmlformats.org/officeDocument/2006/relationships" id="267" r:id="R2a347da07eaf4b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9e2c94652f4323" /><Relationship Type="http://schemas.openxmlformats.org/officeDocument/2006/relationships/slideMaster" Target="/ppt/slideMasters/slideMaster1.xml" Id="Rc2ebba11746c49ac" /><Relationship Type="http://schemas.openxmlformats.org/officeDocument/2006/relationships/notesMaster" Target="/ppt/notesMasters/notesMaster1.xml" Id="R88b6255efc59405f" /><Relationship Type="http://schemas.openxmlformats.org/officeDocument/2006/relationships/presProps" Target="/ppt/presProps.xml" Id="R1b6b7297ddfc4c46" /><Relationship Type="http://schemas.openxmlformats.org/officeDocument/2006/relationships/tableStyles" Target="/ppt/tableStyles.xml" Id="Ra68cd1f928a64974" /><Relationship Type="http://schemas.openxmlformats.org/officeDocument/2006/relationships/slide" Target="/ppt/slides/slide1.xml" Id="R9af950f72faa4588" /><Relationship Type="http://schemas.openxmlformats.org/officeDocument/2006/relationships/slide" Target="/ppt/slides/slide2.xml" Id="Rbc706aac061d465c" /><Relationship Type="http://schemas.openxmlformats.org/officeDocument/2006/relationships/slide" Target="/ppt/slides/slide3.xml" Id="R2b9fb95aaac54c41" /><Relationship Type="http://schemas.openxmlformats.org/officeDocument/2006/relationships/slide" Target="/ppt/slides/slide4.xml" Id="Rb6c3d18485164883" /><Relationship Type="http://schemas.openxmlformats.org/officeDocument/2006/relationships/slide" Target="/ppt/slides/slide5.xml" Id="R0ee3a39d1e4841f0" /><Relationship Type="http://schemas.openxmlformats.org/officeDocument/2006/relationships/slide" Target="/ppt/slides/slide6.xml" Id="R19916970e3ef4e9d" /><Relationship Type="http://schemas.openxmlformats.org/officeDocument/2006/relationships/slide" Target="/ppt/slides/slide7.xml" Id="Rc24a94ad5fe54e17" /><Relationship Type="http://schemas.openxmlformats.org/officeDocument/2006/relationships/slide" Target="/ppt/slides/slide8.xml" Id="Rc1975f10b07946c2" /><Relationship Type="http://schemas.openxmlformats.org/officeDocument/2006/relationships/slide" Target="/ppt/slides/slide9.xml" Id="R90ef44a5c45d4131" /><Relationship Type="http://schemas.openxmlformats.org/officeDocument/2006/relationships/slide" Target="/ppt/slides/slide10.xml" Id="R8342cd99446f4d09" /><Relationship Type="http://schemas.openxmlformats.org/officeDocument/2006/relationships/slide" Target="/ppt/slides/slide11.xml" Id="R330379618ec9423d" /><Relationship Type="http://schemas.openxmlformats.org/officeDocument/2006/relationships/slide" Target="/ppt/slides/slide12.xml" Id="R2a347da07eaf4b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11e555ef4e45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615939d6f34dec" /><Relationship Type="http://schemas.openxmlformats.org/officeDocument/2006/relationships/notesMaster" Target="/ppt/notesMasters/notesMaster1.xml" Id="Rf1c629bf3a9b44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f5c0d7e74140b5" /><Relationship Type="http://schemas.openxmlformats.org/officeDocument/2006/relationships/notesMaster" Target="/ppt/notesMasters/notesMaster1.xml" Id="R93fd3862f6bf44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8cba416c4c40a6" /><Relationship Type="http://schemas.openxmlformats.org/officeDocument/2006/relationships/notesMaster" Target="/ppt/notesMasters/notesMaster1.xml" Id="R0b25fbf9f79048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1743b44bfb4b4b" /><Relationship Type="http://schemas.openxmlformats.org/officeDocument/2006/relationships/notesMaster" Target="/ppt/notesMasters/notesMaster1.xml" Id="R287ad68624cd4f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39c0f502ae4db1" /><Relationship Type="http://schemas.openxmlformats.org/officeDocument/2006/relationships/notesMaster" Target="/ppt/notesMasters/notesMaster1.xml" Id="R861d0dbdfd8741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8c4a7a6af34d82" /><Relationship Type="http://schemas.openxmlformats.org/officeDocument/2006/relationships/notesMaster" Target="/ppt/notesMasters/notesMaster1.xml" Id="Rfca5bee75c5a46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9059217034484e" /><Relationship Type="http://schemas.openxmlformats.org/officeDocument/2006/relationships/notesMaster" Target="/ppt/notesMasters/notesMaster1.xml" Id="Rc7b93d3298f748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739f548a6c43fc" /><Relationship Type="http://schemas.openxmlformats.org/officeDocument/2006/relationships/notesMaster" Target="/ppt/notesMasters/notesMaster1.xml" Id="R4426b08d693940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48bbf846a64ac7" /><Relationship Type="http://schemas.openxmlformats.org/officeDocument/2006/relationships/notesMaster" Target="/ppt/notesMasters/notesMaster1.xml" Id="R141d16e0c73d49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4a0ea0812b4f66" /><Relationship Type="http://schemas.openxmlformats.org/officeDocument/2006/relationships/notesMaster" Target="/ppt/notesMasters/notesMaster1.xml" Id="R622bb66c46954d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91793791354e06" /><Relationship Type="http://schemas.openxmlformats.org/officeDocument/2006/relationships/notesMaster" Target="/ppt/notesMasters/notesMaster1.xml" Id="R192d35caf65d46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4fd306de2a43d4" /><Relationship Type="http://schemas.openxmlformats.org/officeDocument/2006/relationships/notesMaster" Target="/ppt/notesMasters/notesMaster1.xml" Id="Rc7fc7051a8544e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Homepedia transforme des données publiques hétérogènes en indicateurs lisibles pour comparer le marché immobilier français. La promesse est simple : partir des transactions DVF, les enrichir avec l’INSEE, puis rendre les résultats explorables sans masquer les limites du prototype.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docs/preparation/PROJECT_ANALYSIS.md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ne gère ni annonces ni transactions opérationnelles. Il transforme des données en information comparable. L’utilisateur peut explorer le marché, comparer des territoires et remettre le prix au mètre carré dans un contexte socio-économique.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docs/preparation/PROJECT_ANALYSIS.md — sections 2 et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sépare volontairement les sources. Les fichiers INSEE socio-économiques alimentent le batch. Une page HTML distincte fournit des indices trimestriels et elle est interrogée périodiquement. Collecter toutes les cinq minutes ne rend pas la publication elle-même temps réel.</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src/backend/ingest_insee_*.py</a:t>
            </a:r>
          </a:p>
          <a:p xmlns:a="http://schemas.openxmlformats.org/drawingml/2006/main">
            <a:r>
              <a:t>- src/realtime_price/config.py</a:t>
            </a:r>
          </a:p>
          <a:p xmlns:a="http://schemas.openxmlformats.org/drawingml/2006/main">
            <a:r>
              <a:t>- src/realtime_price/insee_scraper.py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pipeline principal est batch : ingestion, nettoyage, stockage, pré-agrégation puis visualisation. Spark n’est pas placé partout ; il intervient sur le volume DVF pour produire une petite sortie départementale. L’interface combine ensuite données détaillées, agrégats, Parquet et géographie.</a:t>
            </a:r>
          </a:p>
          <a:p xmlns:a="http://schemas.openxmlformats.org/drawingml/2006/main">
            <a:r>
              <a:t/>
            </a:r>
          </a:p>
          <a:p xmlns:a="http://schemas.openxmlformats.org/drawingml/2006/main">
            <a:r>
              <a:t>[Sources]</a:t>
            </a:r>
          </a:p>
          <a:p xmlns:a="http://schemas.openxmlformats.org/drawingml/2006/main">
            <a:r>
              <a:t>- docs/preparation/ARCHITECTURE.md</a:t>
            </a:r>
          </a:p>
          <a:p xmlns:a="http://schemas.openxmlformats.org/drawingml/2006/main">
            <a:r>
              <a:t>- src/backend/spark_dvf_analysis.py</a:t>
            </a:r>
          </a:p>
          <a:p xmlns:a="http://schemas.openxmlformats.org/drawingml/2006/main">
            <a:r>
              <a:t>- src/app/streamlit_app.py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nettoyage normalise les colonnes, les dates et les codes postaux, retire les doublons exacts, exclut les mutations symboliques et contrôle les surfaces avant le calcul. Le chargement est rejouable grâce au remplacement contrôlé. La preuve à retenir est le résultat final : 1 884 593 transactions uniques.</a:t>
            </a:r>
          </a:p>
          <a:p xmlns:a="http://schemas.openxmlformats.org/drawingml/2006/main">
            <a:r>
              <a:t/>
            </a:r>
          </a:p>
          <a:p xmlns:a="http://schemas.openxmlformats.org/drawingml/2006/main">
            <a:r>
              <a:t>[Sources]</a:t>
            </a:r>
          </a:p>
          <a:p xmlns:a="http://schemas.openxmlformats.org/drawingml/2006/main">
            <a:r>
              <a:t>- src/backend/ingest_valeursfoncieres.py</a:t>
            </a:r>
          </a:p>
          <a:p xmlns:a="http://schemas.openxmlformats.org/drawingml/2006/main">
            <a:r>
              <a:t>- src/backend/spark_dvf_analysis.py</a:t>
            </a:r>
          </a:p>
          <a:p xmlns:a="http://schemas.openxmlformats.org/drawingml/2006/main">
            <a:r>
              <a:t>- docs/DATA_CONTRACT.md</a:t>
            </a:r>
          </a:p>
          <a:p xmlns:a="http://schemas.openxmlformats.org/drawingml/2006/main">
            <a:r>
              <a:t>- docs/preparation/PROJECT_ANALYSIS.md — consolidation du 22 août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cluster Spark est réel : un master et deux workers Docker. Il reste cependant sur une seule machine physique. Le job convertit les types, filtre les valeurs invalides, calcule le prix au mètre carré et agrège par département. `toPandas()` n’est utilisé qu’après réduction à 94 lignes.</a:t>
            </a:r>
          </a:p>
          <a:p xmlns:a="http://schemas.openxmlformats.org/drawingml/2006/main">
            <a:r>
              <a:t/>
            </a:r>
          </a:p>
          <a:p xmlns:a="http://schemas.openxmlformats.org/drawingml/2006/main">
            <a:r>
              <a:t>[Sources]</a:t>
            </a:r>
          </a:p>
          <a:p xmlns:a="http://schemas.openxmlformats.org/drawingml/2006/main">
            <a:r>
              <a:t>- infra/docker-compose.yml</a:t>
            </a:r>
          </a:p>
          <a:p xmlns:a="http://schemas.openxmlformats.org/drawingml/2006/main">
            <a:r>
              <a:t>- src/backend/spark_dvf_analysis.py</a:t>
            </a:r>
          </a:p>
          <a:p xmlns:a="http://schemas.openxmlformats.org/drawingml/2006/main">
            <a:r>
              <a:t>- docs/preparation/ARCHITECTURE.md —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sert directement l’interface et reste adapté à un prototype local. Deux fichiers séparent l’analytique des écritures périodiques. MongoDB garde notamment le brut, les observations et le dernier état, avec des index uniques. Le contrat canonique français aligne SQLite, MongoDB, Streamlit et Metabase.</a:t>
            </a:r>
          </a:p>
          <a:p xmlns:a="http://schemas.openxmlformats.org/drawingml/2006/main">
            <a:r>
              <a:t/>
            </a:r>
          </a:p>
          <a:p xmlns:a="http://schemas.openxmlformats.org/drawingml/2006/main">
            <a:r>
              <a:t>[Sources]</a:t>
            </a:r>
          </a:p>
          <a:p xmlns:a="http://schemas.openxmlformats.org/drawingml/2006/main">
            <a:r>
              <a:t>- docs/DATA_CONTRACT.md</a:t>
            </a:r>
          </a:p>
          <a:p xmlns:a="http://schemas.openxmlformats.org/drawingml/2006/main">
            <a:r>
              <a:t>- src/app/db/sqlite_reader.py</a:t>
            </a:r>
          </a:p>
          <a:p xmlns:a="http://schemas.openxmlformats.org/drawingml/2006/main">
            <a:r>
              <a:t>- src/realtime_price/sqlite_store.py</a:t>
            </a:r>
          </a:p>
          <a:p xmlns:a="http://schemas.openxmlformats.org/drawingml/2006/main">
            <a:r>
              <a:t>- src/realtime_price/mongo_store.py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worker interroge une page HTML à intervalle régulier. Ce n’est pas un flux événementiel. Après validation, il met à jour SQLite puis MongoDB ; une panne entre les deux peut donc créer une divergence temporaire. La simulation sert uniquement à rendre une courbe visible en démonstration et reste en mémoire.</a:t>
            </a:r>
          </a:p>
          <a:p xmlns:a="http://schemas.openxmlformats.org/drawingml/2006/main">
            <a:r>
              <a:t/>
            </a:r>
          </a:p>
          <a:p xmlns:a="http://schemas.openxmlformats.org/drawingml/2006/main">
            <a:r>
              <a:t>[Sources]</a:t>
            </a:r>
          </a:p>
          <a:p xmlns:a="http://schemas.openxmlformats.org/drawingml/2006/main">
            <a:r>
              <a:t>- src/realtime_price/config.py</a:t>
            </a:r>
          </a:p>
          <a:p xmlns:a="http://schemas.openxmlformats.org/drawingml/2006/main">
            <a:r>
              <a:t>- src/realtime_price/worker.py</a:t>
            </a:r>
          </a:p>
          <a:p xmlns:a="http://schemas.openxmlformats.org/drawingml/2006/main">
            <a:r>
              <a:t>- src/app/pages/06_Temps_reel_prix.py</a:t>
            </a:r>
          </a:p>
          <a:p xmlns:a="http://schemas.openxmlformats.org/drawingml/2006/main">
            <a:r>
              <a:t>- docs/preparation/INTERVIEW_QUESTIONS.md — L2-Q18 et L3-Q07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Streamlit applique désormais les mêmes filtres à l’ensemble des vues. Cela évite qu’un KPI, une carte et un export racontent trois périmètres différents. L’application limite les requêtes et met en cache les résultats pour ne pas charger toute la table en mémoire.</a:t>
            </a:r>
          </a:p>
          <a:p xmlns:a="http://schemas.openxmlformats.org/drawingml/2006/main">
            <a:r>
              <a:t/>
            </a:r>
          </a:p>
          <a:p xmlns:a="http://schemas.openxmlformats.org/drawingml/2006/main">
            <a:r>
              <a:t>[Sources]</a:t>
            </a:r>
          </a:p>
          <a:p xmlns:a="http://schemas.openxmlformats.org/drawingml/2006/main">
            <a:r>
              <a:t>- src/app/streamlit_app.py</a:t>
            </a:r>
          </a:p>
          <a:p xmlns:a="http://schemas.openxmlformats.org/drawingml/2006/main">
            <a:r>
              <a:t>- docs/preparation/PROJECT_ANALYSIS.md — consolidation fonctionnelle du 22 août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trois chiffres résument l’exécution réelle : 1 884 593 transactions uniques, 94 départements et 13 régions, Corse incluse. L’agrégat régional réutilise la sortie départementale et ajoute cinq variables. Les corrélations décrivent des relations indépendantes ; elles ne s’additionnent pas et ne démontrent pas une causalité.</a:t>
            </a:r>
          </a:p>
          <a:p xmlns:a="http://schemas.openxmlformats.org/drawingml/2006/main">
            <a:r>
              <a:t/>
            </a:r>
          </a:p>
          <a:p xmlns:a="http://schemas.openxmlformats.org/drawingml/2006/main">
            <a:r>
              <a:t>[Sources]</a:t>
            </a:r>
          </a:p>
          <a:p xmlns:a="http://schemas.openxmlformats.org/drawingml/2006/main">
            <a:r>
              <a:t>- data/homepedia.db</a:t>
            </a:r>
          </a:p>
          <a:p xmlns:a="http://schemas.openxmlformats.org/drawingml/2006/main">
            <a:r>
              <a:t>- src/backend/aggregate_by_region.py</a:t>
            </a:r>
          </a:p>
          <a:p xmlns:a="http://schemas.openxmlformats.org/drawingml/2006/main">
            <a:r>
              <a:t>- src/app/streamlit_app.py</a:t>
            </a:r>
          </a:p>
          <a:p xmlns:a="http://schemas.openxmlformats.org/drawingml/2006/main">
            <a:r>
              <a:t>- docs/preparation/PROJECT_ANALYSIS.md — consolidation du 22 août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présente ces limites comme des choix de prototype et non comme des défauts cachés. SQLite est très efficace localement mais ne scale pas horizontalement. La double écriture peut diverger. Le HTML peut changer. Enfin, les conteneurs Spark restent sur une seule machine. Chaque limite a une réponse d’évolution proportionnée.</a:t>
            </a:r>
          </a:p>
          <a:p xmlns:a="http://schemas.openxmlformats.org/drawingml/2006/main">
            <a:r>
              <a:t/>
            </a:r>
          </a:p>
          <a:p xmlns:a="http://schemas.openxmlformats.org/drawingml/2006/main">
            <a:r>
              <a:t>[Sources]</a:t>
            </a:r>
          </a:p>
          <a:p xmlns:a="http://schemas.openxmlformats.org/drawingml/2006/main">
            <a:r>
              <a:t>- docs/preparation/ARCHITECTURE.md — sections 10 et 11</a:t>
            </a:r>
          </a:p>
          <a:p xmlns:a="http://schemas.openxmlformats.org/drawingml/2006/main">
            <a:r>
              <a:t>- docs/preparation/PROJECT_ANALYSIS.md — section 10</a:t>
            </a:r>
          </a:p>
          <a:p xmlns:a="http://schemas.openxmlformats.org/drawingml/2006/main">
            <a:r>
              <a:t>- docs/preparation/INTERVIEW_QUESTIONS.md — niveau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Homepedia prouve qu’un prototype local peut couvrir toute la chaîne : acquisition, qualité, calcul distribué, stockage et visualisation. Les résultats sont concrets, les limites sont assumées et les améliorations sont priorisées. Je termine en ouvrant sur les questions du jury.</a:t>
            </a:r>
          </a:p>
          <a:p xmlns:a="http://schemas.openxmlformats.org/drawingml/2006/main">
            <a:r>
              <a:t/>
            </a:r>
          </a:p>
          <a:p xmlns:a="http://schemas.openxmlformats.org/drawingml/2006/main">
            <a:r>
              <a:t>[Sources]</a:t>
            </a:r>
          </a:p>
          <a:p xmlns:a="http://schemas.openxmlformats.org/drawingml/2006/main">
            <a:r>
              <a:t>- docs/preparation/PROJECT_ANALYSIS.md — section 14</a:t>
            </a:r>
          </a:p>
          <a:p xmlns:a="http://schemas.openxmlformats.org/drawingml/2006/main">
            <a:r>
              <a:t>- docs/preparation/ARCHITECTURE.md — section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f66381d8bc44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701c114e0b4b6a" /><Relationship Type="http://schemas.openxmlformats.org/officeDocument/2006/relationships/slideLayout" Target="/ppt/slideLayouts/slideLayout1.xml" Id="R01f781de7b184c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f781de7b184c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736be98b0e459b" /><Relationship Type="http://schemas.openxmlformats.org/officeDocument/2006/relationships/notesSlide" Target="/ppt/notesSlides/notesSlide1.xml" Id="R43a56a82214c41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76164c930940b8" /><Relationship Type="http://schemas.openxmlformats.org/officeDocument/2006/relationships/notesSlide" Target="/ppt/notesSlides/notesSlide2.xml" Id="R15a991ea01c44c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0ea0611a58444a" /><Relationship Type="http://schemas.openxmlformats.org/officeDocument/2006/relationships/notesSlide" Target="/ppt/notesSlides/notesSlide3.xml" Id="Rfc4c5ffa4d6b4f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df1b1a8f4548ca" /><Relationship Type="http://schemas.openxmlformats.org/officeDocument/2006/relationships/notesSlide" Target="/ppt/notesSlides/notesSlide4.xml" Id="R1d93efcabcd745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fd48e459af4fdf" /><Relationship Type="http://schemas.openxmlformats.org/officeDocument/2006/relationships/notesSlide" Target="/ppt/notesSlides/notesSlide5.xml" Id="R0eeb8120a54647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abb626a0ec4274" /><Relationship Type="http://schemas.openxmlformats.org/officeDocument/2006/relationships/notesSlide" Target="/ppt/notesSlides/notesSlide6.xml" Id="Re7acc8ea50a64d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db593ee3c34727" /><Relationship Type="http://schemas.openxmlformats.org/officeDocument/2006/relationships/notesSlide" Target="/ppt/notesSlides/notesSlide7.xml" Id="R696adf364c944a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4fca4873e04027" /><Relationship Type="http://schemas.openxmlformats.org/officeDocument/2006/relationships/notesSlide" Target="/ppt/notesSlides/notesSlide8.xml" Id="Rc478c132799246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fd2d4b81704e70" /><Relationship Type="http://schemas.openxmlformats.org/officeDocument/2006/relationships/notesSlide" Target="/ppt/notesSlides/notesSlide9.xml" Id="R2da6d17b703a43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efe2ec44504e23" /><Relationship Type="http://schemas.openxmlformats.org/officeDocument/2006/relationships/notesSlide" Target="/ppt/notesSlides/notesSlide10.xml" Id="R6efb6351a9374d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79d93d798149a6" /><Relationship Type="http://schemas.openxmlformats.org/officeDocument/2006/relationships/notesSlide" Target="/ppt/notesSlides/notesSlide11.xml" Id="R08aebfbf56c743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183397f2f8348b3" /><Relationship Type="http://schemas.openxmlformats.org/officeDocument/2006/relationships/notesSlide" Target="/ppt/notesSlides/notesSlide12.xml" Id="R5f07b5eeb0064975" /></Relationships>
</file>

<file path=ppt/slides/slide1.xml><?xml version="1.0" encoding="utf-8"?>
<p:sld xmlns:p="http://schemas.openxmlformats.org/presentationml/2006/main">
  <p:cSld>
    <p:bg>
      <p:bgPr>
        <a:solidFill xmlns:a="http://schemas.openxmlformats.org/drawingml/2006/main">
          <a:srgbClr val="153D3A"/>
        </a:solidFill>
      </p:bgPr>
    </p:bg>
    <p:spTree>
      <p:nvGrpSpPr>
        <p:cNvPr id="1" name=""/>
        <p:cNvGrpSpPr/>
        <p:nvPr/>
      </p:nvGrpSpPr>
      <p:grpSpPr>
        <a:xfrm xmlns:a="http://schemas.openxmlformats.org/drawingml/2006/main"/>
      </p:grpSpPr>
      <p:sp>
        <p:nvSpPr>
          <p:cNvPr id="10" name="title-sand">
            <a:extLst xmlns:a="http://schemas.openxmlformats.org/drawingml/2006/main">
              <a:ext uri="{FF2B5EF4-FFF2-40B4-BE49-F238E27FC236}">
                <a16:creationId xmlns:a16="http://schemas.microsoft.com/office/drawing/2014/main" id="{49FF298B-4A0F-4E68-9F2A-4942BDFE02B2}"/>
              </a:ext>
            </a:extLst>
          </p:cNvPr>
          <p:cNvSpPr>
            <a:spLocks xmlns:a="http://schemas.openxmlformats.org/drawingml/2006/main" noGrp="1"/>
          </p:cNvSpPr>
          <p:nvPr/>
        </p:nvSpPr>
        <p:spPr>
          <a:xfrm xmlns:a="http://schemas.openxmlformats.org/drawingml/2006/main">
            <a:off x="7448550" y="0"/>
            <a:ext cx="4743450" cy="6858000"/>
          </a:xfrm>
          <a:prstGeom xmlns:a="http://schemas.openxmlformats.org/drawingml/2006/main" prst="rect">
            <a:avLst/>
          </a:prstGeom>
          <a:solidFill xmlns:a="http://schemas.openxmlformats.org/drawingml/2006/main">
            <a:srgbClr val="E8D9BF"/>
          </a:solidFill>
          <a:ln xmlns:a="http://schemas.openxmlformats.org/drawingml/2006/main" w="11430">
            <a:solidFill>
              <a:srgbClr val="E8D9BF"/>
            </a:solidFill>
            <a:prstDash val="solid"/>
          </a:ln>
        </p:spPr>
      </p:sp>
      <p:sp>
        <p:nvSpPr>
          <p:cNvPr id="2" name="title-green">
            <a:extLst xmlns:a="http://schemas.openxmlformats.org/drawingml/2006/main">
              <a:ext uri="{FF2B5EF4-FFF2-40B4-BE49-F238E27FC236}">
                <a16:creationId xmlns:a16="http://schemas.microsoft.com/office/drawing/2014/main" id="{BF4AD961-C602-4106-9CD8-C60710683A4F}"/>
              </a:ext>
            </a:extLst>
          </p:cNvPr>
          <p:cNvSpPr>
            <a:spLocks xmlns:a="http://schemas.openxmlformats.org/drawingml/2006/main" noGrp="1"/>
          </p:cNvSpPr>
          <p:nvPr/>
        </p:nvSpPr>
        <p:spPr>
          <a:xfrm xmlns:a="http://schemas.openxmlformats.org/drawingml/2006/main">
            <a:off x="8429625" y="990600"/>
            <a:ext cx="2381250" cy="3810000"/>
          </a:xfrm>
          <a:prstGeom xmlns:a="http://schemas.openxmlformats.org/drawingml/2006/main" prst="roundRect">
            <a:avLst>
              <a:gd name="adj" fmla="val 10400"/>
            </a:avLst>
          </a:prstGeom>
          <a:solidFill xmlns:a="http://schemas.openxmlformats.org/drawingml/2006/main">
            <a:srgbClr val="1F6F5F"/>
          </a:solidFill>
          <a:ln xmlns:a="http://schemas.openxmlformats.org/drawingml/2006/main" w="11430">
            <a:solidFill>
              <a:srgbClr val="1F6F5F"/>
            </a:solidFill>
            <a:prstDash val="solid"/>
          </a:ln>
        </p:spPr>
      </p:sp>
      <p:sp>
        <p:nvSpPr>
          <p:cNvPr id="3" name="title-window">
            <a:extLst xmlns:a="http://schemas.openxmlformats.org/drawingml/2006/main">
              <a:ext uri="{FF2B5EF4-FFF2-40B4-BE49-F238E27FC236}">
                <a16:creationId xmlns:a16="http://schemas.microsoft.com/office/drawing/2014/main" id="{5A96363C-566B-4BC9-A8CA-7BD1D8FE9891}"/>
              </a:ext>
            </a:extLst>
          </p:cNvPr>
          <p:cNvSpPr>
            <a:spLocks xmlns:a="http://schemas.openxmlformats.org/drawingml/2006/main" noGrp="1"/>
          </p:cNvSpPr>
          <p:nvPr/>
        </p:nvSpPr>
        <p:spPr>
          <a:xfrm xmlns:a="http://schemas.openxmlformats.org/drawingml/2006/main">
            <a:off x="8886825" y="1466850"/>
            <a:ext cx="1466850" cy="1238250"/>
          </a:xfrm>
          <a:prstGeom xmlns:a="http://schemas.openxmlformats.org/drawingml/2006/main" prst="roundRect">
            <a:avLst>
              <a:gd name="adj" fmla="val 12308"/>
            </a:avLst>
          </a:prstGeom>
          <a:solidFill xmlns:a="http://schemas.openxmlformats.org/drawingml/2006/main">
            <a:srgbClr val="F5F1E8"/>
          </a:solidFill>
          <a:ln xmlns:a="http://schemas.openxmlformats.org/drawingml/2006/main" w="11430">
            <a:solidFill>
              <a:srgbClr val="F5F1E8"/>
            </a:solidFill>
            <a:prstDash val="solid"/>
          </a:ln>
        </p:spPr>
      </p:sp>
      <p:sp>
        <p:nvSpPr>
          <p:cNvPr id="4" name="house-roof">
            <a:extLst xmlns:a="http://schemas.openxmlformats.org/drawingml/2006/main">
              <a:ext uri="{FF2B5EF4-FFF2-40B4-BE49-F238E27FC236}">
                <a16:creationId xmlns:a16="http://schemas.microsoft.com/office/drawing/2014/main" id="{675A73AB-ADDE-4CC2-AF21-6476AA2AC7A0}"/>
              </a:ext>
            </a:extLst>
          </p:cNvPr>
          <p:cNvSpPr>
            <a:spLocks xmlns:a="http://schemas.openxmlformats.org/drawingml/2006/main" noGrp="1"/>
          </p:cNvSpPr>
          <p:nvPr/>
        </p:nvSpPr>
        <p:spPr>
          <a:xfrm xmlns:a="http://schemas.openxmlformats.org/drawingml/2006/main">
            <a:off x="8620125" y="723900"/>
            <a:ext cx="2000250" cy="0"/>
          </a:xfrm>
          <a:prstGeom xmlns:a="http://schemas.openxmlformats.org/drawingml/2006/main" prst="line">
            <a:avLst/>
          </a:prstGeom>
          <a:noFill xmlns:a="http://schemas.openxmlformats.org/drawingml/2006/main"/>
          <a:ln xmlns:a="http://schemas.openxmlformats.org/drawingml/2006/main" w="47625">
            <a:solidFill>
              <a:srgbClr val="FFFFFF"/>
            </a:solidFill>
            <a:prstDash val="solid"/>
          </a:ln>
        </p:spPr>
      </p:sp>
      <p:sp>
        <p:nvSpPr>
          <p:cNvPr id="5" name="brand">
            <a:extLst xmlns:a="http://schemas.openxmlformats.org/drawingml/2006/main">
              <a:ext uri="{FF2B5EF4-FFF2-40B4-BE49-F238E27FC236}">
                <a16:creationId xmlns:a16="http://schemas.microsoft.com/office/drawing/2014/main" id="{2236F323-F5C2-4D8A-8AF3-FB11FEC05F52}"/>
              </a:ext>
            </a:extLst>
          </p:cNvPr>
          <p:cNvSpPr>
            <a:spLocks xmlns:a="http://schemas.openxmlformats.org/drawingml/2006/main" noGrp="1"/>
          </p:cNvSpPr>
          <p:nvPr/>
        </p:nvSpPr>
        <p:spPr>
          <a:xfrm xmlns:a="http://schemas.openxmlformats.org/drawingml/2006/main">
            <a:off x="609600" y="51435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CEDE7"/>
                </a:solidFill>
              </a:defRPr>
            </a:pPr>
            <a:r>
              <a:rPr sz="1125" b="1">
                <a:solidFill>
                  <a:srgbClr val="DCEDE7"/>
                </a:solidFill>
              </a:rPr>
              <a:t>HOMEPEDIA</a:t>
            </a:r>
          </a:p>
        </p:txBody>
      </p:sp>
      <p:sp>
        <p:nvSpPr>
          <p:cNvPr id="6" name="main-title">
            <a:extLst xmlns:a="http://schemas.openxmlformats.org/drawingml/2006/main">
              <a:ext uri="{FF2B5EF4-FFF2-40B4-BE49-F238E27FC236}">
                <a16:creationId xmlns:a16="http://schemas.microsoft.com/office/drawing/2014/main" id="{59F7A1F9-5598-4727-8D5D-FD6689D3F9D7}"/>
              </a:ext>
            </a:extLst>
          </p:cNvPr>
          <p:cNvSpPr>
            <a:spLocks xmlns:a="http://schemas.openxmlformats.org/drawingml/2006/main" noGrp="1"/>
          </p:cNvSpPr>
          <p:nvPr/>
        </p:nvSpPr>
        <p:spPr>
          <a:xfrm xmlns:a="http://schemas.openxmlformats.org/drawingml/2006/main">
            <a:off x="609600" y="1676400"/>
            <a:ext cx="619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Lire le marché immobilier français par la donnée</a:t>
            </a:r>
          </a:p>
        </p:txBody>
      </p:sp>
      <p:sp>
        <p:nvSpPr>
          <p:cNvPr id="7" name="subtitle">
            <a:extLst xmlns:a="http://schemas.openxmlformats.org/drawingml/2006/main">
              <a:ext uri="{FF2B5EF4-FFF2-40B4-BE49-F238E27FC236}">
                <a16:creationId xmlns:a16="http://schemas.microsoft.com/office/drawing/2014/main" id="{F0532FA2-0CBD-46C5-9390-BE4A0CFB661A}"/>
              </a:ext>
            </a:extLst>
          </p:cNvPr>
          <p:cNvSpPr>
            <a:spLocks xmlns:a="http://schemas.openxmlformats.org/drawingml/2006/main" noGrp="1"/>
          </p:cNvSpPr>
          <p:nvPr/>
        </p:nvSpPr>
        <p:spPr>
          <a:xfrm xmlns:a="http://schemas.openxmlformats.org/drawingml/2006/main">
            <a:off x="609600" y="37147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CEDE7"/>
                </a:solidFill>
              </a:defRPr>
            </a:pPr>
            <a:r>
              <a:rPr sz="1875" b="0">
                <a:solidFill>
                  <a:srgbClr val="DCEDE7"/>
                </a:solidFill>
              </a:rPr>
              <a:t>DVF + INSEE · pipeline local · analyses territoriales</a:t>
            </a:r>
          </a:p>
        </p:txBody>
      </p:sp>
      <p:sp>
        <p:nvSpPr>
          <p:cNvPr id="8" name="proof">
            <a:extLst xmlns:a="http://schemas.openxmlformats.org/drawingml/2006/main">
              <a:ext uri="{FF2B5EF4-FFF2-40B4-BE49-F238E27FC236}">
                <a16:creationId xmlns:a16="http://schemas.microsoft.com/office/drawing/2014/main" id="{50C1AFC2-95CF-46D9-9631-70FD1550BBE4}"/>
              </a:ext>
            </a:extLst>
          </p:cNvPr>
          <p:cNvSpPr>
            <a:spLocks xmlns:a="http://schemas.openxmlformats.org/drawingml/2006/main" noGrp="1"/>
          </p:cNvSpPr>
          <p:nvPr/>
        </p:nvSpPr>
        <p:spPr>
          <a:xfrm xmlns:a="http://schemas.openxmlformats.org/drawingml/2006/main">
            <a:off x="609600" y="53149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1 884 593 transactions uniques</a:t>
            </a:r>
          </a:p>
        </p:txBody>
      </p:sp>
      <p:sp>
        <p:nvSpPr>
          <p:cNvPr id="9" name="proof-caption">
            <a:extLst xmlns:a="http://schemas.openxmlformats.org/drawingml/2006/main">
              <a:ext uri="{FF2B5EF4-FFF2-40B4-BE49-F238E27FC236}">
                <a16:creationId xmlns:a16="http://schemas.microsoft.com/office/drawing/2014/main" id="{C8CF5CCD-8CF6-4CF6-AD73-CD980B9891F0}"/>
              </a:ext>
            </a:extLst>
          </p:cNvPr>
          <p:cNvSpPr>
            <a:spLocks xmlns:a="http://schemas.openxmlformats.org/drawingml/2006/main" noGrp="1"/>
          </p:cNvSpPr>
          <p:nvPr/>
        </p:nvSpPr>
        <p:spPr>
          <a:xfrm xmlns:a="http://schemas.openxmlformats.org/drawingml/2006/main">
            <a:off x="609600" y="58483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DCEDE7"/>
                </a:solidFill>
              </a:defRPr>
            </a:pPr>
            <a:r>
              <a:rPr sz="1275" b="0">
                <a:solidFill>
                  <a:srgbClr val="DCEDE7"/>
                </a:solidFill>
              </a:rPr>
              <a:t>Prototype analytique Homepedia — soutenance finale</a:t>
            </a:r>
          </a:p>
        </p:txBody>
      </p:sp>
    </p:spTree>
    <p:extLst>
      <p:ext uri="{BB962C8B-B14F-4D97-AF65-F5344CB8AC3E}">
        <p14:creationId xmlns:p14="http://schemas.microsoft.com/office/powerpoint/2010/main" val="1365976631"/>
      </p:ext>
    </p:extLst>
  </p:cSld>
</p:sld>
</file>

<file path=ppt/slides/slide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1" name="kicker-2">
            <a:extLst xmlns:a="http://schemas.openxmlformats.org/drawingml/2006/main">
              <a:ext uri="{FF2B5EF4-FFF2-40B4-BE49-F238E27FC236}">
                <a16:creationId xmlns:a16="http://schemas.microsoft.com/office/drawing/2014/main" id="{ABF7A371-F481-4AAC-9106-51AB791E5D2B}"/>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LE PROBLÈME</a:t>
            </a:r>
          </a:p>
        </p:txBody>
      </p:sp>
      <p:sp>
        <p:nvSpPr>
          <p:cNvPr id="2" name="title-2">
            <a:extLst xmlns:a="http://schemas.openxmlformats.org/drawingml/2006/main">
              <a:ext uri="{FF2B5EF4-FFF2-40B4-BE49-F238E27FC236}">
                <a16:creationId xmlns:a16="http://schemas.microsoft.com/office/drawing/2014/main" id="{11A74EF0-A45A-4CBE-ABC5-17F889001969}"/>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Des données publiques riches, mais difficiles à comparer</a:t>
            </a:r>
          </a:p>
        </p:txBody>
      </p:sp>
      <p:sp>
        <p:nvSpPr>
          <p:cNvPr id="3" name="rule-2">
            <a:extLst xmlns:a="http://schemas.openxmlformats.org/drawingml/2006/main">
              <a:ext uri="{FF2B5EF4-FFF2-40B4-BE49-F238E27FC236}">
                <a16:creationId xmlns:a16="http://schemas.microsoft.com/office/drawing/2014/main" id="{DA031427-BD17-4BA9-9CAB-B2256702C5AF}"/>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2">
            <a:extLst xmlns:a="http://schemas.openxmlformats.org/drawingml/2006/main">
              <a:ext uri="{FF2B5EF4-FFF2-40B4-BE49-F238E27FC236}">
                <a16:creationId xmlns:a16="http://schemas.microsoft.com/office/drawing/2014/main" id="{1B73D2C7-BCCF-4835-8A16-8B26C215694E}"/>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02</a:t>
            </a:r>
          </a:p>
        </p:txBody>
      </p:sp>
      <p:sp>
        <p:nvSpPr>
          <p:cNvPr id="5" name="problem-lead">
            <a:extLst xmlns:a="http://schemas.openxmlformats.org/drawingml/2006/main">
              <a:ext uri="{FF2B5EF4-FFF2-40B4-BE49-F238E27FC236}">
                <a16:creationId xmlns:a16="http://schemas.microsoft.com/office/drawing/2014/main" id="{5C052620-3F7F-4B34-AE5A-33E392FC4770}"/>
              </a:ext>
            </a:extLst>
          </p:cNvPr>
          <p:cNvSpPr>
            <a:spLocks xmlns:a="http://schemas.openxmlformats.org/drawingml/2006/main" noGrp="1"/>
          </p:cNvSpPr>
          <p:nvPr/>
        </p:nvSpPr>
        <p:spPr>
          <a:xfrm xmlns:a="http://schemas.openxmlformats.org/drawingml/2006/main">
            <a:off x="609600" y="1562100"/>
            <a:ext cx="619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02A2A"/>
                </a:solidFill>
              </a:defRPr>
            </a:pPr>
            <a:r>
              <a:rPr sz="2100" b="1">
                <a:solidFill>
                  <a:srgbClr val="102A2A"/>
                </a:solidFill>
              </a:rPr>
              <a:t>Une transaction brute ne répond pas seule à une question territoriale.</a:t>
            </a:r>
          </a:p>
        </p:txBody>
      </p:sp>
      <p:sp>
        <p:nvSpPr>
          <p:cNvPr id="6" name="step-num-0">
            <a:extLst xmlns:a="http://schemas.openxmlformats.org/drawingml/2006/main">
              <a:ext uri="{FF2B5EF4-FFF2-40B4-BE49-F238E27FC236}">
                <a16:creationId xmlns:a16="http://schemas.microsoft.com/office/drawing/2014/main" id="{52F1D00B-D2CC-4809-9BFA-9B8DD63BA7ED}"/>
              </a:ext>
            </a:extLst>
          </p:cNvPr>
          <p:cNvSpPr>
            <a:spLocks xmlns:a="http://schemas.openxmlformats.org/drawingml/2006/main" noGrp="1"/>
          </p:cNvSpPr>
          <p:nvPr/>
        </p:nvSpPr>
        <p:spPr>
          <a:xfrm xmlns:a="http://schemas.openxmlformats.org/drawingml/2006/main">
            <a:off x="647700" y="25527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01</a:t>
            </a:r>
          </a:p>
        </p:txBody>
      </p:sp>
      <p:sp>
        <p:nvSpPr>
          <p:cNvPr id="7" name="step-h-0">
            <a:extLst xmlns:a="http://schemas.openxmlformats.org/drawingml/2006/main">
              <a:ext uri="{FF2B5EF4-FFF2-40B4-BE49-F238E27FC236}">
                <a16:creationId xmlns:a16="http://schemas.microsoft.com/office/drawing/2014/main" id="{B2936470-09D4-49A9-893F-E77E4BB7DE9E}"/>
              </a:ext>
            </a:extLst>
          </p:cNvPr>
          <p:cNvSpPr>
            <a:spLocks xmlns:a="http://schemas.openxmlformats.org/drawingml/2006/main" noGrp="1"/>
          </p:cNvSpPr>
          <p:nvPr/>
        </p:nvSpPr>
        <p:spPr>
          <a:xfrm xmlns:a="http://schemas.openxmlformats.org/drawingml/2006/main">
            <a:off x="1381125" y="2514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Explorer</a:t>
            </a:r>
          </a:p>
        </p:txBody>
      </p:sp>
      <p:sp>
        <p:nvSpPr>
          <p:cNvPr id="8" name="step-b-0">
            <a:extLst xmlns:a="http://schemas.openxmlformats.org/drawingml/2006/main">
              <a:ext uri="{FF2B5EF4-FFF2-40B4-BE49-F238E27FC236}">
                <a16:creationId xmlns:a16="http://schemas.microsoft.com/office/drawing/2014/main" id="{5230AF9B-059F-4646-92E9-C7203D1FE675}"/>
              </a:ext>
            </a:extLst>
          </p:cNvPr>
          <p:cNvSpPr>
            <a:spLocks xmlns:a="http://schemas.openxmlformats.org/drawingml/2006/main" noGrp="1"/>
          </p:cNvSpPr>
          <p:nvPr/>
        </p:nvSpPr>
        <p:spPr>
          <a:xfrm xmlns:a="http://schemas.openxmlformats.org/drawingml/2006/main">
            <a:off x="3381375" y="2533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prix, types de biens, périodes et territoires</a:t>
            </a:r>
          </a:p>
        </p:txBody>
      </p:sp>
      <p:sp>
        <p:nvSpPr>
          <p:cNvPr id="9" name="step-line-0">
            <a:extLst xmlns:a="http://schemas.openxmlformats.org/drawingml/2006/main">
              <a:ext uri="{FF2B5EF4-FFF2-40B4-BE49-F238E27FC236}">
                <a16:creationId xmlns:a16="http://schemas.microsoft.com/office/drawing/2014/main" id="{E0572517-BE25-483B-B8B5-03C1CC9F2130}"/>
              </a:ext>
            </a:extLst>
          </p:cNvPr>
          <p:cNvSpPr>
            <a:spLocks xmlns:a="http://schemas.openxmlformats.org/drawingml/2006/main" noGrp="1"/>
          </p:cNvSpPr>
          <p:nvPr/>
        </p:nvSpPr>
        <p:spPr>
          <a:xfrm xmlns:a="http://schemas.openxmlformats.org/drawingml/2006/main">
            <a:off x="1381125" y="3105150"/>
            <a:ext cx="561975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10" name="step-num-1">
            <a:extLst xmlns:a="http://schemas.openxmlformats.org/drawingml/2006/main">
              <a:ext uri="{FF2B5EF4-FFF2-40B4-BE49-F238E27FC236}">
                <a16:creationId xmlns:a16="http://schemas.microsoft.com/office/drawing/2014/main" id="{221BBC72-7533-46BE-87E7-B38D668C7B35}"/>
              </a:ext>
            </a:extLst>
          </p:cNvPr>
          <p:cNvSpPr>
            <a:spLocks xmlns:a="http://schemas.openxmlformats.org/drawingml/2006/main" noGrp="1"/>
          </p:cNvSpPr>
          <p:nvPr/>
        </p:nvSpPr>
        <p:spPr>
          <a:xfrm xmlns:a="http://schemas.openxmlformats.org/drawingml/2006/main">
            <a:off x="647700" y="36576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02</a:t>
            </a:r>
          </a:p>
        </p:txBody>
      </p:sp>
      <p:sp>
        <p:nvSpPr>
          <p:cNvPr id="11" name="step-h-1">
            <a:extLst xmlns:a="http://schemas.openxmlformats.org/drawingml/2006/main">
              <a:ext uri="{FF2B5EF4-FFF2-40B4-BE49-F238E27FC236}">
                <a16:creationId xmlns:a16="http://schemas.microsoft.com/office/drawing/2014/main" id="{9D6DC360-16A9-4ED2-95FD-5BAFF84F3869}"/>
              </a:ext>
            </a:extLst>
          </p:cNvPr>
          <p:cNvSpPr>
            <a:spLocks xmlns:a="http://schemas.openxmlformats.org/drawingml/2006/main" noGrp="1"/>
          </p:cNvSpPr>
          <p:nvPr/>
        </p:nvSpPr>
        <p:spPr>
          <a:xfrm xmlns:a="http://schemas.openxmlformats.org/drawingml/2006/main">
            <a:off x="1381125" y="36195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Comparer</a:t>
            </a:r>
          </a:p>
        </p:txBody>
      </p:sp>
      <p:sp>
        <p:nvSpPr>
          <p:cNvPr id="12" name="step-b-1">
            <a:extLst xmlns:a="http://schemas.openxmlformats.org/drawingml/2006/main">
              <a:ext uri="{FF2B5EF4-FFF2-40B4-BE49-F238E27FC236}">
                <a16:creationId xmlns:a16="http://schemas.microsoft.com/office/drawing/2014/main" id="{061BD95B-B3F3-482B-96D9-7C5E63F256DF}"/>
              </a:ext>
            </a:extLst>
          </p:cNvPr>
          <p:cNvSpPr>
            <a:spLocks xmlns:a="http://schemas.openxmlformats.org/drawingml/2006/main" noGrp="1"/>
          </p:cNvSpPr>
          <p:nvPr/>
        </p:nvSpPr>
        <p:spPr>
          <a:xfrm xmlns:a="http://schemas.openxmlformats.org/drawingml/2006/main">
            <a:off x="3381375" y="36385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départements et régions avec un même périmètre</a:t>
            </a:r>
          </a:p>
        </p:txBody>
      </p:sp>
      <p:sp>
        <p:nvSpPr>
          <p:cNvPr id="13" name="step-line-1">
            <a:extLst xmlns:a="http://schemas.openxmlformats.org/drawingml/2006/main">
              <a:ext uri="{FF2B5EF4-FFF2-40B4-BE49-F238E27FC236}">
                <a16:creationId xmlns:a16="http://schemas.microsoft.com/office/drawing/2014/main" id="{E892188A-8BC1-4828-A695-5B108521C473}"/>
              </a:ext>
            </a:extLst>
          </p:cNvPr>
          <p:cNvSpPr>
            <a:spLocks xmlns:a="http://schemas.openxmlformats.org/drawingml/2006/main" noGrp="1"/>
          </p:cNvSpPr>
          <p:nvPr/>
        </p:nvSpPr>
        <p:spPr>
          <a:xfrm xmlns:a="http://schemas.openxmlformats.org/drawingml/2006/main">
            <a:off x="1381125" y="4210050"/>
            <a:ext cx="561975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14" name="step-num-2">
            <a:extLst xmlns:a="http://schemas.openxmlformats.org/drawingml/2006/main">
              <a:ext uri="{FF2B5EF4-FFF2-40B4-BE49-F238E27FC236}">
                <a16:creationId xmlns:a16="http://schemas.microsoft.com/office/drawing/2014/main" id="{F5B894C5-2865-42CF-8EC5-817F891A284C}"/>
              </a:ext>
            </a:extLst>
          </p:cNvPr>
          <p:cNvSpPr>
            <a:spLocks xmlns:a="http://schemas.openxmlformats.org/drawingml/2006/main" noGrp="1"/>
          </p:cNvSpPr>
          <p:nvPr/>
        </p:nvSpPr>
        <p:spPr>
          <a:xfrm xmlns:a="http://schemas.openxmlformats.org/drawingml/2006/main">
            <a:off x="647700" y="47625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03</a:t>
            </a:r>
          </a:p>
        </p:txBody>
      </p:sp>
      <p:sp>
        <p:nvSpPr>
          <p:cNvPr id="15" name="step-h-2">
            <a:extLst xmlns:a="http://schemas.openxmlformats.org/drawingml/2006/main">
              <a:ext uri="{FF2B5EF4-FFF2-40B4-BE49-F238E27FC236}">
                <a16:creationId xmlns:a16="http://schemas.microsoft.com/office/drawing/2014/main" id="{1A2A9EC9-3926-4195-953A-461551F603A8}"/>
              </a:ext>
            </a:extLst>
          </p:cNvPr>
          <p:cNvSpPr>
            <a:spLocks xmlns:a="http://schemas.openxmlformats.org/drawingml/2006/main" noGrp="1"/>
          </p:cNvSpPr>
          <p:nvPr/>
        </p:nvSpPr>
        <p:spPr>
          <a:xfrm xmlns:a="http://schemas.openxmlformats.org/drawingml/2006/main">
            <a:off x="1381125" y="4724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Contextualiser</a:t>
            </a:r>
          </a:p>
        </p:txBody>
      </p:sp>
      <p:sp>
        <p:nvSpPr>
          <p:cNvPr id="16" name="step-b-2">
            <a:extLst xmlns:a="http://schemas.openxmlformats.org/drawingml/2006/main">
              <a:ext uri="{FF2B5EF4-FFF2-40B4-BE49-F238E27FC236}">
                <a16:creationId xmlns:a16="http://schemas.microsoft.com/office/drawing/2014/main" id="{006FCB7F-C186-49CB-B7C6-3E94552DB323}"/>
              </a:ext>
            </a:extLst>
          </p:cNvPr>
          <p:cNvSpPr>
            <a:spLocks xmlns:a="http://schemas.openxmlformats.org/drawingml/2006/main" noGrp="1"/>
          </p:cNvSpPr>
          <p:nvPr/>
        </p:nvSpPr>
        <p:spPr>
          <a:xfrm xmlns:a="http://schemas.openxmlformats.org/drawingml/2006/main">
            <a:off x="3381375" y="47434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population, revenu, chômage et pauvreté</a:t>
            </a:r>
          </a:p>
        </p:txBody>
      </p:sp>
      <p:sp>
        <p:nvSpPr>
          <p:cNvPr id="17" name="audience-panel">
            <a:extLst xmlns:a="http://schemas.openxmlformats.org/drawingml/2006/main">
              <a:ext uri="{FF2B5EF4-FFF2-40B4-BE49-F238E27FC236}">
                <a16:creationId xmlns:a16="http://schemas.microsoft.com/office/drawing/2014/main" id="{2A41B35F-B2C6-4E3B-AAB7-F081CE1ACCFD}"/>
              </a:ext>
            </a:extLst>
          </p:cNvPr>
          <p:cNvSpPr>
            <a:spLocks xmlns:a="http://schemas.openxmlformats.org/drawingml/2006/main" noGrp="1"/>
          </p:cNvSpPr>
          <p:nvPr/>
        </p:nvSpPr>
        <p:spPr>
          <a:xfrm xmlns:a="http://schemas.openxmlformats.org/drawingml/2006/main">
            <a:off x="8096250" y="1676400"/>
            <a:ext cx="3143250" cy="3771900"/>
          </a:xfrm>
          <a:prstGeom xmlns:a="http://schemas.openxmlformats.org/drawingml/2006/main" prst="roundRect">
            <a:avLst>
              <a:gd name="adj" fmla="val 7273"/>
            </a:avLst>
          </a:prstGeom>
          <a:solidFill xmlns:a="http://schemas.openxmlformats.org/drawingml/2006/main">
            <a:srgbClr val="153D3A"/>
          </a:solidFill>
          <a:ln xmlns:a="http://schemas.openxmlformats.org/drawingml/2006/main" w="11430">
            <a:solidFill>
              <a:srgbClr val="153D3A"/>
            </a:solidFill>
            <a:prstDash val="solid"/>
          </a:ln>
        </p:spPr>
      </p:sp>
      <p:sp>
        <p:nvSpPr>
          <p:cNvPr id="18" name="audience-title">
            <a:extLst xmlns:a="http://schemas.openxmlformats.org/drawingml/2006/main">
              <a:ext uri="{FF2B5EF4-FFF2-40B4-BE49-F238E27FC236}">
                <a16:creationId xmlns:a16="http://schemas.microsoft.com/office/drawing/2014/main" id="{F55A7633-0536-41CC-86EC-E706E7AA4E6F}"/>
              </a:ext>
            </a:extLst>
          </p:cNvPr>
          <p:cNvSpPr>
            <a:spLocks xmlns:a="http://schemas.openxmlformats.org/drawingml/2006/main" noGrp="1"/>
          </p:cNvSpPr>
          <p:nvPr/>
        </p:nvSpPr>
        <p:spPr>
          <a:xfrm xmlns:a="http://schemas.openxmlformats.org/drawingml/2006/main">
            <a:off x="8477250" y="20574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Pour qui ?</a:t>
            </a:r>
          </a:p>
        </p:txBody>
      </p:sp>
      <p:sp>
        <p:nvSpPr>
          <p:cNvPr id="19" name="audience-copy">
            <a:extLst xmlns:a="http://schemas.openxmlformats.org/drawingml/2006/main">
              <a:ext uri="{FF2B5EF4-FFF2-40B4-BE49-F238E27FC236}">
                <a16:creationId xmlns:a16="http://schemas.microsoft.com/office/drawing/2014/main" id="{FBB203A6-FFF2-4372-BF32-9B2A0B035913}"/>
              </a:ext>
            </a:extLst>
          </p:cNvPr>
          <p:cNvSpPr>
            <a:spLocks xmlns:a="http://schemas.openxmlformats.org/drawingml/2006/main" noGrp="1"/>
          </p:cNvSpPr>
          <p:nvPr/>
        </p:nvSpPr>
        <p:spPr>
          <a:xfrm xmlns:a="http://schemas.openxmlformats.org/drawingml/2006/main">
            <a:off x="8477250" y="27241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DCEDE7"/>
                </a:solidFill>
              </a:defRPr>
            </a:pPr>
            <a:r>
              <a:rPr sz="1800" b="0">
                <a:solidFill>
                  <a:srgbClr val="DCEDE7"/>
                </a:solidFill>
              </a:rPr>
              <a:t>Analyste</a:t>
            </a:r>
          </a:p>
          <a:p xmlns:a="http://schemas.openxmlformats.org/drawingml/2006/main">
            <a:pPr algn="l">
              <a:defRPr sz="1800" b="0">
                <a:solidFill>
                  <a:srgbClr val="DCEDE7"/>
                </a:solidFill>
              </a:defRPr>
            </a:pPr>
            <a:r>
              <a:rPr sz="1800" b="0">
                <a:solidFill>
                  <a:srgbClr val="DCEDE7"/>
                </a:solidFill>
              </a:rPr>
              <a:t>Étudiant</a:t>
            </a:r>
          </a:p>
          <a:p xmlns:a="http://schemas.openxmlformats.org/drawingml/2006/main">
            <a:pPr algn="l">
              <a:defRPr sz="1800" b="0">
                <a:solidFill>
                  <a:srgbClr val="DCEDE7"/>
                </a:solidFill>
              </a:defRPr>
            </a:pPr>
            <a:r>
              <a:rPr sz="1800" b="0">
                <a:solidFill>
                  <a:srgbClr val="DCEDE7"/>
                </a:solidFill>
              </a:rPr>
              <a:t>Jury technique</a:t>
            </a:r>
          </a:p>
          <a:p xmlns:a="http://schemas.openxmlformats.org/drawingml/2006/main">
            <a:pPr algn="l">
              <a:defRPr sz="1800" b="0">
                <a:solidFill>
                  <a:srgbClr val="DCEDE7"/>
                </a:solidFill>
              </a:defRPr>
            </a:pPr>
            <a:r>
              <a:rPr sz="1800" b="0">
                <a:solidFill>
                  <a:srgbClr val="DCEDE7"/>
                </a:solidFill>
              </a:rPr>
              <a:t>Utilisateur métier</a:t>
            </a:r>
          </a:p>
        </p:txBody>
      </p:sp>
      <p:sp>
        <p:nvSpPr>
          <p:cNvPr id="20" name="audience-bottom">
            <a:extLst xmlns:a="http://schemas.openxmlformats.org/drawingml/2006/main">
              <a:ext uri="{FF2B5EF4-FFF2-40B4-BE49-F238E27FC236}">
                <a16:creationId xmlns:a16="http://schemas.microsoft.com/office/drawing/2014/main" id="{61A11E7B-8CE1-4DBF-9C52-A085CECC1404}"/>
              </a:ext>
            </a:extLst>
          </p:cNvPr>
          <p:cNvSpPr>
            <a:spLocks xmlns:a="http://schemas.openxmlformats.org/drawingml/2006/main" noGrp="1"/>
          </p:cNvSpPr>
          <p:nvPr/>
        </p:nvSpPr>
        <p:spPr>
          <a:xfrm xmlns:a="http://schemas.openxmlformats.org/drawingml/2006/main">
            <a:off x="8477250" y="48387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Objectif : comprendre, pas gérer des biens.</a:t>
            </a:r>
          </a:p>
        </p:txBody>
      </p:sp>
    </p:spTree>
    <p:extLst>
      <p:ext uri="{BB962C8B-B14F-4D97-AF65-F5344CB8AC3E}">
        <p14:creationId xmlns:p14="http://schemas.microsoft.com/office/powerpoint/2010/main" val="957690646"/>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0" name="kicker-3">
            <a:extLst xmlns:a="http://schemas.openxmlformats.org/drawingml/2006/main">
              <a:ext uri="{FF2B5EF4-FFF2-40B4-BE49-F238E27FC236}">
                <a16:creationId xmlns:a16="http://schemas.microsoft.com/office/drawing/2014/main" id="{E7C54A27-EF15-4FC6-B4C6-F65BF1BC2D0D}"/>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LES SOURCES</a:t>
            </a:r>
          </a:p>
        </p:txBody>
      </p:sp>
      <p:sp>
        <p:nvSpPr>
          <p:cNvPr id="2" name="title-3">
            <a:extLst xmlns:a="http://schemas.openxmlformats.org/drawingml/2006/main">
              <a:ext uri="{FF2B5EF4-FFF2-40B4-BE49-F238E27FC236}">
                <a16:creationId xmlns:a16="http://schemas.microsoft.com/office/drawing/2014/main" id="{C49ADAEC-637B-4284-A723-6F056F097ECE}"/>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Deux familles INSEE, deux rythmes de données</a:t>
            </a:r>
          </a:p>
        </p:txBody>
      </p:sp>
      <p:sp>
        <p:nvSpPr>
          <p:cNvPr id="3" name="rule-3">
            <a:extLst xmlns:a="http://schemas.openxmlformats.org/drawingml/2006/main">
              <a:ext uri="{FF2B5EF4-FFF2-40B4-BE49-F238E27FC236}">
                <a16:creationId xmlns:a16="http://schemas.microsoft.com/office/drawing/2014/main" id="{A9D0ACF2-D1A2-460E-A59E-C26B56DE4982}"/>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3">
            <a:extLst xmlns:a="http://schemas.openxmlformats.org/drawingml/2006/main">
              <a:ext uri="{FF2B5EF4-FFF2-40B4-BE49-F238E27FC236}">
                <a16:creationId xmlns:a16="http://schemas.microsoft.com/office/drawing/2014/main" id="{963069A3-8A69-403E-83BC-BEC8339F7939}"/>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03</a:t>
            </a:r>
          </a:p>
        </p:txBody>
      </p:sp>
      <p:sp>
        <p:nvSpPr>
          <p:cNvPr id="5" name="dvf-band">
            <a:extLst xmlns:a="http://schemas.openxmlformats.org/drawingml/2006/main">
              <a:ext uri="{FF2B5EF4-FFF2-40B4-BE49-F238E27FC236}">
                <a16:creationId xmlns:a16="http://schemas.microsoft.com/office/drawing/2014/main" id="{DEF624B6-8C62-40AD-A214-8B2FD9A7F945}"/>
              </a:ext>
            </a:extLst>
          </p:cNvPr>
          <p:cNvSpPr>
            <a:spLocks xmlns:a="http://schemas.openxmlformats.org/drawingml/2006/main" noGrp="1"/>
          </p:cNvSpPr>
          <p:nvPr/>
        </p:nvSpPr>
        <p:spPr>
          <a:xfrm xmlns:a="http://schemas.openxmlformats.org/drawingml/2006/main">
            <a:off x="609600" y="1676400"/>
            <a:ext cx="3333750" cy="3848100"/>
          </a:xfrm>
          <a:prstGeom xmlns:a="http://schemas.openxmlformats.org/drawingml/2006/main" prst="roundRect">
            <a:avLst>
              <a:gd name="adj" fmla="val 6286"/>
            </a:avLst>
          </a:prstGeom>
          <a:solidFill xmlns:a="http://schemas.openxmlformats.org/drawingml/2006/main">
            <a:srgbClr val="FFFFFF"/>
          </a:solidFill>
          <a:ln xmlns:a="http://schemas.openxmlformats.org/drawingml/2006/main" w="11430">
            <a:solidFill>
              <a:srgbClr val="C8D5D1"/>
            </a:solidFill>
            <a:prstDash val="solid"/>
          </a:ln>
        </p:spPr>
      </p:sp>
      <p:sp>
        <p:nvSpPr>
          <p:cNvPr id="6" name="dvf-name">
            <a:extLst xmlns:a="http://schemas.openxmlformats.org/drawingml/2006/main">
              <a:ext uri="{FF2B5EF4-FFF2-40B4-BE49-F238E27FC236}">
                <a16:creationId xmlns:a16="http://schemas.microsoft.com/office/drawing/2014/main" id="{09E69C16-F023-4B1B-9898-B825FB8F86D2}"/>
              </a:ext>
            </a:extLst>
          </p:cNvPr>
          <p:cNvSpPr>
            <a:spLocks xmlns:a="http://schemas.openxmlformats.org/drawingml/2006/main" noGrp="1"/>
          </p:cNvSpPr>
          <p:nvPr/>
        </p:nvSpPr>
        <p:spPr>
          <a:xfrm xmlns:a="http://schemas.openxmlformats.org/drawingml/2006/main">
            <a:off x="895350" y="200025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02A2A"/>
                </a:solidFill>
              </a:defRPr>
            </a:pPr>
            <a:r>
              <a:rPr sz="2175" b="1">
                <a:solidFill>
                  <a:srgbClr val="102A2A"/>
                </a:solidFill>
              </a:rPr>
              <a:t>DVF 2024</a:t>
            </a:r>
          </a:p>
        </p:txBody>
      </p:sp>
      <p:sp>
        <p:nvSpPr>
          <p:cNvPr id="7" name="dvf-type">
            <a:extLst xmlns:a="http://schemas.openxmlformats.org/drawingml/2006/main">
              <a:ext uri="{FF2B5EF4-FFF2-40B4-BE49-F238E27FC236}">
                <a16:creationId xmlns:a16="http://schemas.microsoft.com/office/drawing/2014/main" id="{659EC297-EF8B-4840-B03F-AAA0DB30491F}"/>
              </a:ext>
            </a:extLst>
          </p:cNvPr>
          <p:cNvSpPr>
            <a:spLocks xmlns:a="http://schemas.openxmlformats.org/drawingml/2006/main" noGrp="1"/>
          </p:cNvSpPr>
          <p:nvPr/>
        </p:nvSpPr>
        <p:spPr>
          <a:xfrm xmlns:a="http://schemas.openxmlformats.org/drawingml/2006/main">
            <a:off x="895350" y="25336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F6F5F"/>
                </a:solidFill>
              </a:defRPr>
            </a:pPr>
            <a:r>
              <a:rPr sz="1425" b="1">
                <a:solidFill>
                  <a:srgbClr val="1F6F5F"/>
                </a:solidFill>
              </a:rPr>
              <a:t>Transactions immobilières</a:t>
            </a:r>
          </a:p>
        </p:txBody>
      </p:sp>
      <p:sp>
        <p:nvSpPr>
          <p:cNvPr id="8" name="dvf-body">
            <a:extLst xmlns:a="http://schemas.openxmlformats.org/drawingml/2006/main">
              <a:ext uri="{FF2B5EF4-FFF2-40B4-BE49-F238E27FC236}">
                <a16:creationId xmlns:a16="http://schemas.microsoft.com/office/drawing/2014/main" id="{5EC6DC2D-4B03-4F8B-AC16-5F3F37016770}"/>
              </a:ext>
            </a:extLst>
          </p:cNvPr>
          <p:cNvSpPr>
            <a:spLocks xmlns:a="http://schemas.openxmlformats.org/drawingml/2006/main" noGrp="1"/>
          </p:cNvSpPr>
          <p:nvPr/>
        </p:nvSpPr>
        <p:spPr>
          <a:xfrm xmlns:a="http://schemas.openxmlformats.org/drawingml/2006/main">
            <a:off x="895350" y="3143250"/>
            <a:ext cx="2571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2706D"/>
                </a:solidFill>
              </a:defRPr>
            </a:pPr>
            <a:r>
              <a:rPr sz="1500" b="0">
                <a:solidFill>
                  <a:srgbClr val="62706D"/>
                </a:solidFill>
              </a:rPr>
              <a:t>Valeur foncière</a:t>
            </a:r>
          </a:p>
          <a:p xmlns:a="http://schemas.openxmlformats.org/drawingml/2006/main">
            <a:pPr algn="l">
              <a:defRPr sz="1500" b="0">
                <a:solidFill>
                  <a:srgbClr val="62706D"/>
                </a:solidFill>
              </a:defRPr>
            </a:pPr>
            <a:r>
              <a:rPr sz="1500" b="0">
                <a:solidFill>
                  <a:srgbClr val="62706D"/>
                </a:solidFill>
              </a:rPr>
              <a:t>Surface bâtie</a:t>
            </a:r>
          </a:p>
          <a:p xmlns:a="http://schemas.openxmlformats.org/drawingml/2006/main">
            <a:pPr algn="l">
              <a:defRPr sz="1500" b="0">
                <a:solidFill>
                  <a:srgbClr val="62706D"/>
                </a:solidFill>
              </a:defRPr>
            </a:pPr>
            <a:r>
              <a:rPr sz="1500" b="0">
                <a:solidFill>
                  <a:srgbClr val="62706D"/>
                </a:solidFill>
              </a:rPr>
              <a:t>Type de local</a:t>
            </a:r>
          </a:p>
          <a:p xmlns:a="http://schemas.openxmlformats.org/drawingml/2006/main">
            <a:pPr algn="l">
              <a:defRPr sz="1500" b="0">
                <a:solidFill>
                  <a:srgbClr val="62706D"/>
                </a:solidFill>
              </a:defRPr>
            </a:pPr>
            <a:r>
              <a:rPr sz="1500" b="0">
                <a:solidFill>
                  <a:srgbClr val="62706D"/>
                </a:solidFill>
              </a:rPr>
              <a:t>Commune + code postal</a:t>
            </a:r>
          </a:p>
        </p:txBody>
      </p:sp>
      <p:sp>
        <p:nvSpPr>
          <p:cNvPr id="9" name="dvf-grain">
            <a:extLst xmlns:a="http://schemas.openxmlformats.org/drawingml/2006/main">
              <a:ext uri="{FF2B5EF4-FFF2-40B4-BE49-F238E27FC236}">
                <a16:creationId xmlns:a16="http://schemas.microsoft.com/office/drawing/2014/main" id="{68B81A5F-4976-4EB3-B46A-D38985982261}"/>
              </a:ext>
            </a:extLst>
          </p:cNvPr>
          <p:cNvSpPr>
            <a:spLocks xmlns:a="http://schemas.openxmlformats.org/drawingml/2006/main" noGrp="1"/>
          </p:cNvSpPr>
          <p:nvPr/>
        </p:nvSpPr>
        <p:spPr>
          <a:xfrm xmlns:a="http://schemas.openxmlformats.org/drawingml/2006/main">
            <a:off x="895350" y="50101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6B4D"/>
                </a:solidFill>
              </a:defRPr>
            </a:pPr>
            <a:r>
              <a:rPr sz="1275" b="1">
                <a:solidFill>
                  <a:srgbClr val="D66B4D"/>
                </a:solidFill>
              </a:rPr>
              <a:t>Grain : transaction</a:t>
            </a:r>
          </a:p>
        </p:txBody>
      </p:sp>
      <p:sp>
        <p:nvSpPr>
          <p:cNvPr id="10" name="insee-files">
            <a:extLst xmlns:a="http://schemas.openxmlformats.org/drawingml/2006/main">
              <a:ext uri="{FF2B5EF4-FFF2-40B4-BE49-F238E27FC236}">
                <a16:creationId xmlns:a16="http://schemas.microsoft.com/office/drawing/2014/main" id="{C3459890-FB92-42F3-84EB-E1836C8107E7}"/>
              </a:ext>
            </a:extLst>
          </p:cNvPr>
          <p:cNvSpPr>
            <a:spLocks xmlns:a="http://schemas.openxmlformats.org/drawingml/2006/main" noGrp="1"/>
          </p:cNvSpPr>
          <p:nvPr/>
        </p:nvSpPr>
        <p:spPr>
          <a:xfrm xmlns:a="http://schemas.openxmlformats.org/drawingml/2006/main">
            <a:off x="4238625" y="1676400"/>
            <a:ext cx="3333750" cy="3848100"/>
          </a:xfrm>
          <a:prstGeom xmlns:a="http://schemas.openxmlformats.org/drawingml/2006/main" prst="roundRect">
            <a:avLst>
              <a:gd name="adj" fmla="val 6286"/>
            </a:avLst>
          </a:prstGeom>
          <a:solidFill xmlns:a="http://schemas.openxmlformats.org/drawingml/2006/main">
            <a:srgbClr val="FFFFFF"/>
          </a:solidFill>
          <a:ln xmlns:a="http://schemas.openxmlformats.org/drawingml/2006/main" w="11430">
            <a:solidFill>
              <a:srgbClr val="C8D5D1"/>
            </a:solidFill>
            <a:prstDash val="solid"/>
          </a:ln>
        </p:spPr>
      </p:sp>
      <p:sp>
        <p:nvSpPr>
          <p:cNvPr id="11" name="insee-files-name">
            <a:extLst xmlns:a="http://schemas.openxmlformats.org/drawingml/2006/main">
              <a:ext uri="{FF2B5EF4-FFF2-40B4-BE49-F238E27FC236}">
                <a16:creationId xmlns:a16="http://schemas.microsoft.com/office/drawing/2014/main" id="{545BFCFF-4A42-4D3E-BFE8-037E0CEE14C2}"/>
              </a:ext>
            </a:extLst>
          </p:cNvPr>
          <p:cNvSpPr>
            <a:spLocks xmlns:a="http://schemas.openxmlformats.org/drawingml/2006/main" noGrp="1"/>
          </p:cNvSpPr>
          <p:nvPr/>
        </p:nvSpPr>
        <p:spPr>
          <a:xfrm xmlns:a="http://schemas.openxmlformats.org/drawingml/2006/main">
            <a:off x="4524375" y="20002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02A2A"/>
                </a:solidFill>
              </a:defRPr>
            </a:pPr>
            <a:r>
              <a:rPr sz="2175" b="1">
                <a:solidFill>
                  <a:srgbClr val="102A2A"/>
                </a:solidFill>
              </a:rPr>
              <a:t>INSEE — fichiers</a:t>
            </a:r>
          </a:p>
        </p:txBody>
      </p:sp>
      <p:sp>
        <p:nvSpPr>
          <p:cNvPr id="12" name="insee-files-type">
            <a:extLst xmlns:a="http://schemas.openxmlformats.org/drawingml/2006/main">
              <a:ext uri="{FF2B5EF4-FFF2-40B4-BE49-F238E27FC236}">
                <a16:creationId xmlns:a16="http://schemas.microsoft.com/office/drawing/2014/main" id="{DC9595AC-C9C8-4093-847D-3743BD8973B4}"/>
              </a:ext>
            </a:extLst>
          </p:cNvPr>
          <p:cNvSpPr>
            <a:spLocks xmlns:a="http://schemas.openxmlformats.org/drawingml/2006/main" noGrp="1"/>
          </p:cNvSpPr>
          <p:nvPr/>
        </p:nvSpPr>
        <p:spPr>
          <a:xfrm xmlns:a="http://schemas.openxmlformats.org/drawingml/2006/main">
            <a:off x="4524375" y="25336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F6F5F"/>
                </a:solidFill>
              </a:defRPr>
            </a:pPr>
            <a:r>
              <a:rPr sz="1425" b="1">
                <a:solidFill>
                  <a:srgbClr val="1F6F5F"/>
                </a:solidFill>
              </a:rPr>
              <a:t>Socio-économie</a:t>
            </a:r>
          </a:p>
        </p:txBody>
      </p:sp>
      <p:sp>
        <p:nvSpPr>
          <p:cNvPr id="13" name="insee-files-body">
            <a:extLst xmlns:a="http://schemas.openxmlformats.org/drawingml/2006/main">
              <a:ext uri="{FF2B5EF4-FFF2-40B4-BE49-F238E27FC236}">
                <a16:creationId xmlns:a16="http://schemas.microsoft.com/office/drawing/2014/main" id="{F3E8DE5D-BCC2-4142-9284-99D5F6C7CED1}"/>
              </a:ext>
            </a:extLst>
          </p:cNvPr>
          <p:cNvSpPr>
            <a:spLocks xmlns:a="http://schemas.openxmlformats.org/drawingml/2006/main" noGrp="1"/>
          </p:cNvSpPr>
          <p:nvPr/>
        </p:nvSpPr>
        <p:spPr>
          <a:xfrm xmlns:a="http://schemas.openxmlformats.org/drawingml/2006/main">
            <a:off x="4524375" y="3143250"/>
            <a:ext cx="2571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2706D"/>
                </a:solidFill>
              </a:defRPr>
            </a:pPr>
            <a:r>
              <a:rPr sz="1500" b="0">
                <a:solidFill>
                  <a:srgbClr val="62706D"/>
                </a:solidFill>
              </a:rPr>
              <a:t>Population 2024</a:t>
            </a:r>
          </a:p>
          <a:p xmlns:a="http://schemas.openxmlformats.org/drawingml/2006/main">
            <a:pPr algn="l">
              <a:defRPr sz="1500" b="0">
                <a:solidFill>
                  <a:srgbClr val="62706D"/>
                </a:solidFill>
              </a:defRPr>
            </a:pPr>
            <a:r>
              <a:rPr sz="1500" b="0">
                <a:solidFill>
                  <a:srgbClr val="62706D"/>
                </a:solidFill>
              </a:rPr>
              <a:t>Revenu médian 2021</a:t>
            </a:r>
          </a:p>
          <a:p xmlns:a="http://schemas.openxmlformats.org/drawingml/2006/main">
            <a:pPr algn="l">
              <a:defRPr sz="1500" b="0">
                <a:solidFill>
                  <a:srgbClr val="62706D"/>
                </a:solidFill>
              </a:defRPr>
            </a:pPr>
            <a:r>
              <a:rPr sz="1500" b="0">
                <a:solidFill>
                  <a:srgbClr val="62706D"/>
                </a:solidFill>
              </a:rPr>
              <a:t>Chômage T1 2025</a:t>
            </a:r>
          </a:p>
          <a:p xmlns:a="http://schemas.openxmlformats.org/drawingml/2006/main">
            <a:pPr algn="l">
              <a:defRPr sz="1500" b="0">
                <a:solidFill>
                  <a:srgbClr val="62706D"/>
                </a:solidFill>
              </a:defRPr>
            </a:pPr>
            <a:r>
              <a:rPr sz="1500" b="0">
                <a:solidFill>
                  <a:srgbClr val="62706D"/>
                </a:solidFill>
              </a:rPr>
              <a:t>Pauvreté 2021</a:t>
            </a:r>
          </a:p>
        </p:txBody>
      </p:sp>
      <p:sp>
        <p:nvSpPr>
          <p:cNvPr id="14" name="insee-files-grain">
            <a:extLst xmlns:a="http://schemas.openxmlformats.org/drawingml/2006/main">
              <a:ext uri="{FF2B5EF4-FFF2-40B4-BE49-F238E27FC236}">
                <a16:creationId xmlns:a16="http://schemas.microsoft.com/office/drawing/2014/main" id="{9723A9D2-C7B7-4F7B-B96D-A73E87E19532}"/>
              </a:ext>
            </a:extLst>
          </p:cNvPr>
          <p:cNvSpPr>
            <a:spLocks xmlns:a="http://schemas.openxmlformats.org/drawingml/2006/main" noGrp="1"/>
          </p:cNvSpPr>
          <p:nvPr/>
        </p:nvSpPr>
        <p:spPr>
          <a:xfrm xmlns:a="http://schemas.openxmlformats.org/drawingml/2006/main">
            <a:off x="4524375" y="50101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6B4D"/>
                </a:solidFill>
              </a:defRPr>
            </a:pPr>
            <a:r>
              <a:rPr sz="1275" b="1">
                <a:solidFill>
                  <a:srgbClr val="D66B4D"/>
                </a:solidFill>
              </a:rPr>
              <a:t>Grain : département → région</a:t>
            </a:r>
          </a:p>
        </p:txBody>
      </p:sp>
      <p:sp>
        <p:nvSpPr>
          <p:cNvPr id="15" name="insee-html">
            <a:extLst xmlns:a="http://schemas.openxmlformats.org/drawingml/2006/main">
              <a:ext uri="{FF2B5EF4-FFF2-40B4-BE49-F238E27FC236}">
                <a16:creationId xmlns:a16="http://schemas.microsoft.com/office/drawing/2014/main" id="{90A3E013-7C1A-412A-8441-CE56C1FCCA10}"/>
              </a:ext>
            </a:extLst>
          </p:cNvPr>
          <p:cNvSpPr>
            <a:spLocks xmlns:a="http://schemas.openxmlformats.org/drawingml/2006/main" noGrp="1"/>
          </p:cNvSpPr>
          <p:nvPr/>
        </p:nvSpPr>
        <p:spPr>
          <a:xfrm xmlns:a="http://schemas.openxmlformats.org/drawingml/2006/main">
            <a:off x="7867650" y="1676400"/>
            <a:ext cx="3714750" cy="3848100"/>
          </a:xfrm>
          <a:prstGeom xmlns:a="http://schemas.openxmlformats.org/drawingml/2006/main" prst="roundRect">
            <a:avLst>
              <a:gd name="adj" fmla="val 5641"/>
            </a:avLst>
          </a:prstGeom>
          <a:solidFill xmlns:a="http://schemas.openxmlformats.org/drawingml/2006/main">
            <a:srgbClr val="153D3A"/>
          </a:solidFill>
          <a:ln xmlns:a="http://schemas.openxmlformats.org/drawingml/2006/main" w="11430">
            <a:solidFill>
              <a:srgbClr val="153D3A"/>
            </a:solidFill>
            <a:prstDash val="solid"/>
          </a:ln>
        </p:spPr>
      </p:sp>
      <p:sp>
        <p:nvSpPr>
          <p:cNvPr id="16" name="insee-html-name">
            <a:extLst xmlns:a="http://schemas.openxmlformats.org/drawingml/2006/main">
              <a:ext uri="{FF2B5EF4-FFF2-40B4-BE49-F238E27FC236}">
                <a16:creationId xmlns:a16="http://schemas.microsoft.com/office/drawing/2014/main" id="{63BBADB6-D4BA-45EA-926B-6547EB3BBD1C}"/>
              </a:ext>
            </a:extLst>
          </p:cNvPr>
          <p:cNvSpPr>
            <a:spLocks xmlns:a="http://schemas.openxmlformats.org/drawingml/2006/main" noGrp="1"/>
          </p:cNvSpPr>
          <p:nvPr/>
        </p:nvSpPr>
        <p:spPr>
          <a:xfrm xmlns:a="http://schemas.openxmlformats.org/drawingml/2006/main">
            <a:off x="8153400" y="20002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FFFFFF"/>
                </a:solidFill>
              </a:defRPr>
            </a:pPr>
            <a:r>
              <a:rPr sz="2175" b="1">
                <a:solidFill>
                  <a:srgbClr val="FFFFFF"/>
                </a:solidFill>
              </a:rPr>
              <a:t>INSEE — page HTML</a:t>
            </a:r>
          </a:p>
        </p:txBody>
      </p:sp>
      <p:sp>
        <p:nvSpPr>
          <p:cNvPr id="17" name="insee-html-type">
            <a:extLst xmlns:a="http://schemas.openxmlformats.org/drawingml/2006/main">
              <a:ext uri="{FF2B5EF4-FFF2-40B4-BE49-F238E27FC236}">
                <a16:creationId xmlns:a16="http://schemas.microsoft.com/office/drawing/2014/main" id="{DC9DF582-E6B4-4F22-AC7B-7246BCDEC6BD}"/>
              </a:ext>
            </a:extLst>
          </p:cNvPr>
          <p:cNvSpPr>
            <a:spLocks xmlns:a="http://schemas.openxmlformats.org/drawingml/2006/main" noGrp="1"/>
          </p:cNvSpPr>
          <p:nvPr/>
        </p:nvSpPr>
        <p:spPr>
          <a:xfrm xmlns:a="http://schemas.openxmlformats.org/drawingml/2006/main">
            <a:off x="8153400" y="25336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DCEDE7"/>
                </a:solidFill>
              </a:defRPr>
            </a:pPr>
            <a:r>
              <a:rPr sz="1425" b="1">
                <a:solidFill>
                  <a:srgbClr val="DCEDE7"/>
                </a:solidFill>
              </a:rPr>
              <a:t>Indices trimestriels</a:t>
            </a:r>
          </a:p>
        </p:txBody>
      </p:sp>
      <p:sp>
        <p:nvSpPr>
          <p:cNvPr id="18" name="insee-html-body">
            <a:extLst xmlns:a="http://schemas.openxmlformats.org/drawingml/2006/main">
              <a:ext uri="{FF2B5EF4-FFF2-40B4-BE49-F238E27FC236}">
                <a16:creationId xmlns:a16="http://schemas.microsoft.com/office/drawing/2014/main" id="{E24183B1-1FCF-4781-B099-398EECEBDACF}"/>
              </a:ext>
            </a:extLst>
          </p:cNvPr>
          <p:cNvSpPr>
            <a:spLocks xmlns:a="http://schemas.openxmlformats.org/drawingml/2006/main" noGrp="1"/>
          </p:cNvSpPr>
          <p:nvPr/>
        </p:nvSpPr>
        <p:spPr>
          <a:xfrm xmlns:a="http://schemas.openxmlformats.org/drawingml/2006/main">
            <a:off x="8153400" y="314325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Collecte périodique</a:t>
            </a:r>
          </a:p>
          <a:p xmlns:a="http://schemas.openxmlformats.org/drawingml/2006/main">
            <a:pPr algn="l">
              <a:defRPr sz="1500" b="0">
                <a:solidFill>
                  <a:srgbClr val="FFFFFF"/>
                </a:solidFill>
              </a:defRPr>
            </a:pPr>
            <a:r>
              <a:rPr sz="1500" b="0">
                <a:solidFill>
                  <a:srgbClr val="FFFFFF"/>
                </a:solidFill>
              </a:rPr>
              <a:t>France / Île-de-France / province</a:t>
            </a:r>
          </a:p>
          <a:p xmlns:a="http://schemas.openxmlformats.org/drawingml/2006/main">
            <a:pPr algn="l">
              <a:defRPr sz="1500" b="0">
                <a:solidFill>
                  <a:srgbClr val="FFFFFF"/>
                </a:solidFill>
              </a:defRPr>
            </a:pPr>
            <a:r>
              <a:rPr sz="1500" b="0">
                <a:solidFill>
                  <a:srgbClr val="FFFFFF"/>
                </a:solidFill>
              </a:rPr>
              <a:t>Indices et variations annuelles</a:t>
            </a:r>
          </a:p>
        </p:txBody>
      </p:sp>
      <p:sp>
        <p:nvSpPr>
          <p:cNvPr id="19" name="insee-html-grain">
            <a:extLst xmlns:a="http://schemas.openxmlformats.org/drawingml/2006/main">
              <a:ext uri="{FF2B5EF4-FFF2-40B4-BE49-F238E27FC236}">
                <a16:creationId xmlns:a16="http://schemas.microsoft.com/office/drawing/2014/main" id="{60459B5B-5D89-4314-941E-D06536FA261C}"/>
              </a:ext>
            </a:extLst>
          </p:cNvPr>
          <p:cNvSpPr>
            <a:spLocks xmlns:a="http://schemas.openxmlformats.org/drawingml/2006/main" noGrp="1"/>
          </p:cNvSpPr>
          <p:nvPr/>
        </p:nvSpPr>
        <p:spPr>
          <a:xfrm xmlns:a="http://schemas.openxmlformats.org/drawingml/2006/main">
            <a:off x="8153400" y="5010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E8D9BF"/>
                </a:solidFill>
              </a:defRPr>
            </a:pPr>
            <a:r>
              <a:rPr sz="1275" b="1">
                <a:solidFill>
                  <a:srgbClr val="E8D9BF"/>
                </a:solidFill>
              </a:rPr>
              <a:t>Polling ≠ fréquence de publication</a:t>
            </a:r>
          </a:p>
        </p:txBody>
      </p:sp>
    </p:spTree>
    <p:extLst>
      <p:ext uri="{BB962C8B-B14F-4D97-AF65-F5344CB8AC3E}">
        <p14:creationId xmlns:p14="http://schemas.microsoft.com/office/powerpoint/2010/main" val="453837286"/>
      </p:ext>
    </p:extLst>
  </p:cSld>
</p:sld>
</file>

<file path=ppt/slides/slide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30" name="kicker-4">
            <a:extLst xmlns:a="http://schemas.openxmlformats.org/drawingml/2006/main">
              <a:ext uri="{FF2B5EF4-FFF2-40B4-BE49-F238E27FC236}">
                <a16:creationId xmlns:a16="http://schemas.microsoft.com/office/drawing/2014/main" id="{8309A1B6-C2F3-493E-A92B-30E3F9887272}"/>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PIPELINE GÉNÉRAL</a:t>
            </a:r>
          </a:p>
        </p:txBody>
      </p:sp>
      <p:sp>
        <p:nvSpPr>
          <p:cNvPr id="2" name="title-4">
            <a:extLst xmlns:a="http://schemas.openxmlformats.org/drawingml/2006/main">
              <a:ext uri="{FF2B5EF4-FFF2-40B4-BE49-F238E27FC236}">
                <a16:creationId xmlns:a16="http://schemas.microsoft.com/office/drawing/2014/main" id="{ECC27C14-28CE-4BF1-BE3D-85D6B246E6BB}"/>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Une chaîne complète, de la source à la décision</a:t>
            </a:r>
          </a:p>
        </p:txBody>
      </p:sp>
      <p:sp>
        <p:nvSpPr>
          <p:cNvPr id="3" name="rule-4">
            <a:extLst xmlns:a="http://schemas.openxmlformats.org/drawingml/2006/main">
              <a:ext uri="{FF2B5EF4-FFF2-40B4-BE49-F238E27FC236}">
                <a16:creationId xmlns:a16="http://schemas.microsoft.com/office/drawing/2014/main" id="{5E7A7054-162B-4D38-BABA-2E23E7396294}"/>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4">
            <a:extLst xmlns:a="http://schemas.openxmlformats.org/drawingml/2006/main">
              <a:ext uri="{FF2B5EF4-FFF2-40B4-BE49-F238E27FC236}">
                <a16:creationId xmlns:a16="http://schemas.microsoft.com/office/drawing/2014/main" id="{A7E4015D-FC44-4BFC-99D5-2A31ACA56AD2}"/>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04</a:t>
            </a:r>
          </a:p>
        </p:txBody>
      </p:sp>
      <p:sp>
        <p:nvSpPr>
          <p:cNvPr id="5" name="pipe-arrow-0">
            <a:extLst xmlns:a="http://schemas.openxmlformats.org/drawingml/2006/main">
              <a:ext uri="{FF2B5EF4-FFF2-40B4-BE49-F238E27FC236}">
                <a16:creationId xmlns:a16="http://schemas.microsoft.com/office/drawing/2014/main" id="{815DD7F1-F38B-41B4-9EFB-0661D73B91F8}"/>
              </a:ext>
            </a:extLst>
          </p:cNvPr>
          <p:cNvSpPr>
            <a:spLocks xmlns:a="http://schemas.openxmlformats.org/drawingml/2006/main" noGrp="1"/>
          </p:cNvSpPr>
          <p:nvPr/>
        </p:nvSpPr>
        <p:spPr>
          <a:xfrm xmlns:a="http://schemas.openxmlformats.org/drawingml/2006/main">
            <a:off x="2019300" y="3162300"/>
            <a:ext cx="476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pipe-arrow-1">
            <a:extLst xmlns:a="http://schemas.openxmlformats.org/drawingml/2006/main">
              <a:ext uri="{FF2B5EF4-FFF2-40B4-BE49-F238E27FC236}">
                <a16:creationId xmlns:a16="http://schemas.microsoft.com/office/drawing/2014/main" id="{F74B48D7-31BD-49D5-8308-4FB5BBC70FAE}"/>
              </a:ext>
            </a:extLst>
          </p:cNvPr>
          <p:cNvSpPr>
            <a:spLocks xmlns:a="http://schemas.openxmlformats.org/drawingml/2006/main" noGrp="1"/>
          </p:cNvSpPr>
          <p:nvPr/>
        </p:nvSpPr>
        <p:spPr>
          <a:xfrm xmlns:a="http://schemas.openxmlformats.org/drawingml/2006/main">
            <a:off x="4000500" y="3162300"/>
            <a:ext cx="476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pipe-arrow-2">
            <a:extLst xmlns:a="http://schemas.openxmlformats.org/drawingml/2006/main">
              <a:ext uri="{FF2B5EF4-FFF2-40B4-BE49-F238E27FC236}">
                <a16:creationId xmlns:a16="http://schemas.microsoft.com/office/drawing/2014/main" id="{003F8736-F8C6-4CE0-A7BC-322EA656D904}"/>
              </a:ext>
            </a:extLst>
          </p:cNvPr>
          <p:cNvSpPr>
            <a:spLocks xmlns:a="http://schemas.openxmlformats.org/drawingml/2006/main" noGrp="1"/>
          </p:cNvSpPr>
          <p:nvPr/>
        </p:nvSpPr>
        <p:spPr>
          <a:xfrm xmlns:a="http://schemas.openxmlformats.org/drawingml/2006/main">
            <a:off x="5981700" y="3162300"/>
            <a:ext cx="476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8" name="pipe-arrow-3">
            <a:extLst xmlns:a="http://schemas.openxmlformats.org/drawingml/2006/main">
              <a:ext uri="{FF2B5EF4-FFF2-40B4-BE49-F238E27FC236}">
                <a16:creationId xmlns:a16="http://schemas.microsoft.com/office/drawing/2014/main" id="{FD907FC9-C33A-40EF-B471-150D0F8F2401}"/>
              </a:ext>
            </a:extLst>
          </p:cNvPr>
          <p:cNvSpPr>
            <a:spLocks xmlns:a="http://schemas.openxmlformats.org/drawingml/2006/main" noGrp="1"/>
          </p:cNvSpPr>
          <p:nvPr/>
        </p:nvSpPr>
        <p:spPr>
          <a:xfrm xmlns:a="http://schemas.openxmlformats.org/drawingml/2006/main">
            <a:off x="7962900" y="3162300"/>
            <a:ext cx="476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9" name="pipe-arrow-4">
            <a:extLst xmlns:a="http://schemas.openxmlformats.org/drawingml/2006/main">
              <a:ext uri="{FF2B5EF4-FFF2-40B4-BE49-F238E27FC236}">
                <a16:creationId xmlns:a16="http://schemas.microsoft.com/office/drawing/2014/main" id="{2B618270-D7DD-4DF1-B9CB-E6DE20265D90}"/>
              </a:ext>
            </a:extLst>
          </p:cNvPr>
          <p:cNvSpPr>
            <a:spLocks xmlns:a="http://schemas.openxmlformats.org/drawingml/2006/main" noGrp="1"/>
          </p:cNvSpPr>
          <p:nvPr/>
        </p:nvSpPr>
        <p:spPr>
          <a:xfrm xmlns:a="http://schemas.openxmlformats.org/drawingml/2006/main">
            <a:off x="9944100" y="3162300"/>
            <a:ext cx="2857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10" name="pipe-node-0">
            <a:extLst xmlns:a="http://schemas.openxmlformats.org/drawingml/2006/main">
              <a:ext uri="{FF2B5EF4-FFF2-40B4-BE49-F238E27FC236}">
                <a16:creationId xmlns:a16="http://schemas.microsoft.com/office/drawing/2014/main" id="{0B428BDD-983E-4FD0-B642-3DDB9F5AB1BF}"/>
              </a:ext>
            </a:extLst>
          </p:cNvPr>
          <p:cNvSpPr>
            <a:spLocks xmlns:a="http://schemas.openxmlformats.org/drawingml/2006/main" noGrp="1"/>
          </p:cNvSpPr>
          <p:nvPr/>
        </p:nvSpPr>
        <p:spPr>
          <a:xfrm xmlns:a="http://schemas.openxmlformats.org/drawingml/2006/main">
            <a:off x="6667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11" name="pipe-h-0">
            <a:extLst xmlns:a="http://schemas.openxmlformats.org/drawingml/2006/main">
              <a:ext uri="{FF2B5EF4-FFF2-40B4-BE49-F238E27FC236}">
                <a16:creationId xmlns:a16="http://schemas.microsoft.com/office/drawing/2014/main" id="{965F48D0-F716-4A56-B5FC-75E979279CA2}"/>
              </a:ext>
            </a:extLst>
          </p:cNvPr>
          <p:cNvSpPr>
            <a:spLocks xmlns:a="http://schemas.openxmlformats.org/drawingml/2006/main" noGrp="1"/>
          </p:cNvSpPr>
          <p:nvPr/>
        </p:nvSpPr>
        <p:spPr>
          <a:xfrm xmlns:a="http://schemas.openxmlformats.org/drawingml/2006/main">
            <a:off x="7810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Sources</a:t>
            </a:r>
          </a:p>
        </p:txBody>
      </p:sp>
      <p:sp>
        <p:nvSpPr>
          <p:cNvPr id="12" name="pipe-b-0">
            <a:extLst xmlns:a="http://schemas.openxmlformats.org/drawingml/2006/main">
              <a:ext uri="{FF2B5EF4-FFF2-40B4-BE49-F238E27FC236}">
                <a16:creationId xmlns:a16="http://schemas.microsoft.com/office/drawing/2014/main" id="{5C44C806-E204-41ED-941E-1CDB4AF560F9}"/>
              </a:ext>
            </a:extLst>
          </p:cNvPr>
          <p:cNvSpPr>
            <a:spLocks xmlns:a="http://schemas.openxmlformats.org/drawingml/2006/main" noGrp="1"/>
          </p:cNvSpPr>
          <p:nvPr/>
        </p:nvSpPr>
        <p:spPr>
          <a:xfrm xmlns:a="http://schemas.openxmlformats.org/drawingml/2006/main">
            <a:off x="7810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DVF · INSEE</a:t>
            </a:r>
          </a:p>
        </p:txBody>
      </p:sp>
      <p:sp>
        <p:nvSpPr>
          <p:cNvPr id="13" name="pipe-node-1">
            <a:extLst xmlns:a="http://schemas.openxmlformats.org/drawingml/2006/main">
              <a:ext uri="{FF2B5EF4-FFF2-40B4-BE49-F238E27FC236}">
                <a16:creationId xmlns:a16="http://schemas.microsoft.com/office/drawing/2014/main" id="{649AA663-1A6C-458D-A86C-7CF4E1D91C69}"/>
              </a:ext>
            </a:extLst>
          </p:cNvPr>
          <p:cNvSpPr>
            <a:spLocks xmlns:a="http://schemas.openxmlformats.org/drawingml/2006/main" noGrp="1"/>
          </p:cNvSpPr>
          <p:nvPr/>
        </p:nvSpPr>
        <p:spPr>
          <a:xfrm xmlns:a="http://schemas.openxmlformats.org/drawingml/2006/main">
            <a:off x="26479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14" name="pipe-h-1">
            <a:extLst xmlns:a="http://schemas.openxmlformats.org/drawingml/2006/main">
              <a:ext uri="{FF2B5EF4-FFF2-40B4-BE49-F238E27FC236}">
                <a16:creationId xmlns:a16="http://schemas.microsoft.com/office/drawing/2014/main" id="{66D0223C-91D2-4EDF-95BC-E0DD4B95D74A}"/>
              </a:ext>
            </a:extLst>
          </p:cNvPr>
          <p:cNvSpPr>
            <a:spLocks xmlns:a="http://schemas.openxmlformats.org/drawingml/2006/main" noGrp="1"/>
          </p:cNvSpPr>
          <p:nvPr/>
        </p:nvSpPr>
        <p:spPr>
          <a:xfrm xmlns:a="http://schemas.openxmlformats.org/drawingml/2006/main">
            <a:off x="27622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ETL</a:t>
            </a:r>
          </a:p>
        </p:txBody>
      </p:sp>
      <p:sp>
        <p:nvSpPr>
          <p:cNvPr id="15" name="pipe-b-1">
            <a:extLst xmlns:a="http://schemas.openxmlformats.org/drawingml/2006/main">
              <a:ext uri="{FF2B5EF4-FFF2-40B4-BE49-F238E27FC236}">
                <a16:creationId xmlns:a16="http://schemas.microsoft.com/office/drawing/2014/main" id="{ED36275D-A6E2-49A1-A971-8BBB98C2DAB5}"/>
              </a:ext>
            </a:extLst>
          </p:cNvPr>
          <p:cNvSpPr>
            <a:spLocks xmlns:a="http://schemas.openxmlformats.org/drawingml/2006/main" noGrp="1"/>
          </p:cNvSpPr>
          <p:nvPr/>
        </p:nvSpPr>
        <p:spPr>
          <a:xfrm xmlns:a="http://schemas.openxmlformats.org/drawingml/2006/main">
            <a:off x="27622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pandas</a:t>
            </a:r>
          </a:p>
        </p:txBody>
      </p:sp>
      <p:sp>
        <p:nvSpPr>
          <p:cNvPr id="16" name="pipe-node-2">
            <a:extLst xmlns:a="http://schemas.openxmlformats.org/drawingml/2006/main">
              <a:ext uri="{FF2B5EF4-FFF2-40B4-BE49-F238E27FC236}">
                <a16:creationId xmlns:a16="http://schemas.microsoft.com/office/drawing/2014/main" id="{DECA1BAC-0566-4110-A72A-E631059F92E3}"/>
              </a:ext>
            </a:extLst>
          </p:cNvPr>
          <p:cNvSpPr>
            <a:spLocks xmlns:a="http://schemas.openxmlformats.org/drawingml/2006/main" noGrp="1"/>
          </p:cNvSpPr>
          <p:nvPr/>
        </p:nvSpPr>
        <p:spPr>
          <a:xfrm xmlns:a="http://schemas.openxmlformats.org/drawingml/2006/main">
            <a:off x="46291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17" name="pipe-h-2">
            <a:extLst xmlns:a="http://schemas.openxmlformats.org/drawingml/2006/main">
              <a:ext uri="{FF2B5EF4-FFF2-40B4-BE49-F238E27FC236}">
                <a16:creationId xmlns:a16="http://schemas.microsoft.com/office/drawing/2014/main" id="{25997EB4-3A35-43CF-AADB-BB0B3A78C48E}"/>
              </a:ext>
            </a:extLst>
          </p:cNvPr>
          <p:cNvSpPr>
            <a:spLocks xmlns:a="http://schemas.openxmlformats.org/drawingml/2006/main" noGrp="1"/>
          </p:cNvSpPr>
          <p:nvPr/>
        </p:nvSpPr>
        <p:spPr>
          <a:xfrm xmlns:a="http://schemas.openxmlformats.org/drawingml/2006/main">
            <a:off x="47434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Stockage</a:t>
            </a:r>
          </a:p>
        </p:txBody>
      </p:sp>
      <p:sp>
        <p:nvSpPr>
          <p:cNvPr id="18" name="pipe-b-2">
            <a:extLst xmlns:a="http://schemas.openxmlformats.org/drawingml/2006/main">
              <a:ext uri="{FF2B5EF4-FFF2-40B4-BE49-F238E27FC236}">
                <a16:creationId xmlns:a16="http://schemas.microsoft.com/office/drawing/2014/main" id="{F9C51797-0E4E-4989-95F4-743FDA0E11A5}"/>
              </a:ext>
            </a:extLst>
          </p:cNvPr>
          <p:cNvSpPr>
            <a:spLocks xmlns:a="http://schemas.openxmlformats.org/drawingml/2006/main" noGrp="1"/>
          </p:cNvSpPr>
          <p:nvPr/>
        </p:nvSpPr>
        <p:spPr>
          <a:xfrm xmlns:a="http://schemas.openxmlformats.org/drawingml/2006/main">
            <a:off x="47434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CSV · Parquet</a:t>
            </a:r>
          </a:p>
          <a:p xmlns:a="http://schemas.openxmlformats.org/drawingml/2006/main">
            <a:pPr algn="ctr">
              <a:defRPr sz="1200" b="0">
                <a:solidFill>
                  <a:srgbClr val="62706D"/>
                </a:solidFill>
              </a:defRPr>
            </a:pPr>
            <a:r>
              <a:rPr sz="1200" b="0">
                <a:solidFill>
                  <a:srgbClr val="62706D"/>
                </a:solidFill>
              </a:rPr>
              <a:t>SQLite</a:t>
            </a:r>
          </a:p>
        </p:txBody>
      </p:sp>
      <p:sp>
        <p:nvSpPr>
          <p:cNvPr id="19" name="pipe-node-3">
            <a:extLst xmlns:a="http://schemas.openxmlformats.org/drawingml/2006/main">
              <a:ext uri="{FF2B5EF4-FFF2-40B4-BE49-F238E27FC236}">
                <a16:creationId xmlns:a16="http://schemas.microsoft.com/office/drawing/2014/main" id="{CE08FBA3-19A4-40F8-8344-76BB0BF33F5C}"/>
              </a:ext>
            </a:extLst>
          </p:cNvPr>
          <p:cNvSpPr>
            <a:spLocks xmlns:a="http://schemas.openxmlformats.org/drawingml/2006/main" noGrp="1"/>
          </p:cNvSpPr>
          <p:nvPr/>
        </p:nvSpPr>
        <p:spPr>
          <a:xfrm xmlns:a="http://schemas.openxmlformats.org/drawingml/2006/main">
            <a:off x="66103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20" name="pipe-h-3">
            <a:extLst xmlns:a="http://schemas.openxmlformats.org/drawingml/2006/main">
              <a:ext uri="{FF2B5EF4-FFF2-40B4-BE49-F238E27FC236}">
                <a16:creationId xmlns:a16="http://schemas.microsoft.com/office/drawing/2014/main" id="{104E84BD-9343-46C1-97F3-AA97CA996B15}"/>
              </a:ext>
            </a:extLst>
          </p:cNvPr>
          <p:cNvSpPr>
            <a:spLocks xmlns:a="http://schemas.openxmlformats.org/drawingml/2006/main" noGrp="1"/>
          </p:cNvSpPr>
          <p:nvPr/>
        </p:nvSpPr>
        <p:spPr>
          <a:xfrm xmlns:a="http://schemas.openxmlformats.org/drawingml/2006/main">
            <a:off x="67246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Calcul</a:t>
            </a:r>
          </a:p>
        </p:txBody>
      </p:sp>
      <p:sp>
        <p:nvSpPr>
          <p:cNvPr id="21" name="pipe-b-3">
            <a:extLst xmlns:a="http://schemas.openxmlformats.org/drawingml/2006/main">
              <a:ext uri="{FF2B5EF4-FFF2-40B4-BE49-F238E27FC236}">
                <a16:creationId xmlns:a16="http://schemas.microsoft.com/office/drawing/2014/main" id="{9A1D211A-50CD-4ED2-A188-36A5790CE3D6}"/>
              </a:ext>
            </a:extLst>
          </p:cNvPr>
          <p:cNvSpPr>
            <a:spLocks xmlns:a="http://schemas.openxmlformats.org/drawingml/2006/main" noGrp="1"/>
          </p:cNvSpPr>
          <p:nvPr/>
        </p:nvSpPr>
        <p:spPr>
          <a:xfrm xmlns:a="http://schemas.openxmlformats.org/drawingml/2006/main">
            <a:off x="67246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Spark</a:t>
            </a:r>
          </a:p>
        </p:txBody>
      </p:sp>
      <p:sp>
        <p:nvSpPr>
          <p:cNvPr id="22" name="pipe-node-4">
            <a:extLst xmlns:a="http://schemas.openxmlformats.org/drawingml/2006/main">
              <a:ext uri="{FF2B5EF4-FFF2-40B4-BE49-F238E27FC236}">
                <a16:creationId xmlns:a16="http://schemas.microsoft.com/office/drawing/2014/main" id="{BF1FD098-C041-42F5-BF0D-01AFBFD8CE09}"/>
              </a:ext>
            </a:extLst>
          </p:cNvPr>
          <p:cNvSpPr>
            <a:spLocks xmlns:a="http://schemas.openxmlformats.org/drawingml/2006/main" noGrp="1"/>
          </p:cNvSpPr>
          <p:nvPr/>
        </p:nvSpPr>
        <p:spPr>
          <a:xfrm xmlns:a="http://schemas.openxmlformats.org/drawingml/2006/main">
            <a:off x="85915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23" name="pipe-h-4">
            <a:extLst xmlns:a="http://schemas.openxmlformats.org/drawingml/2006/main">
              <a:ext uri="{FF2B5EF4-FFF2-40B4-BE49-F238E27FC236}">
                <a16:creationId xmlns:a16="http://schemas.microsoft.com/office/drawing/2014/main" id="{FD407FC6-5250-4A1D-A35E-602436A96E3B}"/>
              </a:ext>
            </a:extLst>
          </p:cNvPr>
          <p:cNvSpPr>
            <a:spLocks xmlns:a="http://schemas.openxmlformats.org/drawingml/2006/main" noGrp="1"/>
          </p:cNvSpPr>
          <p:nvPr/>
        </p:nvSpPr>
        <p:spPr>
          <a:xfrm xmlns:a="http://schemas.openxmlformats.org/drawingml/2006/main">
            <a:off x="87058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Serving</a:t>
            </a:r>
          </a:p>
        </p:txBody>
      </p:sp>
      <p:sp>
        <p:nvSpPr>
          <p:cNvPr id="24" name="pipe-b-4">
            <a:extLst xmlns:a="http://schemas.openxmlformats.org/drawingml/2006/main">
              <a:ext uri="{FF2B5EF4-FFF2-40B4-BE49-F238E27FC236}">
                <a16:creationId xmlns:a16="http://schemas.microsoft.com/office/drawing/2014/main" id="{E11FE217-D992-4BF4-B2CC-19154425F794}"/>
              </a:ext>
            </a:extLst>
          </p:cNvPr>
          <p:cNvSpPr>
            <a:spLocks xmlns:a="http://schemas.openxmlformats.org/drawingml/2006/main" noGrp="1"/>
          </p:cNvSpPr>
          <p:nvPr/>
        </p:nvSpPr>
        <p:spPr>
          <a:xfrm xmlns:a="http://schemas.openxmlformats.org/drawingml/2006/main">
            <a:off x="87058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SQLite · Mongo</a:t>
            </a:r>
          </a:p>
        </p:txBody>
      </p:sp>
      <p:sp>
        <p:nvSpPr>
          <p:cNvPr id="25" name="pipe-node-5">
            <a:extLst xmlns:a="http://schemas.openxmlformats.org/drawingml/2006/main">
              <a:ext uri="{FF2B5EF4-FFF2-40B4-BE49-F238E27FC236}">
                <a16:creationId xmlns:a16="http://schemas.microsoft.com/office/drawing/2014/main" id="{EACCB338-A7D2-4981-BF32-29DC3E6C2BEB}"/>
              </a:ext>
            </a:extLst>
          </p:cNvPr>
          <p:cNvSpPr>
            <a:spLocks xmlns:a="http://schemas.openxmlformats.org/drawingml/2006/main" noGrp="1"/>
          </p:cNvSpPr>
          <p:nvPr/>
        </p:nvSpPr>
        <p:spPr>
          <a:xfrm xmlns:a="http://schemas.openxmlformats.org/drawingml/2006/main">
            <a:off x="10382250" y="2400300"/>
            <a:ext cx="1200150" cy="1524000"/>
          </a:xfrm>
          <a:prstGeom xmlns:a="http://schemas.openxmlformats.org/drawingml/2006/main" prst="roundRect">
            <a:avLst>
              <a:gd name="adj" fmla="val 14286"/>
            </a:avLst>
          </a:prstGeom>
          <a:solidFill xmlns:a="http://schemas.openxmlformats.org/drawingml/2006/main">
            <a:srgbClr val="153D3A"/>
          </a:solidFill>
          <a:ln xmlns:a="http://schemas.openxmlformats.org/drawingml/2006/main" w="11430">
            <a:solidFill>
              <a:srgbClr val="153D3A"/>
            </a:solidFill>
            <a:prstDash val="solid"/>
          </a:ln>
        </p:spPr>
      </p:sp>
      <p:sp>
        <p:nvSpPr>
          <p:cNvPr id="26" name="pipe-h-5">
            <a:extLst xmlns:a="http://schemas.openxmlformats.org/drawingml/2006/main">
              <a:ext uri="{FF2B5EF4-FFF2-40B4-BE49-F238E27FC236}">
                <a16:creationId xmlns:a16="http://schemas.microsoft.com/office/drawing/2014/main" id="{CC7D6992-319F-475C-BB0E-1CCEC1E4B9DE}"/>
              </a:ext>
            </a:extLst>
          </p:cNvPr>
          <p:cNvSpPr>
            <a:spLocks xmlns:a="http://schemas.openxmlformats.org/drawingml/2006/main" noGrp="1"/>
          </p:cNvSpPr>
          <p:nvPr/>
        </p:nvSpPr>
        <p:spPr>
          <a:xfrm xmlns:a="http://schemas.openxmlformats.org/drawingml/2006/main">
            <a:off x="10496550" y="2647950"/>
            <a:ext cx="97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Analyse</a:t>
            </a:r>
          </a:p>
        </p:txBody>
      </p:sp>
      <p:sp>
        <p:nvSpPr>
          <p:cNvPr id="27" name="pipe-b-5">
            <a:extLst xmlns:a="http://schemas.openxmlformats.org/drawingml/2006/main">
              <a:ext uri="{FF2B5EF4-FFF2-40B4-BE49-F238E27FC236}">
                <a16:creationId xmlns:a16="http://schemas.microsoft.com/office/drawing/2014/main" id="{87FE556B-79AF-4487-9A21-DADF7C2B8694}"/>
              </a:ext>
            </a:extLst>
          </p:cNvPr>
          <p:cNvSpPr>
            <a:spLocks xmlns:a="http://schemas.openxmlformats.org/drawingml/2006/main" noGrp="1"/>
          </p:cNvSpPr>
          <p:nvPr/>
        </p:nvSpPr>
        <p:spPr>
          <a:xfrm xmlns:a="http://schemas.openxmlformats.org/drawingml/2006/main">
            <a:off x="10496550" y="3143250"/>
            <a:ext cx="971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DCEDE7"/>
                </a:solidFill>
              </a:defRPr>
            </a:pPr>
            <a:r>
              <a:rPr sz="1200" b="0">
                <a:solidFill>
                  <a:srgbClr val="DCEDE7"/>
                </a:solidFill>
              </a:rPr>
              <a:t>Streamlit</a:t>
            </a:r>
          </a:p>
        </p:txBody>
      </p:sp>
      <p:sp>
        <p:nvSpPr>
          <p:cNvPr id="28" name="pipeline-note">
            <a:extLst xmlns:a="http://schemas.openxmlformats.org/drawingml/2006/main">
              <a:ext uri="{FF2B5EF4-FFF2-40B4-BE49-F238E27FC236}">
                <a16:creationId xmlns:a16="http://schemas.microsoft.com/office/drawing/2014/main" id="{3BA4B444-047A-47ED-A62B-D4348929C1E9}"/>
              </a:ext>
            </a:extLst>
          </p:cNvPr>
          <p:cNvSpPr>
            <a:spLocks xmlns:a="http://schemas.openxmlformats.org/drawingml/2006/main" noGrp="1"/>
          </p:cNvSpPr>
          <p:nvPr/>
        </p:nvSpPr>
        <p:spPr>
          <a:xfrm xmlns:a="http://schemas.openxmlformats.org/drawingml/2006/main">
            <a:off x="1809750" y="4629150"/>
            <a:ext cx="8572500" cy="819150"/>
          </a:xfrm>
          <a:prstGeom xmlns:a="http://schemas.openxmlformats.org/drawingml/2006/main" prst="roundRect">
            <a:avLst>
              <a:gd name="adj" fmla="val 18605"/>
            </a:avLst>
          </a:prstGeom>
          <a:solidFill xmlns:a="http://schemas.openxmlformats.org/drawingml/2006/main">
            <a:srgbClr val="DCEDE7"/>
          </a:solidFill>
          <a:ln xmlns:a="http://schemas.openxmlformats.org/drawingml/2006/main" w="11430">
            <a:solidFill>
              <a:srgbClr val="DCEDE7"/>
            </a:solidFill>
            <a:prstDash val="solid"/>
          </a:ln>
        </p:spPr>
      </p:sp>
      <p:sp>
        <p:nvSpPr>
          <p:cNvPr id="29" name="pipeline-note-text">
            <a:extLst xmlns:a="http://schemas.openxmlformats.org/drawingml/2006/main">
              <a:ext uri="{FF2B5EF4-FFF2-40B4-BE49-F238E27FC236}">
                <a16:creationId xmlns:a16="http://schemas.microsoft.com/office/drawing/2014/main" id="{AC360B55-9FFF-49AF-BBEC-B8A99D8B3A36}"/>
              </a:ext>
            </a:extLst>
          </p:cNvPr>
          <p:cNvSpPr>
            <a:spLocks xmlns:a="http://schemas.openxmlformats.org/drawingml/2006/main" noGrp="1"/>
          </p:cNvSpPr>
          <p:nvPr/>
        </p:nvSpPr>
        <p:spPr>
          <a:xfrm xmlns:a="http://schemas.openxmlformats.org/drawingml/2006/main">
            <a:off x="2143125" y="4857750"/>
            <a:ext cx="790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53D3A"/>
                </a:solidFill>
              </a:defRPr>
            </a:pPr>
            <a:r>
              <a:rPr sz="1575" b="1">
                <a:solidFill>
                  <a:srgbClr val="153D3A"/>
                </a:solidFill>
              </a:rPr>
              <a:t>Le détail reste disponible dans SQLite ; Spark prépare les vues départementales pour accélérer l’exploration.</a:t>
            </a:r>
          </a:p>
        </p:txBody>
      </p:sp>
    </p:spTree>
    <p:extLst>
      <p:ext uri="{BB962C8B-B14F-4D97-AF65-F5344CB8AC3E}">
        <p14:creationId xmlns:p14="http://schemas.microsoft.com/office/powerpoint/2010/main" val="386998633"/>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5" name="kicker-5">
            <a:extLst xmlns:a="http://schemas.openxmlformats.org/drawingml/2006/main">
              <a:ext uri="{FF2B5EF4-FFF2-40B4-BE49-F238E27FC236}">
                <a16:creationId xmlns:a16="http://schemas.microsoft.com/office/drawing/2014/main" id="{969AABA1-470E-4CD9-AD85-937603DE5B78}"/>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PRÉPARATION DVF</a:t>
            </a:r>
          </a:p>
        </p:txBody>
      </p:sp>
      <p:sp>
        <p:nvSpPr>
          <p:cNvPr id="2" name="title-5">
            <a:extLst xmlns:a="http://schemas.openxmlformats.org/drawingml/2006/main">
              <a:ext uri="{FF2B5EF4-FFF2-40B4-BE49-F238E27FC236}">
                <a16:creationId xmlns:a16="http://schemas.microsoft.com/office/drawing/2014/main" id="{C513B403-EFD4-4F48-84B3-A97581BDF68E}"/>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La qualité transforme le volume en base analytique fiable</a:t>
            </a:r>
          </a:p>
        </p:txBody>
      </p:sp>
      <p:sp>
        <p:nvSpPr>
          <p:cNvPr id="3" name="rule-5">
            <a:extLst xmlns:a="http://schemas.openxmlformats.org/drawingml/2006/main">
              <a:ext uri="{FF2B5EF4-FFF2-40B4-BE49-F238E27FC236}">
                <a16:creationId xmlns:a16="http://schemas.microsoft.com/office/drawing/2014/main" id="{93D611ED-0513-4C33-B5C4-46344ECDD976}"/>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5">
            <a:extLst xmlns:a="http://schemas.openxmlformats.org/drawingml/2006/main">
              <a:ext uri="{FF2B5EF4-FFF2-40B4-BE49-F238E27FC236}">
                <a16:creationId xmlns:a16="http://schemas.microsoft.com/office/drawing/2014/main" id="{760DB83B-0A70-4F33-9755-D7F0BD9FCC0E}"/>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05</a:t>
            </a:r>
          </a:p>
        </p:txBody>
      </p:sp>
      <p:sp>
        <p:nvSpPr>
          <p:cNvPr id="5" name="unique-bg">
            <a:extLst xmlns:a="http://schemas.openxmlformats.org/drawingml/2006/main">
              <a:ext uri="{FF2B5EF4-FFF2-40B4-BE49-F238E27FC236}">
                <a16:creationId xmlns:a16="http://schemas.microsoft.com/office/drawing/2014/main" id="{FD6ED57B-2A8D-4409-AE3F-57734B135840}"/>
              </a:ext>
            </a:extLst>
          </p:cNvPr>
          <p:cNvSpPr>
            <a:spLocks xmlns:a="http://schemas.openxmlformats.org/drawingml/2006/main" noGrp="1"/>
          </p:cNvSpPr>
          <p:nvPr/>
        </p:nvSpPr>
        <p:spPr>
          <a:xfrm xmlns:a="http://schemas.openxmlformats.org/drawingml/2006/main">
            <a:off x="609600" y="1676400"/>
            <a:ext cx="409575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6" name="unique-accent">
            <a:extLst xmlns:a="http://schemas.openxmlformats.org/drawingml/2006/main">
              <a:ext uri="{FF2B5EF4-FFF2-40B4-BE49-F238E27FC236}">
                <a16:creationId xmlns:a16="http://schemas.microsoft.com/office/drawing/2014/main" id="{383EDECF-0677-4CF5-9E3F-6F69A56F8528}"/>
              </a:ext>
            </a:extLst>
          </p:cNvPr>
          <p:cNvSpPr>
            <a:spLocks xmlns:a="http://schemas.openxmlformats.org/drawingml/2006/main" noGrp="1"/>
          </p:cNvSpPr>
          <p:nvPr/>
        </p:nvSpPr>
        <p:spPr>
          <a:xfrm xmlns:a="http://schemas.openxmlformats.org/drawingml/2006/main">
            <a:off x="609600" y="1676400"/>
            <a:ext cx="95250" cy="1409700"/>
          </a:xfrm>
          <a:prstGeom xmlns:a="http://schemas.openxmlformats.org/drawingml/2006/main" prst="roundRect">
            <a:avLst>
              <a:gd name="adj" fmla="val 50000"/>
            </a:avLst>
          </a:prstGeom>
          <a:solidFill xmlns:a="http://schemas.openxmlformats.org/drawingml/2006/main">
            <a:srgbClr val="D66B4D"/>
          </a:solidFill>
          <a:ln xmlns:a="http://schemas.openxmlformats.org/drawingml/2006/main" w="11430">
            <a:solidFill>
              <a:srgbClr val="D66B4D"/>
            </a:solidFill>
            <a:prstDash val="solid"/>
          </a:ln>
        </p:spPr>
      </p:sp>
      <p:sp>
        <p:nvSpPr>
          <p:cNvPr id="7" name="unique-value">
            <a:extLst xmlns:a="http://schemas.openxmlformats.org/drawingml/2006/main">
              <a:ext uri="{FF2B5EF4-FFF2-40B4-BE49-F238E27FC236}">
                <a16:creationId xmlns:a16="http://schemas.microsoft.com/office/drawing/2014/main" id="{472A2731-2CD4-41B0-9A00-46A09EFC6323}"/>
              </a:ext>
            </a:extLst>
          </p:cNvPr>
          <p:cNvSpPr>
            <a:spLocks xmlns:a="http://schemas.openxmlformats.org/drawingml/2006/main" noGrp="1"/>
          </p:cNvSpPr>
          <p:nvPr/>
        </p:nvSpPr>
        <p:spPr>
          <a:xfrm xmlns:a="http://schemas.openxmlformats.org/drawingml/2006/main">
            <a:off x="876300" y="1885950"/>
            <a:ext cx="365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1 884 593</a:t>
            </a:r>
          </a:p>
        </p:txBody>
      </p:sp>
      <p:sp>
        <p:nvSpPr>
          <p:cNvPr id="8" name="unique-label">
            <a:extLst xmlns:a="http://schemas.openxmlformats.org/drawingml/2006/main">
              <a:ext uri="{FF2B5EF4-FFF2-40B4-BE49-F238E27FC236}">
                <a16:creationId xmlns:a16="http://schemas.microsoft.com/office/drawing/2014/main" id="{51A4BB31-3D11-40CE-AC24-8EEDDC2E87A4}"/>
              </a:ext>
            </a:extLst>
          </p:cNvPr>
          <p:cNvSpPr>
            <a:spLocks xmlns:a="http://schemas.openxmlformats.org/drawingml/2006/main" noGrp="1"/>
          </p:cNvSpPr>
          <p:nvPr/>
        </p:nvSpPr>
        <p:spPr>
          <a:xfrm xmlns:a="http://schemas.openxmlformats.org/drawingml/2006/main">
            <a:off x="876300" y="2514600"/>
            <a:ext cx="365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transactions DVF uniques dans la base finale</a:t>
            </a:r>
          </a:p>
        </p:txBody>
      </p:sp>
      <p:sp>
        <p:nvSpPr>
          <p:cNvPr id="9" name="formula-bg">
            <a:extLst xmlns:a="http://schemas.openxmlformats.org/drawingml/2006/main">
              <a:ext uri="{FF2B5EF4-FFF2-40B4-BE49-F238E27FC236}">
                <a16:creationId xmlns:a16="http://schemas.microsoft.com/office/drawing/2014/main" id="{C8F44227-F395-40A0-B84C-0FB65B2B0B88}"/>
              </a:ext>
            </a:extLst>
          </p:cNvPr>
          <p:cNvSpPr>
            <a:spLocks xmlns:a="http://schemas.openxmlformats.org/drawingml/2006/main" noGrp="1"/>
          </p:cNvSpPr>
          <p:nvPr/>
        </p:nvSpPr>
        <p:spPr>
          <a:xfrm xmlns:a="http://schemas.openxmlformats.org/drawingml/2006/main">
            <a:off x="5048250" y="1676400"/>
            <a:ext cx="6534150" cy="1409700"/>
          </a:xfrm>
          <a:prstGeom xmlns:a="http://schemas.openxmlformats.org/drawingml/2006/main" prst="roundRect">
            <a:avLst>
              <a:gd name="adj" fmla="val 12162"/>
            </a:avLst>
          </a:prstGeom>
          <a:solidFill xmlns:a="http://schemas.openxmlformats.org/drawingml/2006/main">
            <a:srgbClr val="153D3A"/>
          </a:solidFill>
          <a:ln xmlns:a="http://schemas.openxmlformats.org/drawingml/2006/main" w="11430">
            <a:solidFill>
              <a:srgbClr val="153D3A"/>
            </a:solidFill>
            <a:prstDash val="solid"/>
          </a:ln>
        </p:spPr>
      </p:sp>
      <p:sp>
        <p:nvSpPr>
          <p:cNvPr id="10" name="formula-label">
            <a:extLst xmlns:a="http://schemas.openxmlformats.org/drawingml/2006/main">
              <a:ext uri="{FF2B5EF4-FFF2-40B4-BE49-F238E27FC236}">
                <a16:creationId xmlns:a16="http://schemas.microsoft.com/office/drawing/2014/main" id="{75734D2E-A8A8-4A5F-82B8-6761A72E13A8}"/>
              </a:ext>
            </a:extLst>
          </p:cNvPr>
          <p:cNvSpPr>
            <a:spLocks xmlns:a="http://schemas.openxmlformats.org/drawingml/2006/main" noGrp="1"/>
          </p:cNvSpPr>
          <p:nvPr/>
        </p:nvSpPr>
        <p:spPr>
          <a:xfrm xmlns:a="http://schemas.openxmlformats.org/drawingml/2006/main">
            <a:off x="5381625" y="18954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CEDE7"/>
                </a:solidFill>
              </a:defRPr>
            </a:pPr>
            <a:r>
              <a:rPr sz="975" b="1">
                <a:solidFill>
                  <a:srgbClr val="DCEDE7"/>
                </a:solidFill>
              </a:rPr>
              <a:t>INDICATEUR CENTRAL</a:t>
            </a:r>
          </a:p>
        </p:txBody>
      </p:sp>
      <p:sp>
        <p:nvSpPr>
          <p:cNvPr id="11" name="formula">
            <a:extLst xmlns:a="http://schemas.openxmlformats.org/drawingml/2006/main">
              <a:ext uri="{FF2B5EF4-FFF2-40B4-BE49-F238E27FC236}">
                <a16:creationId xmlns:a16="http://schemas.microsoft.com/office/drawing/2014/main" id="{2D9BFAAE-846D-445E-B740-B31BF7A5AABE}"/>
              </a:ext>
            </a:extLst>
          </p:cNvPr>
          <p:cNvSpPr>
            <a:spLocks xmlns:a="http://schemas.openxmlformats.org/drawingml/2006/main" noGrp="1"/>
          </p:cNvSpPr>
          <p:nvPr/>
        </p:nvSpPr>
        <p:spPr>
          <a:xfrm xmlns:a="http://schemas.openxmlformats.org/drawingml/2006/main">
            <a:off x="5381625" y="230505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prix au m² = valeur foncière ÷ surface bâtie</a:t>
            </a:r>
          </a:p>
        </p:txBody>
      </p:sp>
      <p:sp>
        <p:nvSpPr>
          <p:cNvPr id="12" name="quality-n-0">
            <a:extLst xmlns:a="http://schemas.openxmlformats.org/drawingml/2006/main">
              <a:ext uri="{FF2B5EF4-FFF2-40B4-BE49-F238E27FC236}">
                <a16:creationId xmlns:a16="http://schemas.microsoft.com/office/drawing/2014/main" id="{CE2454BF-2AD1-4968-B862-D46567165983}"/>
              </a:ext>
            </a:extLst>
          </p:cNvPr>
          <p:cNvSpPr>
            <a:spLocks xmlns:a="http://schemas.openxmlformats.org/drawingml/2006/main" noGrp="1"/>
          </p:cNvSpPr>
          <p:nvPr/>
        </p:nvSpPr>
        <p:spPr>
          <a:xfrm xmlns:a="http://schemas.openxmlformats.org/drawingml/2006/main">
            <a:off x="609600" y="3714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01</a:t>
            </a:r>
          </a:p>
        </p:txBody>
      </p:sp>
      <p:sp>
        <p:nvSpPr>
          <p:cNvPr id="13" name="quality-h-0">
            <a:extLst xmlns:a="http://schemas.openxmlformats.org/drawingml/2006/main">
              <a:ext uri="{FF2B5EF4-FFF2-40B4-BE49-F238E27FC236}">
                <a16:creationId xmlns:a16="http://schemas.microsoft.com/office/drawing/2014/main" id="{BD8C7677-A893-4505-830C-058F2403F006}"/>
              </a:ext>
            </a:extLst>
          </p:cNvPr>
          <p:cNvSpPr>
            <a:spLocks xmlns:a="http://schemas.openxmlformats.org/drawingml/2006/main" noGrp="1"/>
          </p:cNvSpPr>
          <p:nvPr/>
        </p:nvSpPr>
        <p:spPr>
          <a:xfrm xmlns:a="http://schemas.openxmlformats.org/drawingml/2006/main">
            <a:off x="609600" y="4095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Normaliser</a:t>
            </a:r>
          </a:p>
        </p:txBody>
      </p:sp>
      <p:sp>
        <p:nvSpPr>
          <p:cNvPr id="14" name="quality-b-0">
            <a:extLst xmlns:a="http://schemas.openxmlformats.org/drawingml/2006/main">
              <a:ext uri="{FF2B5EF4-FFF2-40B4-BE49-F238E27FC236}">
                <a16:creationId xmlns:a16="http://schemas.microsoft.com/office/drawing/2014/main" id="{20811A62-A884-4F4C-9A0E-A5B80A2539C0}"/>
              </a:ext>
            </a:extLst>
          </p:cNvPr>
          <p:cNvSpPr>
            <a:spLocks xmlns:a="http://schemas.openxmlformats.org/drawingml/2006/main" noGrp="1"/>
          </p:cNvSpPr>
          <p:nvPr/>
        </p:nvSpPr>
        <p:spPr>
          <a:xfrm xmlns:a="http://schemas.openxmlformats.org/drawingml/2006/main">
            <a:off x="609600" y="45339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dates, colonnes, codes postaux sur 5 caractères</a:t>
            </a:r>
          </a:p>
        </p:txBody>
      </p:sp>
      <p:sp>
        <p:nvSpPr>
          <p:cNvPr id="15" name="quality-n-1">
            <a:extLst xmlns:a="http://schemas.openxmlformats.org/drawingml/2006/main">
              <a:ext uri="{FF2B5EF4-FFF2-40B4-BE49-F238E27FC236}">
                <a16:creationId xmlns:a16="http://schemas.microsoft.com/office/drawing/2014/main" id="{2888061B-E54C-4088-B3C2-128331DC158C}"/>
              </a:ext>
            </a:extLst>
          </p:cNvPr>
          <p:cNvSpPr>
            <a:spLocks xmlns:a="http://schemas.openxmlformats.org/drawingml/2006/main" noGrp="1"/>
          </p:cNvSpPr>
          <p:nvPr/>
        </p:nvSpPr>
        <p:spPr>
          <a:xfrm xmlns:a="http://schemas.openxmlformats.org/drawingml/2006/main">
            <a:off x="3352800" y="3714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02</a:t>
            </a:r>
          </a:p>
        </p:txBody>
      </p:sp>
      <p:sp>
        <p:nvSpPr>
          <p:cNvPr id="16" name="quality-h-1">
            <a:extLst xmlns:a="http://schemas.openxmlformats.org/drawingml/2006/main">
              <a:ext uri="{FF2B5EF4-FFF2-40B4-BE49-F238E27FC236}">
                <a16:creationId xmlns:a16="http://schemas.microsoft.com/office/drawing/2014/main" id="{726F04FA-D001-4146-8730-18E452318316}"/>
              </a:ext>
            </a:extLst>
          </p:cNvPr>
          <p:cNvSpPr>
            <a:spLocks xmlns:a="http://schemas.openxmlformats.org/drawingml/2006/main" noGrp="1"/>
          </p:cNvSpPr>
          <p:nvPr/>
        </p:nvSpPr>
        <p:spPr>
          <a:xfrm xmlns:a="http://schemas.openxmlformats.org/drawingml/2006/main">
            <a:off x="3352800" y="4095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Dédoublonner</a:t>
            </a:r>
          </a:p>
        </p:txBody>
      </p:sp>
      <p:sp>
        <p:nvSpPr>
          <p:cNvPr id="17" name="quality-b-1">
            <a:extLst xmlns:a="http://schemas.openxmlformats.org/drawingml/2006/main">
              <a:ext uri="{FF2B5EF4-FFF2-40B4-BE49-F238E27FC236}">
                <a16:creationId xmlns:a16="http://schemas.microsoft.com/office/drawing/2014/main" id="{9A17B086-11BD-4A4A-B1E4-DA7EAB5A60B3}"/>
              </a:ext>
            </a:extLst>
          </p:cNvPr>
          <p:cNvSpPr>
            <a:spLocks xmlns:a="http://schemas.openxmlformats.org/drawingml/2006/main" noGrp="1"/>
          </p:cNvSpPr>
          <p:nvPr/>
        </p:nvSpPr>
        <p:spPr>
          <a:xfrm xmlns:a="http://schemas.openxmlformats.org/drawingml/2006/main">
            <a:off x="3352800" y="45339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doublons exacts supprimés avant chargement</a:t>
            </a:r>
          </a:p>
        </p:txBody>
      </p:sp>
      <p:sp>
        <p:nvSpPr>
          <p:cNvPr id="18" name="quality-n-2">
            <a:extLst xmlns:a="http://schemas.openxmlformats.org/drawingml/2006/main">
              <a:ext uri="{FF2B5EF4-FFF2-40B4-BE49-F238E27FC236}">
                <a16:creationId xmlns:a16="http://schemas.microsoft.com/office/drawing/2014/main" id="{1D8DF7FD-04DF-4DF3-9F23-9843C3761281}"/>
              </a:ext>
            </a:extLst>
          </p:cNvPr>
          <p:cNvSpPr>
            <a:spLocks xmlns:a="http://schemas.openxmlformats.org/drawingml/2006/main" noGrp="1"/>
          </p:cNvSpPr>
          <p:nvPr/>
        </p:nvSpPr>
        <p:spPr>
          <a:xfrm xmlns:a="http://schemas.openxmlformats.org/drawingml/2006/main">
            <a:off x="6096000" y="3714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03</a:t>
            </a:r>
          </a:p>
        </p:txBody>
      </p:sp>
      <p:sp>
        <p:nvSpPr>
          <p:cNvPr id="19" name="quality-h-2">
            <a:extLst xmlns:a="http://schemas.openxmlformats.org/drawingml/2006/main">
              <a:ext uri="{FF2B5EF4-FFF2-40B4-BE49-F238E27FC236}">
                <a16:creationId xmlns:a16="http://schemas.microsoft.com/office/drawing/2014/main" id="{EB810B4A-5173-443E-AF4C-25AC934A8F01}"/>
              </a:ext>
            </a:extLst>
          </p:cNvPr>
          <p:cNvSpPr>
            <a:spLocks xmlns:a="http://schemas.openxmlformats.org/drawingml/2006/main" noGrp="1"/>
          </p:cNvSpPr>
          <p:nvPr/>
        </p:nvSpPr>
        <p:spPr>
          <a:xfrm xmlns:a="http://schemas.openxmlformats.org/drawingml/2006/main">
            <a:off x="6096000" y="4095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Valider</a:t>
            </a:r>
          </a:p>
        </p:txBody>
      </p:sp>
      <p:sp>
        <p:nvSpPr>
          <p:cNvPr id="20" name="quality-b-2">
            <a:extLst xmlns:a="http://schemas.openxmlformats.org/drawingml/2006/main">
              <a:ext uri="{FF2B5EF4-FFF2-40B4-BE49-F238E27FC236}">
                <a16:creationId xmlns:a16="http://schemas.microsoft.com/office/drawing/2014/main" id="{908312F9-FB2C-451B-8722-90407586F677}"/>
              </a:ext>
            </a:extLst>
          </p:cNvPr>
          <p:cNvSpPr>
            <a:spLocks xmlns:a="http://schemas.openxmlformats.org/drawingml/2006/main" noGrp="1"/>
          </p:cNvSpPr>
          <p:nvPr/>
        </p:nvSpPr>
        <p:spPr>
          <a:xfrm xmlns:a="http://schemas.openxmlformats.org/drawingml/2006/main">
            <a:off x="6096000" y="45339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surface &gt; 0 · valeur ≥ 1 000 € · prix/m² valide</a:t>
            </a:r>
          </a:p>
        </p:txBody>
      </p:sp>
      <p:sp>
        <p:nvSpPr>
          <p:cNvPr id="21" name="quality-n-3">
            <a:extLst xmlns:a="http://schemas.openxmlformats.org/drawingml/2006/main">
              <a:ext uri="{FF2B5EF4-FFF2-40B4-BE49-F238E27FC236}">
                <a16:creationId xmlns:a16="http://schemas.microsoft.com/office/drawing/2014/main" id="{A2660227-BAC3-43F1-96CF-E0EE8F2227DE}"/>
              </a:ext>
            </a:extLst>
          </p:cNvPr>
          <p:cNvSpPr>
            <a:spLocks xmlns:a="http://schemas.openxmlformats.org/drawingml/2006/main" noGrp="1"/>
          </p:cNvSpPr>
          <p:nvPr/>
        </p:nvSpPr>
        <p:spPr>
          <a:xfrm xmlns:a="http://schemas.openxmlformats.org/drawingml/2006/main">
            <a:off x="8839200" y="3714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04</a:t>
            </a:r>
          </a:p>
        </p:txBody>
      </p:sp>
      <p:sp>
        <p:nvSpPr>
          <p:cNvPr id="22" name="quality-h-3">
            <a:extLst xmlns:a="http://schemas.openxmlformats.org/drawingml/2006/main">
              <a:ext uri="{FF2B5EF4-FFF2-40B4-BE49-F238E27FC236}">
                <a16:creationId xmlns:a16="http://schemas.microsoft.com/office/drawing/2014/main" id="{F9C978C7-DB1B-47F8-84FC-25F197097C5E}"/>
              </a:ext>
            </a:extLst>
          </p:cNvPr>
          <p:cNvSpPr>
            <a:spLocks xmlns:a="http://schemas.openxmlformats.org/drawingml/2006/main" noGrp="1"/>
          </p:cNvSpPr>
          <p:nvPr/>
        </p:nvSpPr>
        <p:spPr>
          <a:xfrm xmlns:a="http://schemas.openxmlformats.org/drawingml/2006/main">
            <a:off x="8839200" y="4095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Rejouer</a:t>
            </a:r>
          </a:p>
        </p:txBody>
      </p:sp>
      <p:sp>
        <p:nvSpPr>
          <p:cNvPr id="23" name="quality-b-3">
            <a:extLst xmlns:a="http://schemas.openxmlformats.org/drawingml/2006/main">
              <a:ext uri="{FF2B5EF4-FFF2-40B4-BE49-F238E27FC236}">
                <a16:creationId xmlns:a16="http://schemas.microsoft.com/office/drawing/2014/main" id="{30234EA4-19FE-4BC0-828E-B416C2122C4E}"/>
              </a:ext>
            </a:extLst>
          </p:cNvPr>
          <p:cNvSpPr>
            <a:spLocks xmlns:a="http://schemas.openxmlformats.org/drawingml/2006/main" noGrp="1"/>
          </p:cNvSpPr>
          <p:nvPr/>
        </p:nvSpPr>
        <p:spPr>
          <a:xfrm xmlns:a="http://schemas.openxmlformats.org/drawingml/2006/main">
            <a:off x="8839200" y="45339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chargement replace : même batch, même résultat</a:t>
            </a:r>
          </a:p>
        </p:txBody>
      </p:sp>
      <p:sp>
        <p:nvSpPr>
          <p:cNvPr id="24" name="quality-foot">
            <a:extLst xmlns:a="http://schemas.openxmlformats.org/drawingml/2006/main">
              <a:ext uri="{FF2B5EF4-FFF2-40B4-BE49-F238E27FC236}">
                <a16:creationId xmlns:a16="http://schemas.microsoft.com/office/drawing/2014/main" id="{F6F017CD-4672-417F-88F1-66EE31DBC4E6}"/>
              </a:ext>
            </a:extLst>
          </p:cNvPr>
          <p:cNvSpPr>
            <a:spLocks xmlns:a="http://schemas.openxmlformats.org/drawingml/2006/main" noGrp="1"/>
          </p:cNvSpPr>
          <p:nvPr/>
        </p:nvSpPr>
        <p:spPr>
          <a:xfrm xmlns:a="http://schemas.openxmlformats.org/drawingml/2006/main">
            <a:off x="609600" y="5772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F6F5F"/>
                </a:solidFill>
              </a:defRPr>
            </a:pPr>
            <a:r>
              <a:rPr sz="1425" b="1">
                <a:solidFill>
                  <a:srgbClr val="1F6F5F"/>
                </a:solidFill>
              </a:rPr>
              <a:t>La preuve prioritaire est la base finale — pas le nombre de lignes supprimées.</a:t>
            </a:r>
          </a:p>
        </p:txBody>
      </p:sp>
    </p:spTree>
    <p:extLst>
      <p:ext uri="{BB962C8B-B14F-4D97-AF65-F5344CB8AC3E}">
        <p14:creationId xmlns:p14="http://schemas.microsoft.com/office/powerpoint/2010/main" val="164110603"/>
      </p:ext>
    </p:extLst>
  </p:cSld>
</p:sld>
</file>

<file path=ppt/slides/slide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2" name="kicker-6">
            <a:extLst xmlns:a="http://schemas.openxmlformats.org/drawingml/2006/main">
              <a:ext uri="{FF2B5EF4-FFF2-40B4-BE49-F238E27FC236}">
                <a16:creationId xmlns:a16="http://schemas.microsoft.com/office/drawing/2014/main" id="{CA278AAD-1EB2-492D-88DA-986727596C77}"/>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CALCUL DISTRIBUÉ</a:t>
            </a:r>
          </a:p>
        </p:txBody>
      </p:sp>
      <p:sp>
        <p:nvSpPr>
          <p:cNvPr id="2" name="title-6">
            <a:extLst xmlns:a="http://schemas.openxmlformats.org/drawingml/2006/main">
              <a:ext uri="{FF2B5EF4-FFF2-40B4-BE49-F238E27FC236}">
                <a16:creationId xmlns:a16="http://schemas.microsoft.com/office/drawing/2014/main" id="{11B5B681-1FCC-473D-AE0F-8D3F7511DB7D}"/>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Spark réduit 1,88 million de faits à 94 agrégats</a:t>
            </a:r>
          </a:p>
        </p:txBody>
      </p:sp>
      <p:sp>
        <p:nvSpPr>
          <p:cNvPr id="3" name="rule-6">
            <a:extLst xmlns:a="http://schemas.openxmlformats.org/drawingml/2006/main">
              <a:ext uri="{FF2B5EF4-FFF2-40B4-BE49-F238E27FC236}">
                <a16:creationId xmlns:a16="http://schemas.microsoft.com/office/drawing/2014/main" id="{6FE326BB-1536-4325-B467-372F0F237A9B}"/>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6">
            <a:extLst xmlns:a="http://schemas.openxmlformats.org/drawingml/2006/main">
              <a:ext uri="{FF2B5EF4-FFF2-40B4-BE49-F238E27FC236}">
                <a16:creationId xmlns:a16="http://schemas.microsoft.com/office/drawing/2014/main" id="{2728FAAE-E858-4E86-91AB-1EC2551C4A1D}"/>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06</a:t>
            </a:r>
          </a:p>
        </p:txBody>
      </p:sp>
      <p:sp>
        <p:nvSpPr>
          <p:cNvPr id="5" name="spark-arrow-a">
            <a:extLst xmlns:a="http://schemas.openxmlformats.org/drawingml/2006/main">
              <a:ext uri="{FF2B5EF4-FFF2-40B4-BE49-F238E27FC236}">
                <a16:creationId xmlns:a16="http://schemas.microsoft.com/office/drawing/2014/main" id="{DB65209F-1768-49B6-9102-EB6C8014209A}"/>
              </a:ext>
            </a:extLst>
          </p:cNvPr>
          <p:cNvSpPr>
            <a:spLocks xmlns:a="http://schemas.openxmlformats.org/drawingml/2006/main" noGrp="1"/>
          </p:cNvSpPr>
          <p:nvPr/>
        </p:nvSpPr>
        <p:spPr>
          <a:xfrm xmlns:a="http://schemas.openxmlformats.org/drawingml/2006/main">
            <a:off x="2905125" y="3028950"/>
            <a:ext cx="1724025"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spark-arrow-b">
            <a:extLst xmlns:a="http://schemas.openxmlformats.org/drawingml/2006/main">
              <a:ext uri="{FF2B5EF4-FFF2-40B4-BE49-F238E27FC236}">
                <a16:creationId xmlns:a16="http://schemas.microsoft.com/office/drawing/2014/main" id="{01D2D5A9-DCBC-4E0B-B899-B8E292E95327}"/>
              </a:ext>
            </a:extLst>
          </p:cNvPr>
          <p:cNvSpPr>
            <a:spLocks xmlns:a="http://schemas.openxmlformats.org/drawingml/2006/main" noGrp="1"/>
          </p:cNvSpPr>
          <p:nvPr/>
        </p:nvSpPr>
        <p:spPr>
          <a:xfrm xmlns:a="http://schemas.openxmlformats.org/drawingml/2006/main">
            <a:off x="7277100" y="3028950"/>
            <a:ext cx="175260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spark-input">
            <a:extLst xmlns:a="http://schemas.openxmlformats.org/drawingml/2006/main">
              <a:ext uri="{FF2B5EF4-FFF2-40B4-BE49-F238E27FC236}">
                <a16:creationId xmlns:a16="http://schemas.microsoft.com/office/drawing/2014/main" id="{6B2864D1-9FDF-4CC1-BD65-B5B60EC932FC}"/>
              </a:ext>
            </a:extLst>
          </p:cNvPr>
          <p:cNvSpPr>
            <a:spLocks xmlns:a="http://schemas.openxmlformats.org/drawingml/2006/main" noGrp="1"/>
          </p:cNvSpPr>
          <p:nvPr/>
        </p:nvSpPr>
        <p:spPr>
          <a:xfrm xmlns:a="http://schemas.openxmlformats.org/drawingml/2006/main">
            <a:off x="666750" y="2152650"/>
            <a:ext cx="2238375" cy="17526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5D1"/>
            </a:solidFill>
            <a:prstDash val="solid"/>
          </a:ln>
        </p:spPr>
      </p:sp>
      <p:sp>
        <p:nvSpPr>
          <p:cNvPr id="8" name="spark-input-v">
            <a:extLst xmlns:a="http://schemas.openxmlformats.org/drawingml/2006/main">
              <a:ext uri="{FF2B5EF4-FFF2-40B4-BE49-F238E27FC236}">
                <a16:creationId xmlns:a16="http://schemas.microsoft.com/office/drawing/2014/main" id="{87EC4EB0-B8D7-4619-864A-FD5DE43444E8}"/>
              </a:ext>
            </a:extLst>
          </p:cNvPr>
          <p:cNvSpPr>
            <a:spLocks xmlns:a="http://schemas.openxmlformats.org/drawingml/2006/main" noGrp="1"/>
          </p:cNvSpPr>
          <p:nvPr/>
        </p:nvSpPr>
        <p:spPr>
          <a:xfrm xmlns:a="http://schemas.openxmlformats.org/drawingml/2006/main">
            <a:off x="914400" y="2476500"/>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a:solidFill>
                  <a:srgbClr val="102A2A"/>
                </a:solidFill>
              </a:defRPr>
            </a:pPr>
            <a:r>
              <a:rPr sz="2325" b="1">
                <a:solidFill>
                  <a:srgbClr val="102A2A"/>
                </a:solidFill>
              </a:rPr>
              <a:t>1 884 593</a:t>
            </a:r>
          </a:p>
        </p:txBody>
      </p:sp>
      <p:sp>
        <p:nvSpPr>
          <p:cNvPr id="9" name="spark-input-l">
            <a:extLst xmlns:a="http://schemas.openxmlformats.org/drawingml/2006/main">
              <a:ext uri="{FF2B5EF4-FFF2-40B4-BE49-F238E27FC236}">
                <a16:creationId xmlns:a16="http://schemas.microsoft.com/office/drawing/2014/main" id="{946AE47D-81C0-4404-A994-797EDFCBE7B5}"/>
              </a:ext>
            </a:extLst>
          </p:cNvPr>
          <p:cNvSpPr>
            <a:spLocks xmlns:a="http://schemas.openxmlformats.org/drawingml/2006/main" noGrp="1"/>
          </p:cNvSpPr>
          <p:nvPr/>
        </p:nvSpPr>
        <p:spPr>
          <a:xfrm xmlns:a="http://schemas.openxmlformats.org/drawingml/2006/main">
            <a:off x="914400" y="3105150"/>
            <a:ext cx="1771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2706D"/>
                </a:solidFill>
              </a:defRPr>
            </a:pPr>
            <a:r>
              <a:rPr sz="1350" b="0">
                <a:solidFill>
                  <a:srgbClr val="62706D"/>
                </a:solidFill>
              </a:rPr>
              <a:t>transactions DVF</a:t>
            </a:r>
          </a:p>
        </p:txBody>
      </p:sp>
      <p:sp>
        <p:nvSpPr>
          <p:cNvPr id="10" name="spark-cluster">
            <a:extLst xmlns:a="http://schemas.openxmlformats.org/drawingml/2006/main">
              <a:ext uri="{FF2B5EF4-FFF2-40B4-BE49-F238E27FC236}">
                <a16:creationId xmlns:a16="http://schemas.microsoft.com/office/drawing/2014/main" id="{9B6AF775-6AD1-4F13-A276-1AD6C808ACA5}"/>
              </a:ext>
            </a:extLst>
          </p:cNvPr>
          <p:cNvSpPr>
            <a:spLocks xmlns:a="http://schemas.openxmlformats.org/drawingml/2006/main" noGrp="1"/>
          </p:cNvSpPr>
          <p:nvPr/>
        </p:nvSpPr>
        <p:spPr>
          <a:xfrm xmlns:a="http://schemas.openxmlformats.org/drawingml/2006/main">
            <a:off x="4629150" y="1752600"/>
            <a:ext cx="2647950" cy="2552700"/>
          </a:xfrm>
          <a:prstGeom xmlns:a="http://schemas.openxmlformats.org/drawingml/2006/main" prst="roundRect">
            <a:avLst>
              <a:gd name="adj" fmla="val 8209"/>
            </a:avLst>
          </a:prstGeom>
          <a:solidFill xmlns:a="http://schemas.openxmlformats.org/drawingml/2006/main">
            <a:srgbClr val="153D3A"/>
          </a:solidFill>
          <a:ln xmlns:a="http://schemas.openxmlformats.org/drawingml/2006/main" w="11430">
            <a:solidFill>
              <a:srgbClr val="153D3A"/>
            </a:solidFill>
            <a:prstDash val="solid"/>
          </a:ln>
        </p:spPr>
      </p:sp>
      <p:sp>
        <p:nvSpPr>
          <p:cNvPr id="11" name="spark-master">
            <a:extLst xmlns:a="http://schemas.openxmlformats.org/drawingml/2006/main">
              <a:ext uri="{FF2B5EF4-FFF2-40B4-BE49-F238E27FC236}">
                <a16:creationId xmlns:a16="http://schemas.microsoft.com/office/drawing/2014/main" id="{701A9D35-6B0A-4E23-BF75-6AAA6280864F}"/>
              </a:ext>
            </a:extLst>
          </p:cNvPr>
          <p:cNvSpPr>
            <a:spLocks xmlns:a="http://schemas.openxmlformats.org/drawingml/2006/main" noGrp="1"/>
          </p:cNvSpPr>
          <p:nvPr/>
        </p:nvSpPr>
        <p:spPr>
          <a:xfrm xmlns:a="http://schemas.openxmlformats.org/drawingml/2006/main">
            <a:off x="5086350" y="203835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FFFFF"/>
                </a:solidFill>
              </a:defRPr>
            </a:pPr>
            <a:r>
              <a:rPr sz="1575" b="1">
                <a:solidFill>
                  <a:srgbClr val="FFFFFF"/>
                </a:solidFill>
              </a:rPr>
              <a:t>MASTER</a:t>
            </a:r>
          </a:p>
        </p:txBody>
      </p:sp>
      <p:sp>
        <p:nvSpPr>
          <p:cNvPr id="12" name="worker1">
            <a:extLst xmlns:a="http://schemas.openxmlformats.org/drawingml/2006/main">
              <a:ext uri="{FF2B5EF4-FFF2-40B4-BE49-F238E27FC236}">
                <a16:creationId xmlns:a16="http://schemas.microsoft.com/office/drawing/2014/main" id="{8A27509A-F18B-4E71-9916-39822FCE9A9B}"/>
              </a:ext>
            </a:extLst>
          </p:cNvPr>
          <p:cNvSpPr>
            <a:spLocks xmlns:a="http://schemas.openxmlformats.org/drawingml/2006/main" noGrp="1"/>
          </p:cNvSpPr>
          <p:nvPr/>
        </p:nvSpPr>
        <p:spPr>
          <a:xfrm xmlns:a="http://schemas.openxmlformats.org/drawingml/2006/main">
            <a:off x="4914900" y="2705100"/>
            <a:ext cx="952500" cy="838200"/>
          </a:xfrm>
          <a:prstGeom xmlns:a="http://schemas.openxmlformats.org/drawingml/2006/main" prst="roundRect">
            <a:avLst>
              <a:gd name="adj" fmla="val 13636"/>
            </a:avLst>
          </a:prstGeom>
          <a:solidFill xmlns:a="http://schemas.openxmlformats.org/drawingml/2006/main">
            <a:srgbClr val="DCEDE7"/>
          </a:solidFill>
          <a:ln xmlns:a="http://schemas.openxmlformats.org/drawingml/2006/main" w="11430">
            <a:solidFill>
              <a:srgbClr val="DCEDE7"/>
            </a:solidFill>
            <a:prstDash val="solid"/>
          </a:ln>
        </p:spPr>
      </p:sp>
      <p:sp>
        <p:nvSpPr>
          <p:cNvPr id="13" name="worker2">
            <a:extLst xmlns:a="http://schemas.openxmlformats.org/drawingml/2006/main">
              <a:ext uri="{FF2B5EF4-FFF2-40B4-BE49-F238E27FC236}">
                <a16:creationId xmlns:a16="http://schemas.microsoft.com/office/drawing/2014/main" id="{82AC0884-8479-4C9F-ADF4-69D60F4DB768}"/>
              </a:ext>
            </a:extLst>
          </p:cNvPr>
          <p:cNvSpPr>
            <a:spLocks xmlns:a="http://schemas.openxmlformats.org/drawingml/2006/main" noGrp="1"/>
          </p:cNvSpPr>
          <p:nvPr/>
        </p:nvSpPr>
        <p:spPr>
          <a:xfrm xmlns:a="http://schemas.openxmlformats.org/drawingml/2006/main">
            <a:off x="6038850" y="2705100"/>
            <a:ext cx="952500" cy="838200"/>
          </a:xfrm>
          <a:prstGeom xmlns:a="http://schemas.openxmlformats.org/drawingml/2006/main" prst="roundRect">
            <a:avLst>
              <a:gd name="adj" fmla="val 13636"/>
            </a:avLst>
          </a:prstGeom>
          <a:solidFill xmlns:a="http://schemas.openxmlformats.org/drawingml/2006/main">
            <a:srgbClr val="DCEDE7"/>
          </a:solidFill>
          <a:ln xmlns:a="http://schemas.openxmlformats.org/drawingml/2006/main" w="11430">
            <a:solidFill>
              <a:srgbClr val="DCEDE7"/>
            </a:solidFill>
            <a:prstDash val="solid"/>
          </a:ln>
        </p:spPr>
      </p:sp>
      <p:sp>
        <p:nvSpPr>
          <p:cNvPr id="14" name="worker1t">
            <a:extLst xmlns:a="http://schemas.openxmlformats.org/drawingml/2006/main">
              <a:ext uri="{FF2B5EF4-FFF2-40B4-BE49-F238E27FC236}">
                <a16:creationId xmlns:a16="http://schemas.microsoft.com/office/drawing/2014/main" id="{4EF85F58-4DA7-4E61-A73A-3BFBE632E82C}"/>
              </a:ext>
            </a:extLst>
          </p:cNvPr>
          <p:cNvSpPr>
            <a:spLocks xmlns:a="http://schemas.openxmlformats.org/drawingml/2006/main" noGrp="1"/>
          </p:cNvSpPr>
          <p:nvPr/>
        </p:nvSpPr>
        <p:spPr>
          <a:xfrm xmlns:a="http://schemas.openxmlformats.org/drawingml/2006/main">
            <a:off x="4972050" y="2876550"/>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53D3A"/>
                </a:solidFill>
              </a:defRPr>
            </a:pPr>
            <a:r>
              <a:rPr sz="975" b="1">
                <a:solidFill>
                  <a:srgbClr val="153D3A"/>
                </a:solidFill>
              </a:rPr>
              <a:t>WORKER 1</a:t>
            </a:r>
          </a:p>
          <a:p xmlns:a="http://schemas.openxmlformats.org/drawingml/2006/main">
            <a:pPr algn="ctr">
              <a:defRPr sz="975" b="1">
                <a:solidFill>
                  <a:srgbClr val="153D3A"/>
                </a:solidFill>
              </a:defRPr>
            </a:pPr>
            <a:r>
              <a:rPr sz="975" b="1">
                <a:solidFill>
                  <a:srgbClr val="153D3A"/>
                </a:solidFill>
              </a:rPr>
              <a:t>1 cœur · 1 Gio</a:t>
            </a:r>
          </a:p>
        </p:txBody>
      </p:sp>
      <p:sp>
        <p:nvSpPr>
          <p:cNvPr id="15" name="worker2t">
            <a:extLst xmlns:a="http://schemas.openxmlformats.org/drawingml/2006/main">
              <a:ext uri="{FF2B5EF4-FFF2-40B4-BE49-F238E27FC236}">
                <a16:creationId xmlns:a16="http://schemas.microsoft.com/office/drawing/2014/main" id="{07DF5C17-0D70-4DCB-A093-CC015B975B60}"/>
              </a:ext>
            </a:extLst>
          </p:cNvPr>
          <p:cNvSpPr>
            <a:spLocks xmlns:a="http://schemas.openxmlformats.org/drawingml/2006/main" noGrp="1"/>
          </p:cNvSpPr>
          <p:nvPr/>
        </p:nvSpPr>
        <p:spPr>
          <a:xfrm xmlns:a="http://schemas.openxmlformats.org/drawingml/2006/main">
            <a:off x="6096000" y="2876550"/>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53D3A"/>
                </a:solidFill>
              </a:defRPr>
            </a:pPr>
            <a:r>
              <a:rPr sz="975" b="1">
                <a:solidFill>
                  <a:srgbClr val="153D3A"/>
                </a:solidFill>
              </a:rPr>
              <a:t>WORKER 2</a:t>
            </a:r>
          </a:p>
          <a:p xmlns:a="http://schemas.openxmlformats.org/drawingml/2006/main">
            <a:pPr algn="ctr">
              <a:defRPr sz="975" b="1">
                <a:solidFill>
                  <a:srgbClr val="153D3A"/>
                </a:solidFill>
              </a:defRPr>
            </a:pPr>
            <a:r>
              <a:rPr sz="975" b="1">
                <a:solidFill>
                  <a:srgbClr val="153D3A"/>
                </a:solidFill>
              </a:rPr>
              <a:t>1 cœur · 1 Gio</a:t>
            </a:r>
          </a:p>
        </p:txBody>
      </p:sp>
      <p:sp>
        <p:nvSpPr>
          <p:cNvPr id="16" name="mono">
            <a:extLst xmlns:a="http://schemas.openxmlformats.org/drawingml/2006/main">
              <a:ext uri="{FF2B5EF4-FFF2-40B4-BE49-F238E27FC236}">
                <a16:creationId xmlns:a16="http://schemas.microsoft.com/office/drawing/2014/main" id="{5CBE6F04-5FF8-41EE-B9D7-D8B0C2CEC180}"/>
              </a:ext>
            </a:extLst>
          </p:cNvPr>
          <p:cNvSpPr>
            <a:spLocks xmlns:a="http://schemas.openxmlformats.org/drawingml/2006/main" noGrp="1"/>
          </p:cNvSpPr>
          <p:nvPr/>
        </p:nvSpPr>
        <p:spPr>
          <a:xfrm xmlns:a="http://schemas.openxmlformats.org/drawingml/2006/main">
            <a:off x="4781550" y="381000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E8D9BF"/>
                </a:solidFill>
              </a:defRPr>
            </a:pPr>
            <a:r>
              <a:rPr sz="1200" b="1">
                <a:solidFill>
                  <a:srgbClr val="E8D9BF"/>
                </a:solidFill>
              </a:rPr>
              <a:t>3 conteneurs · 1 machine physique</a:t>
            </a:r>
          </a:p>
        </p:txBody>
      </p:sp>
      <p:sp>
        <p:nvSpPr>
          <p:cNvPr id="17" name="spark-out">
            <a:extLst xmlns:a="http://schemas.openxmlformats.org/drawingml/2006/main">
              <a:ext uri="{FF2B5EF4-FFF2-40B4-BE49-F238E27FC236}">
                <a16:creationId xmlns:a16="http://schemas.microsoft.com/office/drawing/2014/main" id="{0E06EC85-A21C-49B7-A5E9-9BDFA4A4F89D}"/>
              </a:ext>
            </a:extLst>
          </p:cNvPr>
          <p:cNvSpPr>
            <a:spLocks xmlns:a="http://schemas.openxmlformats.org/drawingml/2006/main" noGrp="1"/>
          </p:cNvSpPr>
          <p:nvPr/>
        </p:nvSpPr>
        <p:spPr>
          <a:xfrm xmlns:a="http://schemas.openxmlformats.org/drawingml/2006/main">
            <a:off x="9029700" y="2152650"/>
            <a:ext cx="2476500" cy="17526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5D1"/>
            </a:solidFill>
            <a:prstDash val="solid"/>
          </a:ln>
        </p:spPr>
      </p:sp>
      <p:sp>
        <p:nvSpPr>
          <p:cNvPr id="18" name="spark-out-v">
            <a:extLst xmlns:a="http://schemas.openxmlformats.org/drawingml/2006/main">
              <a:ext uri="{FF2B5EF4-FFF2-40B4-BE49-F238E27FC236}">
                <a16:creationId xmlns:a16="http://schemas.microsoft.com/office/drawing/2014/main" id="{D0BDE02F-0BCC-41C7-813B-B30B3B683B34}"/>
              </a:ext>
            </a:extLst>
          </p:cNvPr>
          <p:cNvSpPr>
            <a:spLocks xmlns:a="http://schemas.openxmlformats.org/drawingml/2006/main" noGrp="1"/>
          </p:cNvSpPr>
          <p:nvPr/>
        </p:nvSpPr>
        <p:spPr>
          <a:xfrm xmlns:a="http://schemas.openxmlformats.org/drawingml/2006/main">
            <a:off x="9334500" y="2476500"/>
            <a:ext cx="186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D66B4D"/>
                </a:solidFill>
              </a:defRPr>
            </a:pPr>
            <a:r>
              <a:rPr sz="2550" b="1">
                <a:solidFill>
                  <a:srgbClr val="D66B4D"/>
                </a:solidFill>
              </a:rPr>
              <a:t>94</a:t>
            </a:r>
          </a:p>
        </p:txBody>
      </p:sp>
      <p:sp>
        <p:nvSpPr>
          <p:cNvPr id="19" name="spark-out-l">
            <a:extLst xmlns:a="http://schemas.openxmlformats.org/drawingml/2006/main">
              <a:ext uri="{FF2B5EF4-FFF2-40B4-BE49-F238E27FC236}">
                <a16:creationId xmlns:a16="http://schemas.microsoft.com/office/drawing/2014/main" id="{14B664A0-5894-48C5-AD44-C32C6CC4167B}"/>
              </a:ext>
            </a:extLst>
          </p:cNvPr>
          <p:cNvSpPr>
            <a:spLocks xmlns:a="http://schemas.openxmlformats.org/drawingml/2006/main" noGrp="1"/>
          </p:cNvSpPr>
          <p:nvPr/>
        </p:nvSpPr>
        <p:spPr>
          <a:xfrm xmlns:a="http://schemas.openxmlformats.org/drawingml/2006/main">
            <a:off x="9334500" y="3105150"/>
            <a:ext cx="186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2706D"/>
                </a:solidFill>
              </a:defRPr>
            </a:pPr>
            <a:r>
              <a:rPr sz="1350" b="0">
                <a:solidFill>
                  <a:srgbClr val="62706D"/>
                </a:solidFill>
              </a:rPr>
              <a:t>agrégats départementaux</a:t>
            </a:r>
          </a:p>
        </p:txBody>
      </p:sp>
      <p:sp>
        <p:nvSpPr>
          <p:cNvPr id="20" name="spark-chain">
            <a:extLst xmlns:a="http://schemas.openxmlformats.org/drawingml/2006/main">
              <a:ext uri="{FF2B5EF4-FFF2-40B4-BE49-F238E27FC236}">
                <a16:creationId xmlns:a16="http://schemas.microsoft.com/office/drawing/2014/main" id="{85151749-2DAC-4574-884D-F39776682760}"/>
              </a:ext>
            </a:extLst>
          </p:cNvPr>
          <p:cNvSpPr>
            <a:spLocks xmlns:a="http://schemas.openxmlformats.org/drawingml/2006/main" noGrp="1"/>
          </p:cNvSpPr>
          <p:nvPr/>
        </p:nvSpPr>
        <p:spPr>
          <a:xfrm xmlns:a="http://schemas.openxmlformats.org/drawingml/2006/main">
            <a:off x="1952625" y="4857750"/>
            <a:ext cx="828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02A2A"/>
                </a:solidFill>
              </a:defRPr>
            </a:pPr>
            <a:r>
              <a:rPr sz="1650" b="1">
                <a:solidFill>
                  <a:srgbClr val="102A2A"/>
                </a:solidFill>
              </a:rPr>
              <a:t>cast → filtre → prix/m² → groupBy(dept) → toPandas()</a:t>
            </a:r>
          </a:p>
        </p:txBody>
      </p:sp>
      <p:sp>
        <p:nvSpPr>
          <p:cNvPr id="21" name="spark-foot">
            <a:extLst xmlns:a="http://schemas.openxmlformats.org/drawingml/2006/main">
              <a:ext uri="{FF2B5EF4-FFF2-40B4-BE49-F238E27FC236}">
                <a16:creationId xmlns:a16="http://schemas.microsoft.com/office/drawing/2014/main" id="{520E76AD-7137-4940-B98E-E97009C39259}"/>
              </a:ext>
            </a:extLst>
          </p:cNvPr>
          <p:cNvSpPr>
            <a:spLocks xmlns:a="http://schemas.openxmlformats.org/drawingml/2006/main" noGrp="1"/>
          </p:cNvSpPr>
          <p:nvPr/>
        </p:nvSpPr>
        <p:spPr>
          <a:xfrm xmlns:a="http://schemas.openxmlformats.org/drawingml/2006/main">
            <a:off x="1809750" y="54292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F6F5F"/>
                </a:solidFill>
              </a:defRPr>
            </a:pPr>
            <a:r>
              <a:rPr sz="1350" b="0">
                <a:solidFill>
                  <a:srgbClr val="1F6F5F"/>
                </a:solidFill>
              </a:rPr>
              <a:t>toPandas() est sûr ici parce que seule la petite sortie agrégée revient au driver.</a:t>
            </a:r>
          </a:p>
        </p:txBody>
      </p:sp>
    </p:spTree>
    <p:extLst>
      <p:ext uri="{BB962C8B-B14F-4D97-AF65-F5344CB8AC3E}">
        <p14:creationId xmlns:p14="http://schemas.microsoft.com/office/powerpoint/2010/main" val="1851272672"/>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8" name="kicker-7">
            <a:extLst xmlns:a="http://schemas.openxmlformats.org/drawingml/2006/main">
              <a:ext uri="{FF2B5EF4-FFF2-40B4-BE49-F238E27FC236}">
                <a16:creationId xmlns:a16="http://schemas.microsoft.com/office/drawing/2014/main" id="{6FBD3805-0C4A-47A1-A4AB-4FBC8E16DC89}"/>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ARCHITECTURE DE STOCKAGE</a:t>
            </a:r>
          </a:p>
        </p:txBody>
      </p:sp>
      <p:sp>
        <p:nvSpPr>
          <p:cNvPr id="2" name="title-7">
            <a:extLst xmlns:a="http://schemas.openxmlformats.org/drawingml/2006/main">
              <a:ext uri="{FF2B5EF4-FFF2-40B4-BE49-F238E27FC236}">
                <a16:creationId xmlns:a16="http://schemas.microsoft.com/office/drawing/2014/main" id="{11F701BE-6362-4CA9-A8EC-EE77F302DBFF}"/>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Chaque stockage a un rôle explicite</a:t>
            </a:r>
          </a:p>
        </p:txBody>
      </p:sp>
      <p:sp>
        <p:nvSpPr>
          <p:cNvPr id="3" name="rule-7">
            <a:extLst xmlns:a="http://schemas.openxmlformats.org/drawingml/2006/main">
              <a:ext uri="{FF2B5EF4-FFF2-40B4-BE49-F238E27FC236}">
                <a16:creationId xmlns:a16="http://schemas.microsoft.com/office/drawing/2014/main" id="{4B4CB7A2-E536-4350-A156-764DBDCE9FC3}"/>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7">
            <a:extLst xmlns:a="http://schemas.openxmlformats.org/drawingml/2006/main">
              <a:ext uri="{FF2B5EF4-FFF2-40B4-BE49-F238E27FC236}">
                <a16:creationId xmlns:a16="http://schemas.microsoft.com/office/drawing/2014/main" id="{CCBEAB3F-8CDA-4939-9C0E-CE31D188E127}"/>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07</a:t>
            </a:r>
          </a:p>
        </p:txBody>
      </p:sp>
      <p:sp>
        <p:nvSpPr>
          <p:cNvPr id="5" name="sqlite-panel">
            <a:extLst xmlns:a="http://schemas.openxmlformats.org/drawingml/2006/main">
              <a:ext uri="{FF2B5EF4-FFF2-40B4-BE49-F238E27FC236}">
                <a16:creationId xmlns:a16="http://schemas.microsoft.com/office/drawing/2014/main" id="{8FC095C5-2044-4C3C-99C7-21E2C04E3288}"/>
              </a:ext>
            </a:extLst>
          </p:cNvPr>
          <p:cNvSpPr>
            <a:spLocks xmlns:a="http://schemas.openxmlformats.org/drawingml/2006/main" noGrp="1"/>
          </p:cNvSpPr>
          <p:nvPr/>
        </p:nvSpPr>
        <p:spPr>
          <a:xfrm xmlns:a="http://schemas.openxmlformats.org/drawingml/2006/main">
            <a:off x="609600" y="1657350"/>
            <a:ext cx="4762500" cy="3638550"/>
          </a:xfrm>
          <a:prstGeom xmlns:a="http://schemas.openxmlformats.org/drawingml/2006/main" prst="roundRect">
            <a:avLst>
              <a:gd name="adj" fmla="val 5759"/>
            </a:avLst>
          </a:prstGeom>
          <a:solidFill xmlns:a="http://schemas.openxmlformats.org/drawingml/2006/main">
            <a:srgbClr val="FFFFFF"/>
          </a:solidFill>
          <a:ln xmlns:a="http://schemas.openxmlformats.org/drawingml/2006/main" w="11430">
            <a:solidFill>
              <a:srgbClr val="C8D5D1"/>
            </a:solidFill>
            <a:prstDash val="solid"/>
          </a:ln>
        </p:spPr>
      </p:sp>
      <p:sp>
        <p:nvSpPr>
          <p:cNvPr id="6" name="sqlite-name">
            <a:extLst xmlns:a="http://schemas.openxmlformats.org/drawingml/2006/main">
              <a:ext uri="{FF2B5EF4-FFF2-40B4-BE49-F238E27FC236}">
                <a16:creationId xmlns:a16="http://schemas.microsoft.com/office/drawing/2014/main" id="{15B4220F-3E16-498A-9C5C-EDEB1CB30ED6}"/>
              </a:ext>
            </a:extLst>
          </p:cNvPr>
          <p:cNvSpPr>
            <a:spLocks xmlns:a="http://schemas.openxmlformats.org/drawingml/2006/main" noGrp="1"/>
          </p:cNvSpPr>
          <p:nvPr/>
        </p:nvSpPr>
        <p:spPr>
          <a:xfrm xmlns:a="http://schemas.openxmlformats.org/drawingml/2006/main">
            <a:off x="933450" y="19812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2A"/>
                </a:solidFill>
              </a:defRPr>
            </a:pPr>
            <a:r>
              <a:rPr sz="2250" b="1">
                <a:solidFill>
                  <a:srgbClr val="102A2A"/>
                </a:solidFill>
              </a:rPr>
              <a:t>SQLite</a:t>
            </a:r>
          </a:p>
        </p:txBody>
      </p:sp>
      <p:sp>
        <p:nvSpPr>
          <p:cNvPr id="7" name="sqlite-home">
            <a:extLst xmlns:a="http://schemas.openxmlformats.org/drawingml/2006/main">
              <a:ext uri="{FF2B5EF4-FFF2-40B4-BE49-F238E27FC236}">
                <a16:creationId xmlns:a16="http://schemas.microsoft.com/office/drawing/2014/main" id="{59337C25-2FAC-4FF7-9E5B-5A61C5204AEA}"/>
              </a:ext>
            </a:extLst>
          </p:cNvPr>
          <p:cNvSpPr>
            <a:spLocks xmlns:a="http://schemas.openxmlformats.org/drawingml/2006/main" noGrp="1"/>
          </p:cNvSpPr>
          <p:nvPr/>
        </p:nvSpPr>
        <p:spPr>
          <a:xfrm xmlns:a="http://schemas.openxmlformats.org/drawingml/2006/main">
            <a:off x="933450" y="2628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F6F5F"/>
                </a:solidFill>
              </a:defRPr>
            </a:pPr>
            <a:r>
              <a:rPr sz="1500" b="1">
                <a:solidFill>
                  <a:srgbClr val="1F6F5F"/>
                </a:solidFill>
              </a:rPr>
              <a:t>homepedia.db</a:t>
            </a:r>
          </a:p>
        </p:txBody>
      </p:sp>
      <p:sp>
        <p:nvSpPr>
          <p:cNvPr id="8" name="sqlite-home-body">
            <a:extLst xmlns:a="http://schemas.openxmlformats.org/drawingml/2006/main">
              <a:ext uri="{FF2B5EF4-FFF2-40B4-BE49-F238E27FC236}">
                <a16:creationId xmlns:a16="http://schemas.microsoft.com/office/drawing/2014/main" id="{49F5AEA8-1F69-4548-B9E1-91C0542C674C}"/>
              </a:ext>
            </a:extLst>
          </p:cNvPr>
          <p:cNvSpPr>
            <a:spLocks xmlns:a="http://schemas.openxmlformats.org/drawingml/2006/main" noGrp="1"/>
          </p:cNvSpPr>
          <p:nvPr/>
        </p:nvSpPr>
        <p:spPr>
          <a:xfrm xmlns:a="http://schemas.openxmlformats.org/drawingml/2006/main">
            <a:off x="933450" y="2990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06D"/>
                </a:solidFill>
              </a:defRPr>
            </a:pPr>
            <a:r>
              <a:rPr sz="1350" b="0">
                <a:solidFill>
                  <a:srgbClr val="62706D"/>
                </a:solidFill>
              </a:rPr>
              <a:t>faits DVF · indicateurs · agrégats</a:t>
            </a:r>
          </a:p>
        </p:txBody>
      </p:sp>
      <p:sp>
        <p:nvSpPr>
          <p:cNvPr id="9" name="sqlite-rt">
            <a:extLst xmlns:a="http://schemas.openxmlformats.org/drawingml/2006/main">
              <a:ext uri="{FF2B5EF4-FFF2-40B4-BE49-F238E27FC236}">
                <a16:creationId xmlns:a16="http://schemas.microsoft.com/office/drawing/2014/main" id="{11E1507B-7C05-4DDE-A480-70470B32CB67}"/>
              </a:ext>
            </a:extLst>
          </p:cNvPr>
          <p:cNvSpPr>
            <a:spLocks xmlns:a="http://schemas.openxmlformats.org/drawingml/2006/main" noGrp="1"/>
          </p:cNvSpPr>
          <p:nvPr/>
        </p:nvSpPr>
        <p:spPr>
          <a:xfrm xmlns:a="http://schemas.openxmlformats.org/drawingml/2006/main">
            <a:off x="933450" y="36766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F6F5F"/>
                </a:solidFill>
              </a:defRPr>
            </a:pPr>
            <a:r>
              <a:rPr sz="1500" b="1">
                <a:solidFill>
                  <a:srgbClr val="1F6F5F"/>
                </a:solidFill>
              </a:rPr>
              <a:t>realtime_price.db</a:t>
            </a:r>
          </a:p>
        </p:txBody>
      </p:sp>
      <p:sp>
        <p:nvSpPr>
          <p:cNvPr id="10" name="sqlite-rt-body">
            <a:extLst xmlns:a="http://schemas.openxmlformats.org/drawingml/2006/main">
              <a:ext uri="{FF2B5EF4-FFF2-40B4-BE49-F238E27FC236}">
                <a16:creationId xmlns:a16="http://schemas.microsoft.com/office/drawing/2014/main" id="{E5D2CDED-D046-4B79-B657-5500849D6E38}"/>
              </a:ext>
            </a:extLst>
          </p:cNvPr>
          <p:cNvSpPr>
            <a:spLocks xmlns:a="http://schemas.openxmlformats.org/drawingml/2006/main" noGrp="1"/>
          </p:cNvSpPr>
          <p:nvPr/>
        </p:nvSpPr>
        <p:spPr>
          <a:xfrm xmlns:a="http://schemas.openxmlformats.org/drawingml/2006/main">
            <a:off x="933450" y="40386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06D"/>
                </a:solidFill>
              </a:defRPr>
            </a:pPr>
            <a:r>
              <a:rPr sz="1350" b="0">
                <a:solidFill>
                  <a:srgbClr val="62706D"/>
                </a:solidFill>
              </a:rPr>
              <a:t>latest · history · runs</a:t>
            </a:r>
          </a:p>
        </p:txBody>
      </p:sp>
      <p:sp>
        <p:nvSpPr>
          <p:cNvPr id="11" name="sqlite-reliability">
            <a:extLst xmlns:a="http://schemas.openxmlformats.org/drawingml/2006/main">
              <a:ext uri="{FF2B5EF4-FFF2-40B4-BE49-F238E27FC236}">
                <a16:creationId xmlns:a16="http://schemas.microsoft.com/office/drawing/2014/main" id="{78A52E0E-7E0A-45F7-96E9-F971475BCE9B}"/>
              </a:ext>
            </a:extLst>
          </p:cNvPr>
          <p:cNvSpPr>
            <a:spLocks xmlns:a="http://schemas.openxmlformats.org/drawingml/2006/main" noGrp="1"/>
          </p:cNvSpPr>
          <p:nvPr/>
        </p:nvSpPr>
        <p:spPr>
          <a:xfrm xmlns:a="http://schemas.openxmlformats.org/drawingml/2006/main">
            <a:off x="933450" y="47244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6B4D"/>
                </a:solidFill>
              </a:defRPr>
            </a:pPr>
            <a:r>
              <a:rPr sz="1275" b="1">
                <a:solidFill>
                  <a:srgbClr val="D66B4D"/>
                </a:solidFill>
              </a:rPr>
              <a:t>Lecture seule Streamlit · 6 retries · busy_timeout · WAL</a:t>
            </a:r>
          </a:p>
        </p:txBody>
      </p:sp>
      <p:sp>
        <p:nvSpPr>
          <p:cNvPr id="12" name="mongo-panel">
            <a:extLst xmlns:a="http://schemas.openxmlformats.org/drawingml/2006/main">
              <a:ext uri="{FF2B5EF4-FFF2-40B4-BE49-F238E27FC236}">
                <a16:creationId xmlns:a16="http://schemas.microsoft.com/office/drawing/2014/main" id="{1F53EA93-E394-4386-9E1C-264C63CDDF15}"/>
              </a:ext>
            </a:extLst>
          </p:cNvPr>
          <p:cNvSpPr>
            <a:spLocks xmlns:a="http://schemas.openxmlformats.org/drawingml/2006/main" noGrp="1"/>
          </p:cNvSpPr>
          <p:nvPr/>
        </p:nvSpPr>
        <p:spPr>
          <a:xfrm xmlns:a="http://schemas.openxmlformats.org/drawingml/2006/main">
            <a:off x="6819900" y="1657350"/>
            <a:ext cx="4762500" cy="3638550"/>
          </a:xfrm>
          <a:prstGeom xmlns:a="http://schemas.openxmlformats.org/drawingml/2006/main" prst="roundRect">
            <a:avLst>
              <a:gd name="adj" fmla="val 5759"/>
            </a:avLst>
          </a:prstGeom>
          <a:solidFill xmlns:a="http://schemas.openxmlformats.org/drawingml/2006/main">
            <a:srgbClr val="153D3A"/>
          </a:solidFill>
          <a:ln xmlns:a="http://schemas.openxmlformats.org/drawingml/2006/main" w="11430">
            <a:solidFill>
              <a:srgbClr val="153D3A"/>
            </a:solidFill>
            <a:prstDash val="solid"/>
          </a:ln>
        </p:spPr>
      </p:sp>
      <p:sp>
        <p:nvSpPr>
          <p:cNvPr id="13" name="mongo-name">
            <a:extLst xmlns:a="http://schemas.openxmlformats.org/drawingml/2006/main">
              <a:ext uri="{FF2B5EF4-FFF2-40B4-BE49-F238E27FC236}">
                <a16:creationId xmlns:a16="http://schemas.microsoft.com/office/drawing/2014/main" id="{8A86F289-F347-41AD-9A8B-B437EA2D1F99}"/>
              </a:ext>
            </a:extLst>
          </p:cNvPr>
          <p:cNvSpPr>
            <a:spLocks xmlns:a="http://schemas.openxmlformats.org/drawingml/2006/main" noGrp="1"/>
          </p:cNvSpPr>
          <p:nvPr/>
        </p:nvSpPr>
        <p:spPr>
          <a:xfrm xmlns:a="http://schemas.openxmlformats.org/drawingml/2006/main">
            <a:off x="7143750" y="19812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MongoDB</a:t>
            </a:r>
          </a:p>
        </p:txBody>
      </p:sp>
      <p:sp>
        <p:nvSpPr>
          <p:cNvPr id="14" name="mongo-body">
            <a:extLst xmlns:a="http://schemas.openxmlformats.org/drawingml/2006/main">
              <a:ext uri="{FF2B5EF4-FFF2-40B4-BE49-F238E27FC236}">
                <a16:creationId xmlns:a16="http://schemas.microsoft.com/office/drawing/2014/main" id="{4B1C60FF-DFB7-477C-AB0B-14E0E5235ECF}"/>
              </a:ext>
            </a:extLst>
          </p:cNvPr>
          <p:cNvSpPr>
            <a:spLocks xmlns:a="http://schemas.openxmlformats.org/drawingml/2006/main" noGrp="1"/>
          </p:cNvSpPr>
          <p:nvPr/>
        </p:nvSpPr>
        <p:spPr>
          <a:xfrm xmlns:a="http://schemas.openxmlformats.org/drawingml/2006/main">
            <a:off x="7143750" y="2705100"/>
            <a:ext cx="381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DCEDE7"/>
                </a:solidFill>
              </a:defRPr>
            </a:pPr>
            <a:r>
              <a:rPr sz="1575" b="0">
                <a:solidFill>
                  <a:srgbClr val="DCEDE7"/>
                </a:solidFill>
              </a:rPr>
              <a:t>Brut de collecte</a:t>
            </a:r>
          </a:p>
          <a:p xmlns:a="http://schemas.openxmlformats.org/drawingml/2006/main">
            <a:pPr algn="l">
              <a:defRPr sz="1575" b="0">
                <a:solidFill>
                  <a:srgbClr val="DCEDE7"/>
                </a:solidFill>
              </a:defRPr>
            </a:pPr>
            <a:r>
              <a:rPr sz="1575" b="0">
                <a:solidFill>
                  <a:srgbClr val="DCEDE7"/>
                </a:solidFill>
              </a:rPr>
              <a:t>Observations idempotentes</a:t>
            </a:r>
          </a:p>
          <a:p xmlns:a="http://schemas.openxmlformats.org/drawingml/2006/main">
            <a:pPr algn="l">
              <a:defRPr sz="1575" b="0">
                <a:solidFill>
                  <a:srgbClr val="DCEDE7"/>
                </a:solidFill>
              </a:defRPr>
            </a:pPr>
            <a:r>
              <a:rPr sz="1575" b="0">
                <a:solidFill>
                  <a:srgbClr val="DCEDE7"/>
                </a:solidFill>
              </a:rPr>
              <a:t>Dernier état</a:t>
            </a:r>
          </a:p>
          <a:p xmlns:a="http://schemas.openxmlformats.org/drawingml/2006/main">
            <a:pPr algn="l">
              <a:defRPr sz="1575" b="0">
                <a:solidFill>
                  <a:srgbClr val="DCEDE7"/>
                </a:solidFill>
              </a:defRPr>
            </a:pPr>
            <a:r>
              <a:rPr sz="1575" b="0">
                <a:solidFill>
                  <a:srgbClr val="DCEDE7"/>
                </a:solidFill>
              </a:rPr>
              <a:t>Miroirs documentaires ciblés</a:t>
            </a:r>
          </a:p>
        </p:txBody>
      </p:sp>
      <p:sp>
        <p:nvSpPr>
          <p:cNvPr id="15" name="mongo-warning">
            <a:extLst xmlns:a="http://schemas.openxmlformats.org/drawingml/2006/main">
              <a:ext uri="{FF2B5EF4-FFF2-40B4-BE49-F238E27FC236}">
                <a16:creationId xmlns:a16="http://schemas.microsoft.com/office/drawing/2014/main" id="{B2E4CDAD-5E65-4542-83AD-A1B962FE8847}"/>
              </a:ext>
            </a:extLst>
          </p:cNvPr>
          <p:cNvSpPr>
            <a:spLocks xmlns:a="http://schemas.openxmlformats.org/drawingml/2006/main" noGrp="1"/>
          </p:cNvSpPr>
          <p:nvPr/>
        </p:nvSpPr>
        <p:spPr>
          <a:xfrm xmlns:a="http://schemas.openxmlformats.org/drawingml/2006/main">
            <a:off x="7143750" y="47244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E8D9BF"/>
                </a:solidFill>
              </a:defRPr>
            </a:pPr>
            <a:r>
              <a:rPr sz="1275" b="1">
                <a:solidFill>
                  <a:srgbClr val="E8D9BF"/>
                </a:solidFill>
              </a:rPr>
              <a:t>Complément documentaire — pas unique source de vérité</a:t>
            </a:r>
          </a:p>
        </p:txBody>
      </p:sp>
      <p:sp>
        <p:nvSpPr>
          <p:cNvPr id="16" name="contract">
            <a:extLst xmlns:a="http://schemas.openxmlformats.org/drawingml/2006/main">
              <a:ext uri="{FF2B5EF4-FFF2-40B4-BE49-F238E27FC236}">
                <a16:creationId xmlns:a16="http://schemas.microsoft.com/office/drawing/2014/main" id="{F98B7A85-D37C-4715-A72D-30801F4F06DF}"/>
              </a:ext>
            </a:extLst>
          </p:cNvPr>
          <p:cNvSpPr>
            <a:spLocks xmlns:a="http://schemas.openxmlformats.org/drawingml/2006/main" noGrp="1"/>
          </p:cNvSpPr>
          <p:nvPr/>
        </p:nvSpPr>
        <p:spPr>
          <a:xfrm xmlns:a="http://schemas.openxmlformats.org/drawingml/2006/main">
            <a:off x="4343400" y="5562600"/>
            <a:ext cx="3524250" cy="495300"/>
          </a:xfrm>
          <a:prstGeom xmlns:a="http://schemas.openxmlformats.org/drawingml/2006/main" prst="roundRect">
            <a:avLst>
              <a:gd name="adj" fmla="val 26923"/>
            </a:avLst>
          </a:prstGeom>
          <a:solidFill xmlns:a="http://schemas.openxmlformats.org/drawingml/2006/main">
            <a:srgbClr val="1F6F5F"/>
          </a:solidFill>
          <a:ln xmlns:a="http://schemas.openxmlformats.org/drawingml/2006/main" w="11430">
            <a:solidFill>
              <a:srgbClr val="1F6F5F"/>
            </a:solidFill>
            <a:prstDash val="solid"/>
          </a:ln>
        </p:spPr>
      </p:sp>
      <p:sp>
        <p:nvSpPr>
          <p:cNvPr id="17" name="contract-t">
            <a:extLst xmlns:a="http://schemas.openxmlformats.org/drawingml/2006/main">
              <a:ext uri="{FF2B5EF4-FFF2-40B4-BE49-F238E27FC236}">
                <a16:creationId xmlns:a16="http://schemas.microsoft.com/office/drawing/2014/main" id="{3293A288-9473-4F3A-8D2D-4B24CB66A84A}"/>
              </a:ext>
            </a:extLst>
          </p:cNvPr>
          <p:cNvSpPr>
            <a:spLocks xmlns:a="http://schemas.openxmlformats.org/drawingml/2006/main" noGrp="1"/>
          </p:cNvSpPr>
          <p:nvPr/>
        </p:nvSpPr>
        <p:spPr>
          <a:xfrm xmlns:a="http://schemas.openxmlformats.org/drawingml/2006/main">
            <a:off x="4581525" y="56864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Contrat canonique commun</a:t>
            </a:r>
          </a:p>
        </p:txBody>
      </p:sp>
    </p:spTree>
    <p:extLst>
      <p:ext uri="{BB962C8B-B14F-4D97-AF65-F5344CB8AC3E}">
        <p14:creationId xmlns:p14="http://schemas.microsoft.com/office/powerpoint/2010/main" val="805900718"/>
      </p:ext>
    </p:extLst>
  </p:cSld>
</p:sld>
</file>

<file path=ppt/slides/slide8.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7" name="kicker-8">
            <a:extLst xmlns:a="http://schemas.openxmlformats.org/drawingml/2006/main">
              <a:ext uri="{FF2B5EF4-FFF2-40B4-BE49-F238E27FC236}">
                <a16:creationId xmlns:a16="http://schemas.microsoft.com/office/drawing/2014/main" id="{1941A3EC-0D7A-44E1-9CEA-DD87FB441181}"/>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POLLING ET SIMULATION</a:t>
            </a:r>
          </a:p>
        </p:txBody>
      </p:sp>
      <p:sp>
        <p:nvSpPr>
          <p:cNvPr id="2" name="title-8">
            <a:extLst xmlns:a="http://schemas.openxmlformats.org/drawingml/2006/main">
              <a:ext uri="{FF2B5EF4-FFF2-40B4-BE49-F238E27FC236}">
                <a16:creationId xmlns:a16="http://schemas.microsoft.com/office/drawing/2014/main" id="{24583D2B-0331-4167-8413-11E6B4C83FBD}"/>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 “temps réel” est une collecte périodique contrôlée</a:t>
            </a:r>
          </a:p>
        </p:txBody>
      </p:sp>
      <p:sp>
        <p:nvSpPr>
          <p:cNvPr id="3" name="rule-8">
            <a:extLst xmlns:a="http://schemas.openxmlformats.org/drawingml/2006/main">
              <a:ext uri="{FF2B5EF4-FFF2-40B4-BE49-F238E27FC236}">
                <a16:creationId xmlns:a16="http://schemas.microsoft.com/office/drawing/2014/main" id="{C88A2406-C815-423B-A776-9A9F6B633A99}"/>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8">
            <a:extLst xmlns:a="http://schemas.openxmlformats.org/drawingml/2006/main">
              <a:ext uri="{FF2B5EF4-FFF2-40B4-BE49-F238E27FC236}">
                <a16:creationId xmlns:a16="http://schemas.microsoft.com/office/drawing/2014/main" id="{507A0FBB-51B3-4469-9AC7-8D794CFF24DF}"/>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08</a:t>
            </a:r>
          </a:p>
        </p:txBody>
      </p:sp>
      <p:sp>
        <p:nvSpPr>
          <p:cNvPr id="5" name="rt-a1">
            <a:extLst xmlns:a="http://schemas.openxmlformats.org/drawingml/2006/main">
              <a:ext uri="{FF2B5EF4-FFF2-40B4-BE49-F238E27FC236}">
                <a16:creationId xmlns:a16="http://schemas.microsoft.com/office/drawing/2014/main" id="{43FD50E7-344D-4F52-9A36-EB8743069D7F}"/>
              </a:ext>
            </a:extLst>
          </p:cNvPr>
          <p:cNvSpPr>
            <a:spLocks xmlns:a="http://schemas.openxmlformats.org/drawingml/2006/main" noGrp="1"/>
          </p:cNvSpPr>
          <p:nvPr/>
        </p:nvSpPr>
        <p:spPr>
          <a:xfrm xmlns:a="http://schemas.openxmlformats.org/drawingml/2006/main">
            <a:off x="2381250" y="2628900"/>
            <a:ext cx="133350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rt-a2">
            <a:extLst xmlns:a="http://schemas.openxmlformats.org/drawingml/2006/main">
              <a:ext uri="{FF2B5EF4-FFF2-40B4-BE49-F238E27FC236}">
                <a16:creationId xmlns:a16="http://schemas.microsoft.com/office/drawing/2014/main" id="{B4EF832A-F4B2-4C3F-910F-41D2038543C1}"/>
              </a:ext>
            </a:extLst>
          </p:cNvPr>
          <p:cNvSpPr>
            <a:spLocks xmlns:a="http://schemas.openxmlformats.org/drawingml/2006/main" noGrp="1"/>
          </p:cNvSpPr>
          <p:nvPr/>
        </p:nvSpPr>
        <p:spPr>
          <a:xfrm xmlns:a="http://schemas.openxmlformats.org/drawingml/2006/main">
            <a:off x="5715000" y="2628900"/>
            <a:ext cx="133350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rt-a3">
            <a:extLst xmlns:a="http://schemas.openxmlformats.org/drawingml/2006/main">
              <a:ext uri="{FF2B5EF4-FFF2-40B4-BE49-F238E27FC236}">
                <a16:creationId xmlns:a16="http://schemas.microsoft.com/office/drawing/2014/main" id="{93B19480-B39A-4484-B33D-BAF39C9F2F24}"/>
              </a:ext>
            </a:extLst>
          </p:cNvPr>
          <p:cNvSpPr>
            <a:spLocks xmlns:a="http://schemas.openxmlformats.org/drawingml/2006/main" noGrp="1"/>
          </p:cNvSpPr>
          <p:nvPr/>
        </p:nvSpPr>
        <p:spPr>
          <a:xfrm xmlns:a="http://schemas.openxmlformats.org/drawingml/2006/main">
            <a:off x="9048750" y="2628900"/>
            <a:ext cx="1190625"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8" name="rt-node-0">
            <a:extLst xmlns:a="http://schemas.openxmlformats.org/drawingml/2006/main">
              <a:ext uri="{FF2B5EF4-FFF2-40B4-BE49-F238E27FC236}">
                <a16:creationId xmlns:a16="http://schemas.microsoft.com/office/drawing/2014/main" id="{2967DC48-AC3B-404F-A160-CE9156D24912}"/>
              </a:ext>
            </a:extLst>
          </p:cNvPr>
          <p:cNvSpPr>
            <a:spLocks xmlns:a="http://schemas.openxmlformats.org/drawingml/2006/main" noGrp="1"/>
          </p:cNvSpPr>
          <p:nvPr/>
        </p:nvSpPr>
        <p:spPr>
          <a:xfrm xmlns:a="http://schemas.openxmlformats.org/drawingml/2006/main">
            <a:off x="685800" y="2038350"/>
            <a:ext cx="2000250" cy="1181100"/>
          </a:xfrm>
          <a:prstGeom xmlns:a="http://schemas.openxmlformats.org/drawingml/2006/main" prst="roundRect">
            <a:avLst>
              <a:gd name="adj" fmla="val 14516"/>
            </a:avLst>
          </a:prstGeom>
          <a:solidFill xmlns:a="http://schemas.openxmlformats.org/drawingml/2006/main">
            <a:srgbClr val="FFFFFF"/>
          </a:solidFill>
          <a:ln xmlns:a="http://schemas.openxmlformats.org/drawingml/2006/main" w="11430">
            <a:solidFill>
              <a:srgbClr val="C8D5D1"/>
            </a:solidFill>
            <a:prstDash val="solid"/>
          </a:ln>
        </p:spPr>
      </p:sp>
      <p:sp>
        <p:nvSpPr>
          <p:cNvPr id="9" name="rt-h-0">
            <a:extLst xmlns:a="http://schemas.openxmlformats.org/drawingml/2006/main">
              <a:ext uri="{FF2B5EF4-FFF2-40B4-BE49-F238E27FC236}">
                <a16:creationId xmlns:a16="http://schemas.microsoft.com/office/drawing/2014/main" id="{C23C10FA-7B2F-4B75-A4C6-946CA723680E}"/>
              </a:ext>
            </a:extLst>
          </p:cNvPr>
          <p:cNvSpPr>
            <a:spLocks xmlns:a="http://schemas.openxmlformats.org/drawingml/2006/main" noGrp="1"/>
          </p:cNvSpPr>
          <p:nvPr/>
        </p:nvSpPr>
        <p:spPr>
          <a:xfrm xmlns:a="http://schemas.openxmlformats.org/drawingml/2006/main">
            <a:off x="819150" y="22669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02A2A"/>
                </a:solidFill>
              </a:defRPr>
            </a:pPr>
            <a:r>
              <a:rPr sz="1350" b="1">
                <a:solidFill>
                  <a:srgbClr val="102A2A"/>
                </a:solidFill>
              </a:rPr>
              <a:t>Page HTML INSEE</a:t>
            </a:r>
          </a:p>
        </p:txBody>
      </p:sp>
      <p:sp>
        <p:nvSpPr>
          <p:cNvPr id="10" name="rt-b-0">
            <a:extLst xmlns:a="http://schemas.openxmlformats.org/drawingml/2006/main">
              <a:ext uri="{FF2B5EF4-FFF2-40B4-BE49-F238E27FC236}">
                <a16:creationId xmlns:a16="http://schemas.microsoft.com/office/drawing/2014/main" id="{3C55F0E8-50AB-4A6C-9258-4530047E2566}"/>
              </a:ext>
            </a:extLst>
          </p:cNvPr>
          <p:cNvSpPr>
            <a:spLocks xmlns:a="http://schemas.openxmlformats.org/drawingml/2006/main" noGrp="1"/>
          </p:cNvSpPr>
          <p:nvPr/>
        </p:nvSpPr>
        <p:spPr>
          <a:xfrm xmlns:a="http://schemas.openxmlformats.org/drawingml/2006/main">
            <a:off x="819150" y="26860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2706D"/>
                </a:solidFill>
              </a:defRPr>
            </a:pPr>
            <a:r>
              <a:rPr sz="1125" b="0">
                <a:solidFill>
                  <a:srgbClr val="62706D"/>
                </a:solidFill>
              </a:rPr>
              <a:t>indices trimestriels</a:t>
            </a:r>
          </a:p>
        </p:txBody>
      </p:sp>
      <p:sp>
        <p:nvSpPr>
          <p:cNvPr id="11" name="rt-node-1">
            <a:extLst xmlns:a="http://schemas.openxmlformats.org/drawingml/2006/main">
              <a:ext uri="{FF2B5EF4-FFF2-40B4-BE49-F238E27FC236}">
                <a16:creationId xmlns:a16="http://schemas.microsoft.com/office/drawing/2014/main" id="{8D4C91D0-231C-4638-AB3F-DB82A8587E70}"/>
              </a:ext>
            </a:extLst>
          </p:cNvPr>
          <p:cNvSpPr>
            <a:spLocks xmlns:a="http://schemas.openxmlformats.org/drawingml/2006/main" noGrp="1"/>
          </p:cNvSpPr>
          <p:nvPr/>
        </p:nvSpPr>
        <p:spPr>
          <a:xfrm xmlns:a="http://schemas.openxmlformats.org/drawingml/2006/main">
            <a:off x="3714750" y="2038350"/>
            <a:ext cx="2000250" cy="1181100"/>
          </a:xfrm>
          <a:prstGeom xmlns:a="http://schemas.openxmlformats.org/drawingml/2006/main" prst="roundRect">
            <a:avLst>
              <a:gd name="adj" fmla="val 14516"/>
            </a:avLst>
          </a:prstGeom>
          <a:solidFill xmlns:a="http://schemas.openxmlformats.org/drawingml/2006/main">
            <a:srgbClr val="153D3A"/>
          </a:solidFill>
          <a:ln xmlns:a="http://schemas.openxmlformats.org/drawingml/2006/main" w="11430">
            <a:solidFill>
              <a:srgbClr val="153D3A"/>
            </a:solidFill>
            <a:prstDash val="solid"/>
          </a:ln>
        </p:spPr>
      </p:sp>
      <p:sp>
        <p:nvSpPr>
          <p:cNvPr id="12" name="rt-h-1">
            <a:extLst xmlns:a="http://schemas.openxmlformats.org/drawingml/2006/main">
              <a:ext uri="{FF2B5EF4-FFF2-40B4-BE49-F238E27FC236}">
                <a16:creationId xmlns:a16="http://schemas.microsoft.com/office/drawing/2014/main" id="{2D2B85B8-ED9A-4716-86C7-7D8F74CB05EA}"/>
              </a:ext>
            </a:extLst>
          </p:cNvPr>
          <p:cNvSpPr>
            <a:spLocks xmlns:a="http://schemas.openxmlformats.org/drawingml/2006/main" noGrp="1"/>
          </p:cNvSpPr>
          <p:nvPr/>
        </p:nvSpPr>
        <p:spPr>
          <a:xfrm xmlns:a="http://schemas.openxmlformats.org/drawingml/2006/main">
            <a:off x="3848100" y="22669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Worker / 300 s</a:t>
            </a:r>
          </a:p>
        </p:txBody>
      </p:sp>
      <p:sp>
        <p:nvSpPr>
          <p:cNvPr id="13" name="rt-b-1">
            <a:extLst xmlns:a="http://schemas.openxmlformats.org/drawingml/2006/main">
              <a:ext uri="{FF2B5EF4-FFF2-40B4-BE49-F238E27FC236}">
                <a16:creationId xmlns:a16="http://schemas.microsoft.com/office/drawing/2014/main" id="{1993F547-A050-4B18-9C79-95FF3B3621D2}"/>
              </a:ext>
            </a:extLst>
          </p:cNvPr>
          <p:cNvSpPr>
            <a:spLocks xmlns:a="http://schemas.openxmlformats.org/drawingml/2006/main" noGrp="1"/>
          </p:cNvSpPr>
          <p:nvPr/>
        </p:nvSpPr>
        <p:spPr>
          <a:xfrm xmlns:a="http://schemas.openxmlformats.org/drawingml/2006/main">
            <a:off x="3848100" y="26860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DCEDE7"/>
                </a:solidFill>
              </a:defRPr>
            </a:pPr>
            <a:r>
              <a:rPr sz="1125" b="0">
                <a:solidFill>
                  <a:srgbClr val="DCEDE7"/>
                </a:solidFill>
              </a:rPr>
              <a:t>scraping + DQ</a:t>
            </a:r>
          </a:p>
        </p:txBody>
      </p:sp>
      <p:sp>
        <p:nvSpPr>
          <p:cNvPr id="14" name="rt-node-2">
            <a:extLst xmlns:a="http://schemas.openxmlformats.org/drawingml/2006/main">
              <a:ext uri="{FF2B5EF4-FFF2-40B4-BE49-F238E27FC236}">
                <a16:creationId xmlns:a16="http://schemas.microsoft.com/office/drawing/2014/main" id="{B7448952-E7D1-4549-9D0F-A635D40392A6}"/>
              </a:ext>
            </a:extLst>
          </p:cNvPr>
          <p:cNvSpPr>
            <a:spLocks xmlns:a="http://schemas.openxmlformats.org/drawingml/2006/main" noGrp="1"/>
          </p:cNvSpPr>
          <p:nvPr/>
        </p:nvSpPr>
        <p:spPr>
          <a:xfrm xmlns:a="http://schemas.openxmlformats.org/drawingml/2006/main">
            <a:off x="7048500" y="2038350"/>
            <a:ext cx="2000250" cy="1181100"/>
          </a:xfrm>
          <a:prstGeom xmlns:a="http://schemas.openxmlformats.org/drawingml/2006/main" prst="roundRect">
            <a:avLst>
              <a:gd name="adj" fmla="val 14516"/>
            </a:avLst>
          </a:prstGeom>
          <a:solidFill xmlns:a="http://schemas.openxmlformats.org/drawingml/2006/main">
            <a:srgbClr val="FFFFFF"/>
          </a:solidFill>
          <a:ln xmlns:a="http://schemas.openxmlformats.org/drawingml/2006/main" w="11430">
            <a:solidFill>
              <a:srgbClr val="C8D5D1"/>
            </a:solidFill>
            <a:prstDash val="solid"/>
          </a:ln>
        </p:spPr>
      </p:sp>
      <p:sp>
        <p:nvSpPr>
          <p:cNvPr id="15" name="rt-h-2">
            <a:extLst xmlns:a="http://schemas.openxmlformats.org/drawingml/2006/main">
              <a:ext uri="{FF2B5EF4-FFF2-40B4-BE49-F238E27FC236}">
                <a16:creationId xmlns:a16="http://schemas.microsoft.com/office/drawing/2014/main" id="{FBC50AE6-7B41-4E12-9C21-05427002B6E9}"/>
              </a:ext>
            </a:extLst>
          </p:cNvPr>
          <p:cNvSpPr>
            <a:spLocks xmlns:a="http://schemas.openxmlformats.org/drawingml/2006/main" noGrp="1"/>
          </p:cNvSpPr>
          <p:nvPr/>
        </p:nvSpPr>
        <p:spPr>
          <a:xfrm xmlns:a="http://schemas.openxmlformats.org/drawingml/2006/main">
            <a:off x="7181850" y="22669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02A2A"/>
                </a:solidFill>
              </a:defRPr>
            </a:pPr>
            <a:r>
              <a:rPr sz="1350" b="1">
                <a:solidFill>
                  <a:srgbClr val="102A2A"/>
                </a:solidFill>
              </a:rPr>
              <a:t>Double écriture</a:t>
            </a:r>
          </a:p>
        </p:txBody>
      </p:sp>
      <p:sp>
        <p:nvSpPr>
          <p:cNvPr id="16" name="rt-b-2">
            <a:extLst xmlns:a="http://schemas.openxmlformats.org/drawingml/2006/main">
              <a:ext uri="{FF2B5EF4-FFF2-40B4-BE49-F238E27FC236}">
                <a16:creationId xmlns:a16="http://schemas.microsoft.com/office/drawing/2014/main" id="{D72D2048-BAA8-4DEE-B4DF-9CA4B7726E02}"/>
              </a:ext>
            </a:extLst>
          </p:cNvPr>
          <p:cNvSpPr>
            <a:spLocks xmlns:a="http://schemas.openxmlformats.org/drawingml/2006/main" noGrp="1"/>
          </p:cNvSpPr>
          <p:nvPr/>
        </p:nvSpPr>
        <p:spPr>
          <a:xfrm xmlns:a="http://schemas.openxmlformats.org/drawingml/2006/main">
            <a:off x="7181850" y="26860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2706D"/>
                </a:solidFill>
              </a:defRPr>
            </a:pPr>
            <a:r>
              <a:rPr sz="1125" b="0">
                <a:solidFill>
                  <a:srgbClr val="62706D"/>
                </a:solidFill>
              </a:rPr>
              <a:t>SQLite puis MongoDB</a:t>
            </a:r>
          </a:p>
        </p:txBody>
      </p:sp>
      <p:sp>
        <p:nvSpPr>
          <p:cNvPr id="17" name="rt-node-3">
            <a:extLst xmlns:a="http://schemas.openxmlformats.org/drawingml/2006/main">
              <a:ext uri="{FF2B5EF4-FFF2-40B4-BE49-F238E27FC236}">
                <a16:creationId xmlns:a16="http://schemas.microsoft.com/office/drawing/2014/main" id="{68688C2C-F74C-479E-B8EB-C2A0A20CAC57}"/>
              </a:ext>
            </a:extLst>
          </p:cNvPr>
          <p:cNvSpPr>
            <a:spLocks xmlns:a="http://schemas.openxmlformats.org/drawingml/2006/main" noGrp="1"/>
          </p:cNvSpPr>
          <p:nvPr/>
        </p:nvSpPr>
        <p:spPr>
          <a:xfrm xmlns:a="http://schemas.openxmlformats.org/drawingml/2006/main">
            <a:off x="10239375" y="2038350"/>
            <a:ext cx="1333500" cy="1181100"/>
          </a:xfrm>
          <a:prstGeom xmlns:a="http://schemas.openxmlformats.org/drawingml/2006/main" prst="roundRect">
            <a:avLst>
              <a:gd name="adj" fmla="val 14516"/>
            </a:avLst>
          </a:prstGeom>
          <a:solidFill xmlns:a="http://schemas.openxmlformats.org/drawingml/2006/main">
            <a:srgbClr val="FFFFFF"/>
          </a:solidFill>
          <a:ln xmlns:a="http://schemas.openxmlformats.org/drawingml/2006/main" w="11430">
            <a:solidFill>
              <a:srgbClr val="C8D5D1"/>
            </a:solidFill>
            <a:prstDash val="solid"/>
          </a:ln>
        </p:spPr>
      </p:sp>
      <p:sp>
        <p:nvSpPr>
          <p:cNvPr id="18" name="rt-h-3">
            <a:extLst xmlns:a="http://schemas.openxmlformats.org/drawingml/2006/main">
              <a:ext uri="{FF2B5EF4-FFF2-40B4-BE49-F238E27FC236}">
                <a16:creationId xmlns:a16="http://schemas.microsoft.com/office/drawing/2014/main" id="{29923397-06ED-4850-BD27-1CCD25711D7F}"/>
              </a:ext>
            </a:extLst>
          </p:cNvPr>
          <p:cNvSpPr>
            <a:spLocks xmlns:a="http://schemas.openxmlformats.org/drawingml/2006/main" noGrp="1"/>
          </p:cNvSpPr>
          <p:nvPr/>
        </p:nvSpPr>
        <p:spPr>
          <a:xfrm xmlns:a="http://schemas.openxmlformats.org/drawingml/2006/main">
            <a:off x="10372725" y="22669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02A2A"/>
                </a:solidFill>
              </a:defRPr>
            </a:pPr>
            <a:r>
              <a:rPr sz="1350" b="1">
                <a:solidFill>
                  <a:srgbClr val="102A2A"/>
                </a:solidFill>
              </a:rPr>
              <a:t>Attente</a:t>
            </a:r>
          </a:p>
        </p:txBody>
      </p:sp>
      <p:sp>
        <p:nvSpPr>
          <p:cNvPr id="19" name="rt-b-3">
            <a:extLst xmlns:a="http://schemas.openxmlformats.org/drawingml/2006/main">
              <a:ext uri="{FF2B5EF4-FFF2-40B4-BE49-F238E27FC236}">
                <a16:creationId xmlns:a16="http://schemas.microsoft.com/office/drawing/2014/main" id="{25D2276F-3E83-49B6-900A-50BDD1B5D9DC}"/>
              </a:ext>
            </a:extLst>
          </p:cNvPr>
          <p:cNvSpPr>
            <a:spLocks xmlns:a="http://schemas.openxmlformats.org/drawingml/2006/main" noGrp="1"/>
          </p:cNvSpPr>
          <p:nvPr/>
        </p:nvSpPr>
        <p:spPr>
          <a:xfrm xmlns:a="http://schemas.openxmlformats.org/drawingml/2006/main">
            <a:off x="10372725" y="26860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2706D"/>
                </a:solidFill>
              </a:defRPr>
            </a:pPr>
            <a:r>
              <a:rPr sz="1125" b="0">
                <a:solidFill>
                  <a:srgbClr val="62706D"/>
                </a:solidFill>
              </a:rPr>
              <a:t>prochain cycle</a:t>
            </a:r>
          </a:p>
        </p:txBody>
      </p:sp>
      <p:sp>
        <p:nvSpPr>
          <p:cNvPr id="20" name="rt-stores">
            <a:extLst xmlns:a="http://schemas.openxmlformats.org/drawingml/2006/main">
              <a:ext uri="{FF2B5EF4-FFF2-40B4-BE49-F238E27FC236}">
                <a16:creationId xmlns:a16="http://schemas.microsoft.com/office/drawing/2014/main" id="{D7DF32F1-2A6E-4353-80C8-3A0870B4F112}"/>
              </a:ext>
            </a:extLst>
          </p:cNvPr>
          <p:cNvSpPr>
            <a:spLocks xmlns:a="http://schemas.openxmlformats.org/drawingml/2006/main" noGrp="1"/>
          </p:cNvSpPr>
          <p:nvPr/>
        </p:nvSpPr>
        <p:spPr>
          <a:xfrm xmlns:a="http://schemas.openxmlformats.org/drawingml/2006/main">
            <a:off x="1143000" y="3905250"/>
            <a:ext cx="5905500" cy="1390650"/>
          </a:xfrm>
          <a:prstGeom xmlns:a="http://schemas.openxmlformats.org/drawingml/2006/main" prst="roundRect">
            <a:avLst>
              <a:gd name="adj" fmla="val 12329"/>
            </a:avLst>
          </a:prstGeom>
          <a:solidFill xmlns:a="http://schemas.openxmlformats.org/drawingml/2006/main">
            <a:srgbClr val="DCEDE7"/>
          </a:solidFill>
          <a:ln xmlns:a="http://schemas.openxmlformats.org/drawingml/2006/main" w="11430">
            <a:solidFill>
              <a:srgbClr val="DCEDE7"/>
            </a:solidFill>
            <a:prstDash val="solid"/>
          </a:ln>
        </p:spPr>
      </p:sp>
      <p:sp>
        <p:nvSpPr>
          <p:cNvPr id="21" name="rt-stores-t">
            <a:extLst xmlns:a="http://schemas.openxmlformats.org/drawingml/2006/main">
              <a:ext uri="{FF2B5EF4-FFF2-40B4-BE49-F238E27FC236}">
                <a16:creationId xmlns:a16="http://schemas.microsoft.com/office/drawing/2014/main" id="{F396E0E1-985D-4BF6-983C-99EF36F51BA4}"/>
              </a:ext>
            </a:extLst>
          </p:cNvPr>
          <p:cNvSpPr>
            <a:spLocks xmlns:a="http://schemas.openxmlformats.org/drawingml/2006/main" noGrp="1"/>
          </p:cNvSpPr>
          <p:nvPr/>
        </p:nvSpPr>
        <p:spPr>
          <a:xfrm xmlns:a="http://schemas.openxmlformats.org/drawingml/2006/main">
            <a:off x="1428750" y="4171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53D3A"/>
                </a:solidFill>
              </a:defRPr>
            </a:pPr>
            <a:r>
              <a:rPr sz="1650" b="1">
                <a:solidFill>
                  <a:srgbClr val="153D3A"/>
                </a:solidFill>
              </a:rPr>
              <a:t>État et audit</a:t>
            </a:r>
          </a:p>
        </p:txBody>
      </p:sp>
      <p:sp>
        <p:nvSpPr>
          <p:cNvPr id="22" name="rt-stores-b">
            <a:extLst xmlns:a="http://schemas.openxmlformats.org/drawingml/2006/main">
              <a:ext uri="{FF2B5EF4-FFF2-40B4-BE49-F238E27FC236}">
                <a16:creationId xmlns:a16="http://schemas.microsoft.com/office/drawing/2014/main" id="{4B8F1B7B-3177-438C-B55A-08CA07CBF782}"/>
              </a:ext>
            </a:extLst>
          </p:cNvPr>
          <p:cNvSpPr>
            <a:spLocks xmlns:a="http://schemas.openxmlformats.org/drawingml/2006/main" noGrp="1"/>
          </p:cNvSpPr>
          <p:nvPr/>
        </p:nvSpPr>
        <p:spPr>
          <a:xfrm xmlns:a="http://schemas.openxmlformats.org/drawingml/2006/main">
            <a:off x="1428750" y="46672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53D3A"/>
                </a:solidFill>
              </a:defRPr>
            </a:pPr>
            <a:r>
              <a:rPr sz="1350" b="0">
                <a:solidFill>
                  <a:srgbClr val="153D3A"/>
                </a:solidFill>
              </a:rPr>
              <a:t>latest = état courant   ·   history = changements   ·   runs = chaque tentative</a:t>
            </a:r>
          </a:p>
        </p:txBody>
      </p:sp>
      <p:sp>
        <p:nvSpPr>
          <p:cNvPr id="23" name="rt-sim">
            <a:extLst xmlns:a="http://schemas.openxmlformats.org/drawingml/2006/main">
              <a:ext uri="{FF2B5EF4-FFF2-40B4-BE49-F238E27FC236}">
                <a16:creationId xmlns:a16="http://schemas.microsoft.com/office/drawing/2014/main" id="{DAFCD253-BD6F-48E8-BEC2-DD3C35B71D61}"/>
              </a:ext>
            </a:extLst>
          </p:cNvPr>
          <p:cNvSpPr>
            <a:spLocks xmlns:a="http://schemas.openxmlformats.org/drawingml/2006/main" noGrp="1"/>
          </p:cNvSpPr>
          <p:nvPr/>
        </p:nvSpPr>
        <p:spPr>
          <a:xfrm xmlns:a="http://schemas.openxmlformats.org/drawingml/2006/main">
            <a:off x="7524750" y="3905250"/>
            <a:ext cx="371475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11430">
            <a:solidFill>
              <a:srgbClr val="D66B4D"/>
            </a:solidFill>
            <a:prstDash val="solid"/>
          </a:ln>
        </p:spPr>
      </p:sp>
      <p:sp>
        <p:nvSpPr>
          <p:cNvPr id="24" name="rt-sim-t">
            <a:extLst xmlns:a="http://schemas.openxmlformats.org/drawingml/2006/main">
              <a:ext uri="{FF2B5EF4-FFF2-40B4-BE49-F238E27FC236}">
                <a16:creationId xmlns:a16="http://schemas.microsoft.com/office/drawing/2014/main" id="{3DD927CB-123E-4988-A676-32242624A98A}"/>
              </a:ext>
            </a:extLst>
          </p:cNvPr>
          <p:cNvSpPr>
            <a:spLocks xmlns:a="http://schemas.openxmlformats.org/drawingml/2006/main" noGrp="1"/>
          </p:cNvSpPr>
          <p:nvPr/>
        </p:nvSpPr>
        <p:spPr>
          <a:xfrm xmlns:a="http://schemas.openxmlformats.org/drawingml/2006/main">
            <a:off x="7810500" y="41719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2A"/>
                </a:solidFill>
              </a:defRPr>
            </a:pPr>
            <a:r>
              <a:rPr sz="1650" b="1">
                <a:solidFill>
                  <a:srgbClr val="102A2A"/>
                </a:solidFill>
              </a:rPr>
              <a:t>Simulation de démonstration</a:t>
            </a:r>
          </a:p>
        </p:txBody>
      </p:sp>
      <p:sp>
        <p:nvSpPr>
          <p:cNvPr id="25" name="rt-sim-b">
            <a:extLst xmlns:a="http://schemas.openxmlformats.org/drawingml/2006/main">
              <a:ext uri="{FF2B5EF4-FFF2-40B4-BE49-F238E27FC236}">
                <a16:creationId xmlns:a16="http://schemas.microsoft.com/office/drawing/2014/main" id="{9EE4D373-A560-4074-9900-C37F402B2F0E}"/>
              </a:ext>
            </a:extLst>
          </p:cNvPr>
          <p:cNvSpPr>
            <a:spLocks xmlns:a="http://schemas.openxmlformats.org/drawingml/2006/main" noGrp="1"/>
          </p:cNvSpPr>
          <p:nvPr/>
        </p:nvSpPr>
        <p:spPr>
          <a:xfrm xmlns:a="http://schemas.openxmlformats.org/drawingml/2006/main">
            <a:off x="7810500" y="46291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30 à 180 points · plusieurs scénarios</a:t>
            </a:r>
          </a:p>
          <a:p xmlns:a="http://schemas.openxmlformats.org/drawingml/2006/main">
            <a:pPr algn="l">
              <a:defRPr sz="1350" b="1">
                <a:solidFill>
                  <a:srgbClr val="D66B4D"/>
                </a:solidFill>
              </a:defRPr>
            </a:pPr>
            <a:r>
              <a:rPr sz="1350" b="1">
                <a:solidFill>
                  <a:srgbClr val="D66B4D"/>
                </a:solidFill>
              </a:rPr>
              <a:t>Jamais écrits dans les bases</a:t>
            </a:r>
          </a:p>
        </p:txBody>
      </p:sp>
      <p:sp>
        <p:nvSpPr>
          <p:cNvPr id="26" name="rt-foot">
            <a:extLst xmlns:a="http://schemas.openxmlformats.org/drawingml/2006/main">
              <a:ext uri="{FF2B5EF4-FFF2-40B4-BE49-F238E27FC236}">
                <a16:creationId xmlns:a16="http://schemas.microsoft.com/office/drawing/2014/main" id="{ABED7EFA-EE51-49B5-ADCD-623FBB6BE2AE}"/>
              </a:ext>
            </a:extLst>
          </p:cNvPr>
          <p:cNvSpPr>
            <a:spLocks xmlns:a="http://schemas.openxmlformats.org/drawingml/2006/main" noGrp="1"/>
          </p:cNvSpPr>
          <p:nvPr/>
        </p:nvSpPr>
        <p:spPr>
          <a:xfrm xmlns:a="http://schemas.openxmlformats.org/drawingml/2006/main">
            <a:off x="3000375" y="58102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F6F5F"/>
                </a:solidFill>
              </a:defRPr>
            </a:pPr>
            <a:r>
              <a:rPr sz="1350" b="1">
                <a:solidFill>
                  <a:srgbClr val="1F6F5F"/>
                </a:solidFill>
              </a:rPr>
              <a:t>Fréquence de collecte ≠ fréquence de publication · aucun Kafka</a:t>
            </a:r>
          </a:p>
        </p:txBody>
      </p:sp>
    </p:spTree>
    <p:extLst>
      <p:ext uri="{BB962C8B-B14F-4D97-AF65-F5344CB8AC3E}">
        <p14:creationId xmlns:p14="http://schemas.microsoft.com/office/powerpoint/2010/main" val="447530889"/>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8" name="kicker-9">
            <a:extLst xmlns:a="http://schemas.openxmlformats.org/drawingml/2006/main">
              <a:ext uri="{FF2B5EF4-FFF2-40B4-BE49-F238E27FC236}">
                <a16:creationId xmlns:a16="http://schemas.microsoft.com/office/drawing/2014/main" id="{A86D9FED-5AB7-4E2B-9F46-AB81C81093C5}"/>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INTERFACE STREAMLIT</a:t>
            </a:r>
          </a:p>
        </p:txBody>
      </p:sp>
      <p:sp>
        <p:nvSpPr>
          <p:cNvPr id="2" name="title-9">
            <a:extLst xmlns:a="http://schemas.openxmlformats.org/drawingml/2006/main">
              <a:ext uri="{FF2B5EF4-FFF2-40B4-BE49-F238E27FC236}">
                <a16:creationId xmlns:a16="http://schemas.microsoft.com/office/drawing/2014/main" id="{5094F67D-F169-4858-B12F-3F092DB93233}"/>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Un filtre, un périmètre, toutes les vues</a:t>
            </a:r>
          </a:p>
        </p:txBody>
      </p:sp>
      <p:sp>
        <p:nvSpPr>
          <p:cNvPr id="3" name="rule-9">
            <a:extLst xmlns:a="http://schemas.openxmlformats.org/drawingml/2006/main">
              <a:ext uri="{FF2B5EF4-FFF2-40B4-BE49-F238E27FC236}">
                <a16:creationId xmlns:a16="http://schemas.microsoft.com/office/drawing/2014/main" id="{EC3AF0DA-8A55-4E5C-A9DA-0AA4AA31738C}"/>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9">
            <a:extLst xmlns:a="http://schemas.openxmlformats.org/drawingml/2006/main">
              <a:ext uri="{FF2B5EF4-FFF2-40B4-BE49-F238E27FC236}">
                <a16:creationId xmlns:a16="http://schemas.microsoft.com/office/drawing/2014/main" id="{28EE3EA7-16B7-435B-AE0A-9CB847368103}"/>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09</a:t>
            </a:r>
          </a:p>
        </p:txBody>
      </p:sp>
      <p:sp>
        <p:nvSpPr>
          <p:cNvPr id="5" name="filter-rail">
            <a:extLst xmlns:a="http://schemas.openxmlformats.org/drawingml/2006/main">
              <a:ext uri="{FF2B5EF4-FFF2-40B4-BE49-F238E27FC236}">
                <a16:creationId xmlns:a16="http://schemas.microsoft.com/office/drawing/2014/main" id="{7C53FDB4-EE5B-4031-8B95-B9421761E11E}"/>
              </a:ext>
            </a:extLst>
          </p:cNvPr>
          <p:cNvSpPr>
            <a:spLocks xmlns:a="http://schemas.openxmlformats.org/drawingml/2006/main" noGrp="1"/>
          </p:cNvSpPr>
          <p:nvPr/>
        </p:nvSpPr>
        <p:spPr>
          <a:xfrm xmlns:a="http://schemas.openxmlformats.org/drawingml/2006/main">
            <a:off x="609600" y="1714500"/>
            <a:ext cx="2190750" cy="3714750"/>
          </a:xfrm>
          <a:prstGeom xmlns:a="http://schemas.openxmlformats.org/drawingml/2006/main" prst="roundRect">
            <a:avLst>
              <a:gd name="adj" fmla="val 8696"/>
            </a:avLst>
          </a:prstGeom>
          <a:solidFill xmlns:a="http://schemas.openxmlformats.org/drawingml/2006/main">
            <a:srgbClr val="153D3A"/>
          </a:solidFill>
          <a:ln xmlns:a="http://schemas.openxmlformats.org/drawingml/2006/main" w="11430">
            <a:solidFill>
              <a:srgbClr val="153D3A"/>
            </a:solidFill>
            <a:prstDash val="solid"/>
          </a:ln>
        </p:spPr>
      </p:sp>
      <p:sp>
        <p:nvSpPr>
          <p:cNvPr id="6" name="filter-title">
            <a:extLst xmlns:a="http://schemas.openxmlformats.org/drawingml/2006/main">
              <a:ext uri="{FF2B5EF4-FFF2-40B4-BE49-F238E27FC236}">
                <a16:creationId xmlns:a16="http://schemas.microsoft.com/office/drawing/2014/main" id="{50820D29-268E-433F-8D9D-2E5102B7959A}"/>
              </a:ext>
            </a:extLst>
          </p:cNvPr>
          <p:cNvSpPr>
            <a:spLocks xmlns:a="http://schemas.openxmlformats.org/drawingml/2006/main" noGrp="1"/>
          </p:cNvSpPr>
          <p:nvPr/>
        </p:nvSpPr>
        <p:spPr>
          <a:xfrm xmlns:a="http://schemas.openxmlformats.org/drawingml/2006/main">
            <a:off x="895350" y="20193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EDE7"/>
                </a:solidFill>
              </a:defRPr>
            </a:pPr>
            <a:r>
              <a:rPr sz="1200" b="1">
                <a:solidFill>
                  <a:srgbClr val="DCEDE7"/>
                </a:solidFill>
              </a:rPr>
              <a:t>FILTRES</a:t>
            </a:r>
          </a:p>
        </p:txBody>
      </p:sp>
      <p:sp>
        <p:nvSpPr>
          <p:cNvPr id="7" name="filter-list">
            <a:extLst xmlns:a="http://schemas.openxmlformats.org/drawingml/2006/main">
              <a:ext uri="{FF2B5EF4-FFF2-40B4-BE49-F238E27FC236}">
                <a16:creationId xmlns:a16="http://schemas.microsoft.com/office/drawing/2014/main" id="{1A6B1F03-377B-44FF-9AB7-CC63582D89F1}"/>
              </a:ext>
            </a:extLst>
          </p:cNvPr>
          <p:cNvSpPr>
            <a:spLocks xmlns:a="http://schemas.openxmlformats.org/drawingml/2006/main" noGrp="1"/>
          </p:cNvSpPr>
          <p:nvPr/>
        </p:nvSpPr>
        <p:spPr>
          <a:xfrm xmlns:a="http://schemas.openxmlformats.org/drawingml/2006/main">
            <a:off x="895350" y="2628900"/>
            <a:ext cx="1619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defRPr>
            </a:pPr>
            <a:r>
              <a:rPr sz="1650" b="0">
                <a:solidFill>
                  <a:srgbClr val="FFFFFF"/>
                </a:solidFill>
              </a:rPr>
              <a:t>Département</a:t>
            </a:r>
          </a:p>
          <a:p xmlns:a="http://schemas.openxmlformats.org/drawingml/2006/main">
            <a:pPr algn="l">
              <a:defRPr sz="1650" b="0">
                <a:solidFill>
                  <a:srgbClr val="FFFFFF"/>
                </a:solidFill>
              </a:defRPr>
            </a:pPr>
            <a:r>
              <a:rPr sz="1650" b="0">
                <a:solidFill>
                  <a:srgbClr val="FFFFFF"/>
                </a:solidFill>
              </a:rPr>
              <a:t>Type de bien</a:t>
            </a:r>
          </a:p>
          <a:p xmlns:a="http://schemas.openxmlformats.org/drawingml/2006/main">
            <a:pPr algn="l">
              <a:defRPr sz="1650" b="0">
                <a:solidFill>
                  <a:srgbClr val="FFFFFF"/>
                </a:solidFill>
              </a:defRPr>
            </a:pPr>
            <a:r>
              <a:rPr sz="1650" b="0">
                <a:solidFill>
                  <a:srgbClr val="FFFFFF"/>
                </a:solidFill>
              </a:rPr>
              <a:t>Prix / surface</a:t>
            </a:r>
          </a:p>
          <a:p xmlns:a="http://schemas.openxmlformats.org/drawingml/2006/main">
            <a:pPr algn="l">
              <a:defRPr sz="1650" b="0">
                <a:solidFill>
                  <a:srgbClr val="FFFFFF"/>
                </a:solidFill>
              </a:defRPr>
            </a:pPr>
            <a:r>
              <a:rPr sz="1650" b="0">
                <a:solidFill>
                  <a:srgbClr val="FFFFFF"/>
                </a:solidFill>
              </a:rPr>
              <a:t>Période</a:t>
            </a:r>
          </a:p>
        </p:txBody>
      </p:sp>
      <p:sp>
        <p:nvSpPr>
          <p:cNvPr id="8" name="filter-export">
            <a:extLst xmlns:a="http://schemas.openxmlformats.org/drawingml/2006/main">
              <a:ext uri="{FF2B5EF4-FFF2-40B4-BE49-F238E27FC236}">
                <a16:creationId xmlns:a16="http://schemas.microsoft.com/office/drawing/2014/main" id="{5A281A76-0F1C-4527-83AA-EA6F4372C83B}"/>
              </a:ext>
            </a:extLst>
          </p:cNvPr>
          <p:cNvSpPr>
            <a:spLocks xmlns:a="http://schemas.openxmlformats.org/drawingml/2006/main" noGrp="1"/>
          </p:cNvSpPr>
          <p:nvPr/>
        </p:nvSpPr>
        <p:spPr>
          <a:xfrm xmlns:a="http://schemas.openxmlformats.org/drawingml/2006/main">
            <a:off x="895350" y="48577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8D9BF"/>
                </a:solidFill>
              </a:defRPr>
            </a:pPr>
            <a:r>
              <a:rPr sz="1350" b="1">
                <a:solidFill>
                  <a:srgbClr val="E8D9BF"/>
                </a:solidFill>
              </a:rPr>
              <a:t>Export CSV</a:t>
            </a:r>
          </a:p>
        </p:txBody>
      </p:sp>
      <p:sp>
        <p:nvSpPr>
          <p:cNvPr id="9" name="ui-arrow">
            <a:extLst xmlns:a="http://schemas.openxmlformats.org/drawingml/2006/main">
              <a:ext uri="{FF2B5EF4-FFF2-40B4-BE49-F238E27FC236}">
                <a16:creationId xmlns:a16="http://schemas.microsoft.com/office/drawing/2014/main" id="{24DD4AD1-C36E-4B9C-B011-F86101A67B65}"/>
              </a:ext>
            </a:extLst>
          </p:cNvPr>
          <p:cNvSpPr>
            <a:spLocks xmlns:a="http://schemas.openxmlformats.org/drawingml/2006/main" noGrp="1"/>
          </p:cNvSpPr>
          <p:nvPr/>
        </p:nvSpPr>
        <p:spPr>
          <a:xfrm xmlns:a="http://schemas.openxmlformats.org/drawingml/2006/main">
            <a:off x="2800350" y="3543300"/>
            <a:ext cx="857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10" name="ui-main">
            <a:extLst xmlns:a="http://schemas.openxmlformats.org/drawingml/2006/main">
              <a:ext uri="{FF2B5EF4-FFF2-40B4-BE49-F238E27FC236}">
                <a16:creationId xmlns:a16="http://schemas.microsoft.com/office/drawing/2014/main" id="{BDA9E6CE-73F4-43E2-B80D-634148657E90}"/>
              </a:ext>
            </a:extLst>
          </p:cNvPr>
          <p:cNvSpPr>
            <a:spLocks xmlns:a="http://schemas.openxmlformats.org/drawingml/2006/main" noGrp="1"/>
          </p:cNvSpPr>
          <p:nvPr/>
        </p:nvSpPr>
        <p:spPr>
          <a:xfrm xmlns:a="http://schemas.openxmlformats.org/drawingml/2006/main">
            <a:off x="3657600" y="1714500"/>
            <a:ext cx="7924800" cy="371475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1430">
            <a:solidFill>
              <a:srgbClr val="C8D5D1"/>
            </a:solidFill>
            <a:prstDash val="solid"/>
          </a:ln>
        </p:spPr>
      </p:sp>
      <p:sp>
        <p:nvSpPr>
          <p:cNvPr id="11" name="ui-kpi">
            <a:extLst xmlns:a="http://schemas.openxmlformats.org/drawingml/2006/main">
              <a:ext uri="{FF2B5EF4-FFF2-40B4-BE49-F238E27FC236}">
                <a16:creationId xmlns:a16="http://schemas.microsoft.com/office/drawing/2014/main" id="{6AA04128-59A6-44F1-9019-229721941036}"/>
              </a:ext>
            </a:extLst>
          </p:cNvPr>
          <p:cNvSpPr>
            <a:spLocks xmlns:a="http://schemas.openxmlformats.org/drawingml/2006/main" noGrp="1"/>
          </p:cNvSpPr>
          <p:nvPr/>
        </p:nvSpPr>
        <p:spPr>
          <a:xfrm xmlns:a="http://schemas.openxmlformats.org/drawingml/2006/main">
            <a:off x="4038600" y="20764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2A"/>
                </a:solidFill>
              </a:defRPr>
            </a:pPr>
            <a:r>
              <a:rPr sz="1650" b="1">
                <a:solidFill>
                  <a:srgbClr val="102A2A"/>
                </a:solidFill>
              </a:rPr>
              <a:t>KPI</a:t>
            </a:r>
          </a:p>
        </p:txBody>
      </p:sp>
      <p:sp>
        <p:nvSpPr>
          <p:cNvPr id="12" name="ui-table">
            <a:extLst xmlns:a="http://schemas.openxmlformats.org/drawingml/2006/main">
              <a:ext uri="{FF2B5EF4-FFF2-40B4-BE49-F238E27FC236}">
                <a16:creationId xmlns:a16="http://schemas.microsoft.com/office/drawing/2014/main" id="{FC144FB8-9676-4444-AA04-B4B3E8CE0871}"/>
              </a:ext>
            </a:extLst>
          </p:cNvPr>
          <p:cNvSpPr>
            <a:spLocks xmlns:a="http://schemas.openxmlformats.org/drawingml/2006/main" noGrp="1"/>
          </p:cNvSpPr>
          <p:nvPr/>
        </p:nvSpPr>
        <p:spPr>
          <a:xfrm xmlns:a="http://schemas.openxmlformats.org/drawingml/2006/main">
            <a:off x="6286500" y="20764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2A"/>
                </a:solidFill>
              </a:defRPr>
            </a:pPr>
            <a:r>
              <a:rPr sz="1650" b="1">
                <a:solidFill>
                  <a:srgbClr val="102A2A"/>
                </a:solidFill>
              </a:rPr>
              <a:t>TABLEAUX</a:t>
            </a:r>
          </a:p>
        </p:txBody>
      </p:sp>
      <p:sp>
        <p:nvSpPr>
          <p:cNvPr id="13" name="ui-map">
            <a:extLst xmlns:a="http://schemas.openxmlformats.org/drawingml/2006/main">
              <a:ext uri="{FF2B5EF4-FFF2-40B4-BE49-F238E27FC236}">
                <a16:creationId xmlns:a16="http://schemas.microsoft.com/office/drawing/2014/main" id="{DA4328F5-CF5E-44A5-AC62-F90BA1B1A8AB}"/>
              </a:ext>
            </a:extLst>
          </p:cNvPr>
          <p:cNvSpPr>
            <a:spLocks xmlns:a="http://schemas.openxmlformats.org/drawingml/2006/main" noGrp="1"/>
          </p:cNvSpPr>
          <p:nvPr/>
        </p:nvSpPr>
        <p:spPr>
          <a:xfrm xmlns:a="http://schemas.openxmlformats.org/drawingml/2006/main">
            <a:off x="9163050" y="20764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2A"/>
                </a:solidFill>
              </a:defRPr>
            </a:pPr>
            <a:r>
              <a:rPr sz="1650" b="1">
                <a:solidFill>
                  <a:srgbClr val="102A2A"/>
                </a:solidFill>
              </a:rPr>
              <a:t>CARTES</a:t>
            </a:r>
          </a:p>
        </p:txBody>
      </p:sp>
      <p:sp>
        <p:nvSpPr>
          <p:cNvPr id="14" name="ui-mini-bg">
            <a:extLst xmlns:a="http://schemas.openxmlformats.org/drawingml/2006/main">
              <a:ext uri="{FF2B5EF4-FFF2-40B4-BE49-F238E27FC236}">
                <a16:creationId xmlns:a16="http://schemas.microsoft.com/office/drawing/2014/main" id="{D944B93D-24B0-4804-ABDA-E8653EDF109C}"/>
              </a:ext>
            </a:extLst>
          </p:cNvPr>
          <p:cNvSpPr>
            <a:spLocks xmlns:a="http://schemas.openxmlformats.org/drawingml/2006/main" noGrp="1"/>
          </p:cNvSpPr>
          <p:nvPr/>
        </p:nvSpPr>
        <p:spPr>
          <a:xfrm xmlns:a="http://schemas.openxmlformats.org/drawingml/2006/main">
            <a:off x="4000500" y="2628900"/>
            <a:ext cx="200025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15" name="ui-mini-accent">
            <a:extLst xmlns:a="http://schemas.openxmlformats.org/drawingml/2006/main">
              <a:ext uri="{FF2B5EF4-FFF2-40B4-BE49-F238E27FC236}">
                <a16:creationId xmlns:a16="http://schemas.microsoft.com/office/drawing/2014/main" id="{A2E8482E-C6A1-4560-B622-2AB94B03383A}"/>
              </a:ext>
            </a:extLst>
          </p:cNvPr>
          <p:cNvSpPr>
            <a:spLocks xmlns:a="http://schemas.openxmlformats.org/drawingml/2006/main" noGrp="1"/>
          </p:cNvSpPr>
          <p:nvPr/>
        </p:nvSpPr>
        <p:spPr>
          <a:xfrm xmlns:a="http://schemas.openxmlformats.org/drawingml/2006/main">
            <a:off x="4000500" y="2628900"/>
            <a:ext cx="95250" cy="1409700"/>
          </a:xfrm>
          <a:prstGeom xmlns:a="http://schemas.openxmlformats.org/drawingml/2006/main" prst="roundRect">
            <a:avLst>
              <a:gd name="adj" fmla="val 50000"/>
            </a:avLst>
          </a:prstGeom>
          <a:solidFill xmlns:a="http://schemas.openxmlformats.org/drawingml/2006/main">
            <a:srgbClr val="1F6F5F"/>
          </a:solidFill>
          <a:ln xmlns:a="http://schemas.openxmlformats.org/drawingml/2006/main" w="11430">
            <a:solidFill>
              <a:srgbClr val="1F6F5F"/>
            </a:solidFill>
            <a:prstDash val="solid"/>
          </a:ln>
        </p:spPr>
      </p:sp>
      <p:sp>
        <p:nvSpPr>
          <p:cNvPr id="16" name="ui-mini-value">
            <a:extLst xmlns:a="http://schemas.openxmlformats.org/drawingml/2006/main">
              <a:ext uri="{FF2B5EF4-FFF2-40B4-BE49-F238E27FC236}">
                <a16:creationId xmlns:a16="http://schemas.microsoft.com/office/drawing/2014/main" id="{D04E5137-86ED-4B4E-BDED-6B1CADBBDA27}"/>
              </a:ext>
            </a:extLst>
          </p:cNvPr>
          <p:cNvSpPr>
            <a:spLocks xmlns:a="http://schemas.openxmlformats.org/drawingml/2006/main" noGrp="1"/>
          </p:cNvSpPr>
          <p:nvPr/>
        </p:nvSpPr>
        <p:spPr>
          <a:xfrm xmlns:a="http://schemas.openxmlformats.org/drawingml/2006/main">
            <a:off x="4267200" y="2838450"/>
            <a:ext cx="1562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1,88 M</a:t>
            </a:r>
          </a:p>
        </p:txBody>
      </p:sp>
      <p:sp>
        <p:nvSpPr>
          <p:cNvPr id="17" name="ui-mini-label">
            <a:extLst xmlns:a="http://schemas.openxmlformats.org/drawingml/2006/main">
              <a:ext uri="{FF2B5EF4-FFF2-40B4-BE49-F238E27FC236}">
                <a16:creationId xmlns:a16="http://schemas.microsoft.com/office/drawing/2014/main" id="{A8780FB5-8B66-45BE-A0A3-5425B7913A72}"/>
              </a:ext>
            </a:extLst>
          </p:cNvPr>
          <p:cNvSpPr>
            <a:spLocks xmlns:a="http://schemas.openxmlformats.org/drawingml/2006/main" noGrp="1"/>
          </p:cNvSpPr>
          <p:nvPr/>
        </p:nvSpPr>
        <p:spPr>
          <a:xfrm xmlns:a="http://schemas.openxmlformats.org/drawingml/2006/main">
            <a:off x="4267200" y="3467100"/>
            <a:ext cx="1562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faits exploitables</a:t>
            </a:r>
          </a:p>
        </p:txBody>
      </p:sp>
      <p:sp>
        <p:nvSpPr>
          <p:cNvPr id="18" name="ui-chart">
            <a:extLst xmlns:a="http://schemas.openxmlformats.org/drawingml/2006/main">
              <a:ext uri="{FF2B5EF4-FFF2-40B4-BE49-F238E27FC236}">
                <a16:creationId xmlns:a16="http://schemas.microsoft.com/office/drawing/2014/main" id="{F4BDA546-027C-43DD-9319-B842626C9A61}"/>
              </a:ext>
            </a:extLst>
          </p:cNvPr>
          <p:cNvSpPr>
            <a:spLocks xmlns:a="http://schemas.openxmlformats.org/drawingml/2006/main" noGrp="1"/>
          </p:cNvSpPr>
          <p:nvPr/>
        </p:nvSpPr>
        <p:spPr>
          <a:xfrm xmlns:a="http://schemas.openxmlformats.org/drawingml/2006/main">
            <a:off x="6496050" y="2628900"/>
            <a:ext cx="2000250" cy="1409700"/>
          </a:xfrm>
          <a:prstGeom xmlns:a="http://schemas.openxmlformats.org/drawingml/2006/main" prst="roundRect">
            <a:avLst>
              <a:gd name="adj" fmla="val 10811"/>
            </a:avLst>
          </a:prstGeom>
          <a:solidFill xmlns:a="http://schemas.openxmlformats.org/drawingml/2006/main">
            <a:srgbClr val="DCEDE7"/>
          </a:solidFill>
          <a:ln xmlns:a="http://schemas.openxmlformats.org/drawingml/2006/main" w="11430">
            <a:solidFill>
              <a:srgbClr val="DCEDE7"/>
            </a:solidFill>
            <a:prstDash val="solid"/>
          </a:ln>
        </p:spPr>
      </p:sp>
      <p:sp>
        <p:nvSpPr>
          <p:cNvPr id="19" name="bar-0">
            <a:extLst xmlns:a="http://schemas.openxmlformats.org/drawingml/2006/main">
              <a:ext uri="{FF2B5EF4-FFF2-40B4-BE49-F238E27FC236}">
                <a16:creationId xmlns:a16="http://schemas.microsoft.com/office/drawing/2014/main" id="{32D5F75B-FBB3-4906-9312-A9D871A51280}"/>
              </a:ext>
            </a:extLst>
          </p:cNvPr>
          <p:cNvSpPr>
            <a:spLocks xmlns:a="http://schemas.openxmlformats.org/drawingml/2006/main" noGrp="1"/>
          </p:cNvSpPr>
          <p:nvPr/>
        </p:nvSpPr>
        <p:spPr>
          <a:xfrm xmlns:a="http://schemas.openxmlformats.org/drawingml/2006/main">
            <a:off x="6762750" y="3352800"/>
            <a:ext cx="190500" cy="41910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20" name="bar-1">
            <a:extLst xmlns:a="http://schemas.openxmlformats.org/drawingml/2006/main">
              <a:ext uri="{FF2B5EF4-FFF2-40B4-BE49-F238E27FC236}">
                <a16:creationId xmlns:a16="http://schemas.microsoft.com/office/drawing/2014/main" id="{D0CD3DDE-32BC-4E88-B111-A9F69C59EB01}"/>
              </a:ext>
            </a:extLst>
          </p:cNvPr>
          <p:cNvSpPr>
            <a:spLocks xmlns:a="http://schemas.openxmlformats.org/drawingml/2006/main" noGrp="1"/>
          </p:cNvSpPr>
          <p:nvPr/>
        </p:nvSpPr>
        <p:spPr>
          <a:xfrm xmlns:a="http://schemas.openxmlformats.org/drawingml/2006/main">
            <a:off x="7086600" y="2952750"/>
            <a:ext cx="190500" cy="8191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21" name="bar-2">
            <a:extLst xmlns:a="http://schemas.openxmlformats.org/drawingml/2006/main">
              <a:ext uri="{FF2B5EF4-FFF2-40B4-BE49-F238E27FC236}">
                <a16:creationId xmlns:a16="http://schemas.microsoft.com/office/drawing/2014/main" id="{7886D340-6693-42ED-A192-DB403EFC6C62}"/>
              </a:ext>
            </a:extLst>
          </p:cNvPr>
          <p:cNvSpPr>
            <a:spLocks xmlns:a="http://schemas.openxmlformats.org/drawingml/2006/main" noGrp="1"/>
          </p:cNvSpPr>
          <p:nvPr/>
        </p:nvSpPr>
        <p:spPr>
          <a:xfrm xmlns:a="http://schemas.openxmlformats.org/drawingml/2006/main">
            <a:off x="7410450" y="3181350"/>
            <a:ext cx="190500" cy="5905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22" name="bar-3">
            <a:extLst xmlns:a="http://schemas.openxmlformats.org/drawingml/2006/main">
              <a:ext uri="{FF2B5EF4-FFF2-40B4-BE49-F238E27FC236}">
                <a16:creationId xmlns:a16="http://schemas.microsoft.com/office/drawing/2014/main" id="{A6516AD6-6D95-4E8A-A5ED-F1E0C98AAF49}"/>
              </a:ext>
            </a:extLst>
          </p:cNvPr>
          <p:cNvSpPr>
            <a:spLocks xmlns:a="http://schemas.openxmlformats.org/drawingml/2006/main" noGrp="1"/>
          </p:cNvSpPr>
          <p:nvPr/>
        </p:nvSpPr>
        <p:spPr>
          <a:xfrm xmlns:a="http://schemas.openxmlformats.org/drawingml/2006/main">
            <a:off x="7734300" y="2705100"/>
            <a:ext cx="190500" cy="1066800"/>
          </a:xfrm>
          <a:prstGeom xmlns:a="http://schemas.openxmlformats.org/drawingml/2006/main" prst="roundRect">
            <a:avLst>
              <a:gd name="adj" fmla="val 20000"/>
            </a:avLst>
          </a:prstGeom>
          <a:solidFill xmlns:a="http://schemas.openxmlformats.org/drawingml/2006/main">
            <a:srgbClr val="D66B4D"/>
          </a:solidFill>
          <a:ln xmlns:a="http://schemas.openxmlformats.org/drawingml/2006/main" w="11430">
            <a:solidFill>
              <a:srgbClr val="D66B4D"/>
            </a:solidFill>
            <a:prstDash val="solid"/>
          </a:ln>
        </p:spPr>
      </p:sp>
      <p:sp>
        <p:nvSpPr>
          <p:cNvPr id="23" name="bar-4">
            <a:extLst xmlns:a="http://schemas.openxmlformats.org/drawingml/2006/main">
              <a:ext uri="{FF2B5EF4-FFF2-40B4-BE49-F238E27FC236}">
                <a16:creationId xmlns:a16="http://schemas.microsoft.com/office/drawing/2014/main" id="{BDE5DCAF-09DF-4EBA-8B01-2557CF90C1E7}"/>
              </a:ext>
            </a:extLst>
          </p:cNvPr>
          <p:cNvSpPr>
            <a:spLocks xmlns:a="http://schemas.openxmlformats.org/drawingml/2006/main" noGrp="1"/>
          </p:cNvSpPr>
          <p:nvPr/>
        </p:nvSpPr>
        <p:spPr>
          <a:xfrm xmlns:a="http://schemas.openxmlformats.org/drawingml/2006/main">
            <a:off x="8058150" y="3067050"/>
            <a:ext cx="190500" cy="7048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24" name="ui-map-shape">
            <a:extLst xmlns:a="http://schemas.openxmlformats.org/drawingml/2006/main">
              <a:ext uri="{FF2B5EF4-FFF2-40B4-BE49-F238E27FC236}">
                <a16:creationId xmlns:a16="http://schemas.microsoft.com/office/drawing/2014/main" id="{59CF7910-00FE-438E-94D8-C5AACA8161D8}"/>
              </a:ext>
            </a:extLst>
          </p:cNvPr>
          <p:cNvSpPr>
            <a:spLocks xmlns:a="http://schemas.openxmlformats.org/drawingml/2006/main" noGrp="1"/>
          </p:cNvSpPr>
          <p:nvPr/>
        </p:nvSpPr>
        <p:spPr>
          <a:xfrm xmlns:a="http://schemas.openxmlformats.org/drawingml/2006/main">
            <a:off x="9029700" y="2628900"/>
            <a:ext cx="2095500" cy="1409700"/>
          </a:xfrm>
          <a:prstGeom xmlns:a="http://schemas.openxmlformats.org/drawingml/2006/main" prst="roundRect">
            <a:avLst>
              <a:gd name="adj" fmla="val 10811"/>
            </a:avLst>
          </a:prstGeom>
          <a:solidFill xmlns:a="http://schemas.openxmlformats.org/drawingml/2006/main">
            <a:srgbClr val="E8D9BF"/>
          </a:solidFill>
          <a:ln xmlns:a="http://schemas.openxmlformats.org/drawingml/2006/main" w="11430">
            <a:solidFill>
              <a:srgbClr val="E8D9BF"/>
            </a:solidFill>
            <a:prstDash val="solid"/>
          </a:ln>
        </p:spPr>
      </p:sp>
      <p:sp>
        <p:nvSpPr>
          <p:cNvPr id="25" name="ui-map-label">
            <a:extLst xmlns:a="http://schemas.openxmlformats.org/drawingml/2006/main">
              <a:ext uri="{FF2B5EF4-FFF2-40B4-BE49-F238E27FC236}">
                <a16:creationId xmlns:a16="http://schemas.microsoft.com/office/drawing/2014/main" id="{E38058BB-1263-42E1-A1F2-3D8776B5CCA8}"/>
              </a:ext>
            </a:extLst>
          </p:cNvPr>
          <p:cNvSpPr>
            <a:spLocks xmlns:a="http://schemas.openxmlformats.org/drawingml/2006/main" noGrp="1"/>
          </p:cNvSpPr>
          <p:nvPr/>
        </p:nvSpPr>
        <p:spPr>
          <a:xfrm xmlns:a="http://schemas.openxmlformats.org/drawingml/2006/main">
            <a:off x="9296400" y="3038475"/>
            <a:ext cx="1562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53D3A"/>
                </a:solidFill>
              </a:defRPr>
            </a:pPr>
            <a:r>
              <a:rPr sz="1650" b="1">
                <a:solidFill>
                  <a:srgbClr val="153D3A"/>
                </a:solidFill>
              </a:rPr>
              <a:t>Départements</a:t>
            </a:r>
          </a:p>
          <a:p xmlns:a="http://schemas.openxmlformats.org/drawingml/2006/main">
            <a:pPr algn="ctr">
              <a:defRPr sz="1650" b="1">
                <a:solidFill>
                  <a:srgbClr val="153D3A"/>
                </a:solidFill>
              </a:defRPr>
            </a:pPr>
            <a:r>
              <a:rPr sz="1650" b="1">
                <a:solidFill>
                  <a:srgbClr val="153D3A"/>
                </a:solidFill>
              </a:rPr>
              <a:t>&amp; régions</a:t>
            </a:r>
          </a:p>
        </p:txBody>
      </p:sp>
      <p:sp>
        <p:nvSpPr>
          <p:cNvPr id="26" name="ui-caption">
            <a:extLst xmlns:a="http://schemas.openxmlformats.org/drawingml/2006/main">
              <a:ext uri="{FF2B5EF4-FFF2-40B4-BE49-F238E27FC236}">
                <a16:creationId xmlns:a16="http://schemas.microsoft.com/office/drawing/2014/main" id="{F59320CC-43F2-48E1-8D06-BAC3AF329364}"/>
              </a:ext>
            </a:extLst>
          </p:cNvPr>
          <p:cNvSpPr>
            <a:spLocks xmlns:a="http://schemas.openxmlformats.org/drawingml/2006/main" noGrp="1"/>
          </p:cNvSpPr>
          <p:nvPr/>
        </p:nvSpPr>
        <p:spPr>
          <a:xfrm xmlns:a="http://schemas.openxmlformats.org/drawingml/2006/main">
            <a:off x="4019550" y="4495800"/>
            <a:ext cx="676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F6F5F"/>
                </a:solidFill>
              </a:defRPr>
            </a:pPr>
            <a:r>
              <a:rPr sz="1500" b="1">
                <a:solidFill>
                  <a:srgbClr val="1F6F5F"/>
                </a:solidFill>
              </a:rPr>
              <a:t>Même masque de données pour KPI, tableaux, exports, cartes et graphiques</a:t>
            </a:r>
          </a:p>
        </p:txBody>
      </p:sp>
      <p:sp>
        <p:nvSpPr>
          <p:cNvPr id="27" name="ui-views">
            <a:extLst xmlns:a="http://schemas.openxmlformats.org/drawingml/2006/main">
              <a:ext uri="{FF2B5EF4-FFF2-40B4-BE49-F238E27FC236}">
                <a16:creationId xmlns:a16="http://schemas.microsoft.com/office/drawing/2014/main" id="{C53B2BE9-5D93-4841-B4A2-4AE44D4A00B7}"/>
              </a:ext>
            </a:extLst>
          </p:cNvPr>
          <p:cNvSpPr>
            <a:spLocks xmlns:a="http://schemas.openxmlformats.org/drawingml/2006/main" noGrp="1"/>
          </p:cNvSpPr>
          <p:nvPr/>
        </p:nvSpPr>
        <p:spPr>
          <a:xfrm xmlns:a="http://schemas.openxmlformats.org/drawingml/2006/main">
            <a:off x="3714750" y="577215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2706D"/>
                </a:solidFill>
              </a:defRPr>
            </a:pPr>
            <a:r>
              <a:rPr sz="1275" b="0">
                <a:solidFill>
                  <a:srgbClr val="62706D"/>
                </a:solidFill>
              </a:rPr>
              <a:t>Standard · Spark · Socio-économie · Région · Méthodologie · Temps réel</a:t>
            </a:r>
          </a:p>
        </p:txBody>
      </p:sp>
    </p:spTree>
    <p:extLst>
      <p:ext uri="{BB962C8B-B14F-4D97-AF65-F5344CB8AC3E}">
        <p14:creationId xmlns:p14="http://schemas.microsoft.com/office/powerpoint/2010/main" val="29146454"/>
      </p:ext>
    </p:extLst>
  </p:cSld>
</p:sld>
</file>

<file path=ppt/slides/slide10.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9" name="kicker-10">
            <a:extLst xmlns:a="http://schemas.openxmlformats.org/drawingml/2006/main">
              <a:ext uri="{FF2B5EF4-FFF2-40B4-BE49-F238E27FC236}">
                <a16:creationId xmlns:a16="http://schemas.microsoft.com/office/drawing/2014/main" id="{11FC13AA-FEA1-4D82-B5F3-BFB300F4A5D9}"/>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PREUVES CONCRÈTES</a:t>
            </a:r>
          </a:p>
        </p:txBody>
      </p:sp>
      <p:sp>
        <p:nvSpPr>
          <p:cNvPr id="2" name="title-10">
            <a:extLst xmlns:a="http://schemas.openxmlformats.org/drawingml/2006/main">
              <a:ext uri="{FF2B5EF4-FFF2-40B4-BE49-F238E27FC236}">
                <a16:creationId xmlns:a16="http://schemas.microsoft.com/office/drawing/2014/main" id="{A86DFAF6-C0D1-4371-AB56-FCA2FA58609D}"/>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Les résultats sont mesurables et réutilisables</a:t>
            </a:r>
          </a:p>
        </p:txBody>
      </p:sp>
      <p:sp>
        <p:nvSpPr>
          <p:cNvPr id="3" name="rule-10">
            <a:extLst xmlns:a="http://schemas.openxmlformats.org/drawingml/2006/main">
              <a:ext uri="{FF2B5EF4-FFF2-40B4-BE49-F238E27FC236}">
                <a16:creationId xmlns:a16="http://schemas.microsoft.com/office/drawing/2014/main" id="{9543EE72-EA38-49D6-B08D-C5C7F418780C}"/>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0">
            <a:extLst xmlns:a="http://schemas.openxmlformats.org/drawingml/2006/main">
              <a:ext uri="{FF2B5EF4-FFF2-40B4-BE49-F238E27FC236}">
                <a16:creationId xmlns:a16="http://schemas.microsoft.com/office/drawing/2014/main" id="{A3503DF7-FFD5-43EC-9AA3-7B39C51A2AE0}"/>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10</a:t>
            </a:r>
          </a:p>
        </p:txBody>
      </p:sp>
      <p:sp>
        <p:nvSpPr>
          <p:cNvPr id="5" name="r1-bg">
            <a:extLst xmlns:a="http://schemas.openxmlformats.org/drawingml/2006/main">
              <a:ext uri="{FF2B5EF4-FFF2-40B4-BE49-F238E27FC236}">
                <a16:creationId xmlns:a16="http://schemas.microsoft.com/office/drawing/2014/main" id="{7C00AD3B-382B-4909-8347-A29E6DF5FCDC}"/>
              </a:ext>
            </a:extLst>
          </p:cNvPr>
          <p:cNvSpPr>
            <a:spLocks xmlns:a="http://schemas.openxmlformats.org/drawingml/2006/main" noGrp="1"/>
          </p:cNvSpPr>
          <p:nvPr/>
        </p:nvSpPr>
        <p:spPr>
          <a:xfrm xmlns:a="http://schemas.openxmlformats.org/drawingml/2006/main">
            <a:off x="609600" y="1676400"/>
            <a:ext cx="327660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6" name="r1-accent">
            <a:extLst xmlns:a="http://schemas.openxmlformats.org/drawingml/2006/main">
              <a:ext uri="{FF2B5EF4-FFF2-40B4-BE49-F238E27FC236}">
                <a16:creationId xmlns:a16="http://schemas.microsoft.com/office/drawing/2014/main" id="{958DE471-4592-401B-AB1F-757E895E0C68}"/>
              </a:ext>
            </a:extLst>
          </p:cNvPr>
          <p:cNvSpPr>
            <a:spLocks xmlns:a="http://schemas.openxmlformats.org/drawingml/2006/main" noGrp="1"/>
          </p:cNvSpPr>
          <p:nvPr/>
        </p:nvSpPr>
        <p:spPr>
          <a:xfrm xmlns:a="http://schemas.openxmlformats.org/drawingml/2006/main">
            <a:off x="609600" y="1676400"/>
            <a:ext cx="95250" cy="1409700"/>
          </a:xfrm>
          <a:prstGeom xmlns:a="http://schemas.openxmlformats.org/drawingml/2006/main" prst="roundRect">
            <a:avLst>
              <a:gd name="adj" fmla="val 50000"/>
            </a:avLst>
          </a:prstGeom>
          <a:solidFill xmlns:a="http://schemas.openxmlformats.org/drawingml/2006/main">
            <a:srgbClr val="D66B4D"/>
          </a:solidFill>
          <a:ln xmlns:a="http://schemas.openxmlformats.org/drawingml/2006/main" w="11430">
            <a:solidFill>
              <a:srgbClr val="D66B4D"/>
            </a:solidFill>
            <a:prstDash val="solid"/>
          </a:ln>
        </p:spPr>
      </p:sp>
      <p:sp>
        <p:nvSpPr>
          <p:cNvPr id="7" name="r1-value">
            <a:extLst xmlns:a="http://schemas.openxmlformats.org/drawingml/2006/main">
              <a:ext uri="{FF2B5EF4-FFF2-40B4-BE49-F238E27FC236}">
                <a16:creationId xmlns:a16="http://schemas.microsoft.com/office/drawing/2014/main" id="{DDC973B7-84A7-4E95-AEF1-7065D363BB99}"/>
              </a:ext>
            </a:extLst>
          </p:cNvPr>
          <p:cNvSpPr>
            <a:spLocks xmlns:a="http://schemas.openxmlformats.org/drawingml/2006/main" noGrp="1"/>
          </p:cNvSpPr>
          <p:nvPr/>
        </p:nvSpPr>
        <p:spPr>
          <a:xfrm xmlns:a="http://schemas.openxmlformats.org/drawingml/2006/main">
            <a:off x="876300" y="1885950"/>
            <a:ext cx="2838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1 884 593</a:t>
            </a:r>
          </a:p>
        </p:txBody>
      </p:sp>
      <p:sp>
        <p:nvSpPr>
          <p:cNvPr id="8" name="r1-label">
            <a:extLst xmlns:a="http://schemas.openxmlformats.org/drawingml/2006/main">
              <a:ext uri="{FF2B5EF4-FFF2-40B4-BE49-F238E27FC236}">
                <a16:creationId xmlns:a16="http://schemas.microsoft.com/office/drawing/2014/main" id="{13748D95-CA15-4D92-AE07-8A297B9AD4A6}"/>
              </a:ext>
            </a:extLst>
          </p:cNvPr>
          <p:cNvSpPr>
            <a:spLocks xmlns:a="http://schemas.openxmlformats.org/drawingml/2006/main" noGrp="1"/>
          </p:cNvSpPr>
          <p:nvPr/>
        </p:nvSpPr>
        <p:spPr>
          <a:xfrm xmlns:a="http://schemas.openxmlformats.org/drawingml/2006/main">
            <a:off x="876300" y="25146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transactions uniques</a:t>
            </a:r>
          </a:p>
        </p:txBody>
      </p:sp>
      <p:sp>
        <p:nvSpPr>
          <p:cNvPr id="9" name="r2-bg">
            <a:extLst xmlns:a="http://schemas.openxmlformats.org/drawingml/2006/main">
              <a:ext uri="{FF2B5EF4-FFF2-40B4-BE49-F238E27FC236}">
                <a16:creationId xmlns:a16="http://schemas.microsoft.com/office/drawing/2014/main" id="{F42B829C-DBE7-4A8E-A3BD-6526A11D7B46}"/>
              </a:ext>
            </a:extLst>
          </p:cNvPr>
          <p:cNvSpPr>
            <a:spLocks xmlns:a="http://schemas.openxmlformats.org/drawingml/2006/main" noGrp="1"/>
          </p:cNvSpPr>
          <p:nvPr/>
        </p:nvSpPr>
        <p:spPr>
          <a:xfrm xmlns:a="http://schemas.openxmlformats.org/drawingml/2006/main">
            <a:off x="4457700" y="1676400"/>
            <a:ext cx="327660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10" name="r2-accent">
            <a:extLst xmlns:a="http://schemas.openxmlformats.org/drawingml/2006/main">
              <a:ext uri="{FF2B5EF4-FFF2-40B4-BE49-F238E27FC236}">
                <a16:creationId xmlns:a16="http://schemas.microsoft.com/office/drawing/2014/main" id="{F2F2F512-4907-45E4-B3D6-AF6E5FDC66B7}"/>
              </a:ext>
            </a:extLst>
          </p:cNvPr>
          <p:cNvSpPr>
            <a:spLocks xmlns:a="http://schemas.openxmlformats.org/drawingml/2006/main" noGrp="1"/>
          </p:cNvSpPr>
          <p:nvPr/>
        </p:nvSpPr>
        <p:spPr>
          <a:xfrm xmlns:a="http://schemas.openxmlformats.org/drawingml/2006/main">
            <a:off x="4457700" y="1676400"/>
            <a:ext cx="95250" cy="1409700"/>
          </a:xfrm>
          <a:prstGeom xmlns:a="http://schemas.openxmlformats.org/drawingml/2006/main" prst="roundRect">
            <a:avLst>
              <a:gd name="adj" fmla="val 50000"/>
            </a:avLst>
          </a:prstGeom>
          <a:solidFill xmlns:a="http://schemas.openxmlformats.org/drawingml/2006/main">
            <a:srgbClr val="1F6F5F"/>
          </a:solidFill>
          <a:ln xmlns:a="http://schemas.openxmlformats.org/drawingml/2006/main" w="11430">
            <a:solidFill>
              <a:srgbClr val="1F6F5F"/>
            </a:solidFill>
            <a:prstDash val="solid"/>
          </a:ln>
        </p:spPr>
      </p:sp>
      <p:sp>
        <p:nvSpPr>
          <p:cNvPr id="11" name="r2-value">
            <a:extLst xmlns:a="http://schemas.openxmlformats.org/drawingml/2006/main">
              <a:ext uri="{FF2B5EF4-FFF2-40B4-BE49-F238E27FC236}">
                <a16:creationId xmlns:a16="http://schemas.microsoft.com/office/drawing/2014/main" id="{B89A213A-7F3F-45BE-8823-F8CDA5A6968A}"/>
              </a:ext>
            </a:extLst>
          </p:cNvPr>
          <p:cNvSpPr>
            <a:spLocks xmlns:a="http://schemas.openxmlformats.org/drawingml/2006/main" noGrp="1"/>
          </p:cNvSpPr>
          <p:nvPr/>
        </p:nvSpPr>
        <p:spPr>
          <a:xfrm xmlns:a="http://schemas.openxmlformats.org/drawingml/2006/main">
            <a:off x="4724400" y="1885950"/>
            <a:ext cx="2838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94</a:t>
            </a:r>
          </a:p>
        </p:txBody>
      </p:sp>
      <p:sp>
        <p:nvSpPr>
          <p:cNvPr id="12" name="r2-label">
            <a:extLst xmlns:a="http://schemas.openxmlformats.org/drawingml/2006/main">
              <a:ext uri="{FF2B5EF4-FFF2-40B4-BE49-F238E27FC236}">
                <a16:creationId xmlns:a16="http://schemas.microsoft.com/office/drawing/2014/main" id="{A7B10581-D397-449B-AA55-4F07D8EB3651}"/>
              </a:ext>
            </a:extLst>
          </p:cNvPr>
          <p:cNvSpPr>
            <a:spLocks xmlns:a="http://schemas.openxmlformats.org/drawingml/2006/main" noGrp="1"/>
          </p:cNvSpPr>
          <p:nvPr/>
        </p:nvSpPr>
        <p:spPr>
          <a:xfrm xmlns:a="http://schemas.openxmlformats.org/drawingml/2006/main">
            <a:off x="4724400" y="25146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agrégats départementaux</a:t>
            </a:r>
          </a:p>
        </p:txBody>
      </p:sp>
      <p:sp>
        <p:nvSpPr>
          <p:cNvPr id="13" name="r3-bg">
            <a:extLst xmlns:a="http://schemas.openxmlformats.org/drawingml/2006/main">
              <a:ext uri="{FF2B5EF4-FFF2-40B4-BE49-F238E27FC236}">
                <a16:creationId xmlns:a16="http://schemas.microsoft.com/office/drawing/2014/main" id="{2531CB3F-C7C8-4B28-941B-940D3D904371}"/>
              </a:ext>
            </a:extLst>
          </p:cNvPr>
          <p:cNvSpPr>
            <a:spLocks xmlns:a="http://schemas.openxmlformats.org/drawingml/2006/main" noGrp="1"/>
          </p:cNvSpPr>
          <p:nvPr/>
        </p:nvSpPr>
        <p:spPr>
          <a:xfrm xmlns:a="http://schemas.openxmlformats.org/drawingml/2006/main">
            <a:off x="8305800" y="1676400"/>
            <a:ext cx="327660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14" name="r3-accent">
            <a:extLst xmlns:a="http://schemas.openxmlformats.org/drawingml/2006/main">
              <a:ext uri="{FF2B5EF4-FFF2-40B4-BE49-F238E27FC236}">
                <a16:creationId xmlns:a16="http://schemas.microsoft.com/office/drawing/2014/main" id="{DA899B70-B5AA-48CC-9AC0-0C87A6C28965}"/>
              </a:ext>
            </a:extLst>
          </p:cNvPr>
          <p:cNvSpPr>
            <a:spLocks xmlns:a="http://schemas.openxmlformats.org/drawingml/2006/main" noGrp="1"/>
          </p:cNvSpPr>
          <p:nvPr/>
        </p:nvSpPr>
        <p:spPr>
          <a:xfrm xmlns:a="http://schemas.openxmlformats.org/drawingml/2006/main">
            <a:off x="8305800" y="1676400"/>
            <a:ext cx="95250" cy="1409700"/>
          </a:xfrm>
          <a:prstGeom xmlns:a="http://schemas.openxmlformats.org/drawingml/2006/main" prst="roundRect">
            <a:avLst>
              <a:gd name="adj" fmla="val 50000"/>
            </a:avLst>
          </a:prstGeom>
          <a:solidFill xmlns:a="http://schemas.openxmlformats.org/drawingml/2006/main">
            <a:srgbClr val="3C7891"/>
          </a:solidFill>
          <a:ln xmlns:a="http://schemas.openxmlformats.org/drawingml/2006/main" w="11430">
            <a:solidFill>
              <a:srgbClr val="3C7891"/>
            </a:solidFill>
            <a:prstDash val="solid"/>
          </a:ln>
        </p:spPr>
      </p:sp>
      <p:sp>
        <p:nvSpPr>
          <p:cNvPr id="15" name="r3-value">
            <a:extLst xmlns:a="http://schemas.openxmlformats.org/drawingml/2006/main">
              <a:ext uri="{FF2B5EF4-FFF2-40B4-BE49-F238E27FC236}">
                <a16:creationId xmlns:a16="http://schemas.microsoft.com/office/drawing/2014/main" id="{308839A3-5FB8-4E2C-A0F0-C2CA91E975E4}"/>
              </a:ext>
            </a:extLst>
          </p:cNvPr>
          <p:cNvSpPr>
            <a:spLocks xmlns:a="http://schemas.openxmlformats.org/drawingml/2006/main" noGrp="1"/>
          </p:cNvSpPr>
          <p:nvPr/>
        </p:nvSpPr>
        <p:spPr>
          <a:xfrm xmlns:a="http://schemas.openxmlformats.org/drawingml/2006/main">
            <a:off x="8572500" y="1885950"/>
            <a:ext cx="2838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13</a:t>
            </a:r>
          </a:p>
        </p:txBody>
      </p:sp>
      <p:sp>
        <p:nvSpPr>
          <p:cNvPr id="16" name="r3-label">
            <a:extLst xmlns:a="http://schemas.openxmlformats.org/drawingml/2006/main">
              <a:ext uri="{FF2B5EF4-FFF2-40B4-BE49-F238E27FC236}">
                <a16:creationId xmlns:a16="http://schemas.microsoft.com/office/drawing/2014/main" id="{61F02209-9CEE-433F-8D7B-DA3D96B235F9}"/>
              </a:ext>
            </a:extLst>
          </p:cNvPr>
          <p:cNvSpPr>
            <a:spLocks xmlns:a="http://schemas.openxmlformats.org/drawingml/2006/main" noGrp="1"/>
          </p:cNvSpPr>
          <p:nvPr/>
        </p:nvSpPr>
        <p:spPr>
          <a:xfrm xmlns:a="http://schemas.openxmlformats.org/drawingml/2006/main">
            <a:off x="8572500" y="25146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agrégats régionaux · Corse incluse</a:t>
            </a:r>
          </a:p>
        </p:txBody>
      </p:sp>
      <p:sp>
        <p:nvSpPr>
          <p:cNvPr id="17" name="matrix-title">
            <a:extLst xmlns:a="http://schemas.openxmlformats.org/drawingml/2006/main">
              <a:ext uri="{FF2B5EF4-FFF2-40B4-BE49-F238E27FC236}">
                <a16:creationId xmlns:a16="http://schemas.microsoft.com/office/drawing/2014/main" id="{5A14A550-C0A7-451B-9DC9-F43363529A8C}"/>
              </a:ext>
            </a:extLst>
          </p:cNvPr>
          <p:cNvSpPr>
            <a:spLocks xmlns:a="http://schemas.openxmlformats.org/drawingml/2006/main" noGrp="1"/>
          </p:cNvSpPr>
          <p:nvPr/>
        </p:nvSpPr>
        <p:spPr>
          <a:xfrm xmlns:a="http://schemas.openxmlformats.org/drawingml/2006/main">
            <a:off x="609600" y="36195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2A"/>
                </a:solidFill>
              </a:defRPr>
            </a:pPr>
            <a:r>
              <a:rPr sz="1875" b="1">
                <a:solidFill>
                  <a:srgbClr val="102A2A"/>
                </a:solidFill>
              </a:rPr>
              <a:t>Matrice régionale à cinq variables</a:t>
            </a:r>
          </a:p>
        </p:txBody>
      </p:sp>
      <p:sp>
        <p:nvSpPr>
          <p:cNvPr id="18" name="var-0">
            <a:extLst xmlns:a="http://schemas.openxmlformats.org/drawingml/2006/main">
              <a:ext uri="{FF2B5EF4-FFF2-40B4-BE49-F238E27FC236}">
                <a16:creationId xmlns:a16="http://schemas.microsoft.com/office/drawing/2014/main" id="{5651B043-D4C4-4BC6-BF18-118930B7661F}"/>
              </a:ext>
            </a:extLst>
          </p:cNvPr>
          <p:cNvSpPr>
            <a:spLocks xmlns:a="http://schemas.openxmlformats.org/drawingml/2006/main" noGrp="1"/>
          </p:cNvSpPr>
          <p:nvPr/>
        </p:nvSpPr>
        <p:spPr>
          <a:xfrm xmlns:a="http://schemas.openxmlformats.org/drawingml/2006/main">
            <a:off x="609600" y="4191000"/>
            <a:ext cx="1847850" cy="6667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19" name="var-t-0">
            <a:extLst xmlns:a="http://schemas.openxmlformats.org/drawingml/2006/main">
              <a:ext uri="{FF2B5EF4-FFF2-40B4-BE49-F238E27FC236}">
                <a16:creationId xmlns:a16="http://schemas.microsoft.com/office/drawing/2014/main" id="{3B9B0355-877B-4806-A9FC-44ACC23680CD}"/>
              </a:ext>
            </a:extLst>
          </p:cNvPr>
          <p:cNvSpPr>
            <a:spLocks xmlns:a="http://schemas.openxmlformats.org/drawingml/2006/main" noGrp="1"/>
          </p:cNvSpPr>
          <p:nvPr/>
        </p:nvSpPr>
        <p:spPr>
          <a:xfrm xmlns:a="http://schemas.openxmlformats.org/drawingml/2006/main">
            <a:off x="7239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Prix/m²</a:t>
            </a:r>
          </a:p>
        </p:txBody>
      </p:sp>
      <p:sp>
        <p:nvSpPr>
          <p:cNvPr id="20" name="var-1">
            <a:extLst xmlns:a="http://schemas.openxmlformats.org/drawingml/2006/main">
              <a:ext uri="{FF2B5EF4-FFF2-40B4-BE49-F238E27FC236}">
                <a16:creationId xmlns:a16="http://schemas.microsoft.com/office/drawing/2014/main" id="{9CB10B34-9903-44E3-92C2-55F42EFB8DA6}"/>
              </a:ext>
            </a:extLst>
          </p:cNvPr>
          <p:cNvSpPr>
            <a:spLocks xmlns:a="http://schemas.openxmlformats.org/drawingml/2006/main" noGrp="1"/>
          </p:cNvSpPr>
          <p:nvPr/>
        </p:nvSpPr>
        <p:spPr>
          <a:xfrm xmlns:a="http://schemas.openxmlformats.org/drawingml/2006/main">
            <a:off x="2743200" y="4191000"/>
            <a:ext cx="1847850" cy="666750"/>
          </a:xfrm>
          <a:prstGeom xmlns:a="http://schemas.openxmlformats.org/drawingml/2006/main" prst="roundRect">
            <a:avLst>
              <a:gd name="adj" fmla="val 20000"/>
            </a:avLst>
          </a:prstGeom>
          <a:solidFill xmlns:a="http://schemas.openxmlformats.org/drawingml/2006/main">
            <a:srgbClr val="3C7891"/>
          </a:solidFill>
          <a:ln xmlns:a="http://schemas.openxmlformats.org/drawingml/2006/main" w="11430">
            <a:solidFill>
              <a:srgbClr val="3C7891"/>
            </a:solidFill>
            <a:prstDash val="solid"/>
          </a:ln>
        </p:spPr>
      </p:sp>
      <p:sp>
        <p:nvSpPr>
          <p:cNvPr id="21" name="var-t-1">
            <a:extLst xmlns:a="http://schemas.openxmlformats.org/drawingml/2006/main">
              <a:ext uri="{FF2B5EF4-FFF2-40B4-BE49-F238E27FC236}">
                <a16:creationId xmlns:a16="http://schemas.microsoft.com/office/drawing/2014/main" id="{880AD9DC-46FA-41B7-8119-1911CEFF60E4}"/>
              </a:ext>
            </a:extLst>
          </p:cNvPr>
          <p:cNvSpPr>
            <a:spLocks xmlns:a="http://schemas.openxmlformats.org/drawingml/2006/main" noGrp="1"/>
          </p:cNvSpPr>
          <p:nvPr/>
        </p:nvSpPr>
        <p:spPr>
          <a:xfrm xmlns:a="http://schemas.openxmlformats.org/drawingml/2006/main">
            <a:off x="28575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Population</a:t>
            </a:r>
          </a:p>
        </p:txBody>
      </p:sp>
      <p:sp>
        <p:nvSpPr>
          <p:cNvPr id="22" name="var-2">
            <a:extLst xmlns:a="http://schemas.openxmlformats.org/drawingml/2006/main">
              <a:ext uri="{FF2B5EF4-FFF2-40B4-BE49-F238E27FC236}">
                <a16:creationId xmlns:a16="http://schemas.microsoft.com/office/drawing/2014/main" id="{3A4CB02C-BE0D-49D7-AE8B-99DF7FAF9FD9}"/>
              </a:ext>
            </a:extLst>
          </p:cNvPr>
          <p:cNvSpPr>
            <a:spLocks xmlns:a="http://schemas.openxmlformats.org/drawingml/2006/main" noGrp="1"/>
          </p:cNvSpPr>
          <p:nvPr/>
        </p:nvSpPr>
        <p:spPr>
          <a:xfrm xmlns:a="http://schemas.openxmlformats.org/drawingml/2006/main">
            <a:off x="4876800" y="4191000"/>
            <a:ext cx="1847850" cy="666750"/>
          </a:xfrm>
          <a:prstGeom xmlns:a="http://schemas.openxmlformats.org/drawingml/2006/main" prst="roundRect">
            <a:avLst>
              <a:gd name="adj" fmla="val 20000"/>
            </a:avLst>
          </a:prstGeom>
          <a:solidFill xmlns:a="http://schemas.openxmlformats.org/drawingml/2006/main">
            <a:srgbClr val="E8D9BF"/>
          </a:solidFill>
          <a:ln xmlns:a="http://schemas.openxmlformats.org/drawingml/2006/main" w="11430">
            <a:solidFill>
              <a:srgbClr val="E8D9BF"/>
            </a:solidFill>
            <a:prstDash val="solid"/>
          </a:ln>
        </p:spPr>
      </p:sp>
      <p:sp>
        <p:nvSpPr>
          <p:cNvPr id="23" name="var-t-2">
            <a:extLst xmlns:a="http://schemas.openxmlformats.org/drawingml/2006/main">
              <a:ext uri="{FF2B5EF4-FFF2-40B4-BE49-F238E27FC236}">
                <a16:creationId xmlns:a16="http://schemas.microsoft.com/office/drawing/2014/main" id="{9DFAB8EC-CB60-4362-B81B-2F3DE64F2F0E}"/>
              </a:ext>
            </a:extLst>
          </p:cNvPr>
          <p:cNvSpPr>
            <a:spLocks xmlns:a="http://schemas.openxmlformats.org/drawingml/2006/main" noGrp="1"/>
          </p:cNvSpPr>
          <p:nvPr/>
        </p:nvSpPr>
        <p:spPr>
          <a:xfrm xmlns:a="http://schemas.openxmlformats.org/drawingml/2006/main">
            <a:off x="49911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02A2A"/>
                </a:solidFill>
              </a:defRPr>
            </a:pPr>
            <a:r>
              <a:rPr sz="1350" b="1">
                <a:solidFill>
                  <a:srgbClr val="102A2A"/>
                </a:solidFill>
              </a:rPr>
              <a:t>Revenu</a:t>
            </a:r>
          </a:p>
        </p:txBody>
      </p:sp>
      <p:sp>
        <p:nvSpPr>
          <p:cNvPr id="24" name="var-3">
            <a:extLst xmlns:a="http://schemas.openxmlformats.org/drawingml/2006/main">
              <a:ext uri="{FF2B5EF4-FFF2-40B4-BE49-F238E27FC236}">
                <a16:creationId xmlns:a16="http://schemas.microsoft.com/office/drawing/2014/main" id="{A2552820-37E7-47B1-A354-543E5BE7C49F}"/>
              </a:ext>
            </a:extLst>
          </p:cNvPr>
          <p:cNvSpPr>
            <a:spLocks xmlns:a="http://schemas.openxmlformats.org/drawingml/2006/main" noGrp="1"/>
          </p:cNvSpPr>
          <p:nvPr/>
        </p:nvSpPr>
        <p:spPr>
          <a:xfrm xmlns:a="http://schemas.openxmlformats.org/drawingml/2006/main">
            <a:off x="7010400" y="4191000"/>
            <a:ext cx="1847850" cy="666750"/>
          </a:xfrm>
          <a:prstGeom xmlns:a="http://schemas.openxmlformats.org/drawingml/2006/main" prst="roundRect">
            <a:avLst>
              <a:gd name="adj" fmla="val 20000"/>
            </a:avLst>
          </a:prstGeom>
          <a:solidFill xmlns:a="http://schemas.openxmlformats.org/drawingml/2006/main">
            <a:srgbClr val="D66B4D"/>
          </a:solidFill>
          <a:ln xmlns:a="http://schemas.openxmlformats.org/drawingml/2006/main" w="11430">
            <a:solidFill>
              <a:srgbClr val="D66B4D"/>
            </a:solidFill>
            <a:prstDash val="solid"/>
          </a:ln>
        </p:spPr>
      </p:sp>
      <p:sp>
        <p:nvSpPr>
          <p:cNvPr id="25" name="var-t-3">
            <a:extLst xmlns:a="http://schemas.openxmlformats.org/drawingml/2006/main">
              <a:ext uri="{FF2B5EF4-FFF2-40B4-BE49-F238E27FC236}">
                <a16:creationId xmlns:a16="http://schemas.microsoft.com/office/drawing/2014/main" id="{3FBBB3AF-7048-46F8-9AB9-CEE5D812701E}"/>
              </a:ext>
            </a:extLst>
          </p:cNvPr>
          <p:cNvSpPr>
            <a:spLocks xmlns:a="http://schemas.openxmlformats.org/drawingml/2006/main" noGrp="1"/>
          </p:cNvSpPr>
          <p:nvPr/>
        </p:nvSpPr>
        <p:spPr>
          <a:xfrm xmlns:a="http://schemas.openxmlformats.org/drawingml/2006/main">
            <a:off x="71247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Chômage</a:t>
            </a:r>
          </a:p>
        </p:txBody>
      </p:sp>
      <p:sp>
        <p:nvSpPr>
          <p:cNvPr id="26" name="var-4">
            <a:extLst xmlns:a="http://schemas.openxmlformats.org/drawingml/2006/main">
              <a:ext uri="{FF2B5EF4-FFF2-40B4-BE49-F238E27FC236}">
                <a16:creationId xmlns:a16="http://schemas.microsoft.com/office/drawing/2014/main" id="{BBAE9131-DB17-4B15-8E1C-EC176E019B7E}"/>
              </a:ext>
            </a:extLst>
          </p:cNvPr>
          <p:cNvSpPr>
            <a:spLocks xmlns:a="http://schemas.openxmlformats.org/drawingml/2006/main" noGrp="1"/>
          </p:cNvSpPr>
          <p:nvPr/>
        </p:nvSpPr>
        <p:spPr>
          <a:xfrm xmlns:a="http://schemas.openxmlformats.org/drawingml/2006/main">
            <a:off x="9144000" y="4191000"/>
            <a:ext cx="1847850" cy="666750"/>
          </a:xfrm>
          <a:prstGeom xmlns:a="http://schemas.openxmlformats.org/drawingml/2006/main" prst="roundRect">
            <a:avLst>
              <a:gd name="adj" fmla="val 20000"/>
            </a:avLst>
          </a:prstGeom>
          <a:solidFill xmlns:a="http://schemas.openxmlformats.org/drawingml/2006/main">
            <a:srgbClr val="153D3A"/>
          </a:solidFill>
          <a:ln xmlns:a="http://schemas.openxmlformats.org/drawingml/2006/main" w="11430">
            <a:solidFill>
              <a:srgbClr val="153D3A"/>
            </a:solidFill>
            <a:prstDash val="solid"/>
          </a:ln>
        </p:spPr>
      </p:sp>
      <p:sp>
        <p:nvSpPr>
          <p:cNvPr id="27" name="var-t-4">
            <a:extLst xmlns:a="http://schemas.openxmlformats.org/drawingml/2006/main">
              <a:ext uri="{FF2B5EF4-FFF2-40B4-BE49-F238E27FC236}">
                <a16:creationId xmlns:a16="http://schemas.microsoft.com/office/drawing/2014/main" id="{FF5CE7E2-A55E-4CC4-9A82-C4EBB1E07DA3}"/>
              </a:ext>
            </a:extLst>
          </p:cNvPr>
          <p:cNvSpPr>
            <a:spLocks xmlns:a="http://schemas.openxmlformats.org/drawingml/2006/main" noGrp="1"/>
          </p:cNvSpPr>
          <p:nvPr/>
        </p:nvSpPr>
        <p:spPr>
          <a:xfrm xmlns:a="http://schemas.openxmlformats.org/drawingml/2006/main">
            <a:off x="92583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Pauvreté</a:t>
            </a:r>
          </a:p>
        </p:txBody>
      </p:sp>
      <p:sp>
        <p:nvSpPr>
          <p:cNvPr id="28" name="corr">
            <a:extLst xmlns:a="http://schemas.openxmlformats.org/drawingml/2006/main">
              <a:ext uri="{FF2B5EF4-FFF2-40B4-BE49-F238E27FC236}">
                <a16:creationId xmlns:a16="http://schemas.microsoft.com/office/drawing/2014/main" id="{4C7B880B-3C84-4796-86AC-30BBDC42E5BA}"/>
              </a:ext>
            </a:extLst>
          </p:cNvPr>
          <p:cNvSpPr>
            <a:spLocks xmlns:a="http://schemas.openxmlformats.org/drawingml/2006/main" noGrp="1"/>
          </p:cNvSpPr>
          <p:nvPr/>
        </p:nvSpPr>
        <p:spPr>
          <a:xfrm xmlns:a="http://schemas.openxmlformats.org/drawingml/2006/main">
            <a:off x="1333500" y="5334000"/>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F6F5F"/>
                </a:solidFill>
              </a:defRPr>
            </a:pPr>
            <a:r>
              <a:rPr sz="1500" b="1">
                <a:solidFill>
                  <a:srgbClr val="1F6F5F"/>
                </a:solidFill>
              </a:rPr>
              <a:t>Chaque coefficient de corrélation est indépendant · aucun ne prouve une causalité</a:t>
            </a:r>
          </a:p>
        </p:txBody>
      </p:sp>
    </p:spTree>
    <p:extLst>
      <p:ext uri="{BB962C8B-B14F-4D97-AF65-F5344CB8AC3E}">
        <p14:creationId xmlns:p14="http://schemas.microsoft.com/office/powerpoint/2010/main" val="1979678684"/>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3" name="kicker-11">
            <a:extLst xmlns:a="http://schemas.openxmlformats.org/drawingml/2006/main">
              <a:ext uri="{FF2B5EF4-FFF2-40B4-BE49-F238E27FC236}">
                <a16:creationId xmlns:a16="http://schemas.microsoft.com/office/drawing/2014/main" id="{BD773BBC-74D7-412C-A111-1CB2C92D5991}"/>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RECUL CRITIQUE</a:t>
            </a:r>
          </a:p>
        </p:txBody>
      </p:sp>
      <p:sp>
        <p:nvSpPr>
          <p:cNvPr id="2" name="title-11">
            <a:extLst xmlns:a="http://schemas.openxmlformats.org/drawingml/2006/main">
              <a:ext uri="{FF2B5EF4-FFF2-40B4-BE49-F238E27FC236}">
                <a16:creationId xmlns:a16="http://schemas.microsoft.com/office/drawing/2014/main" id="{FA500888-1E27-4B7B-B71D-EF6180230846}"/>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Les limites sont connues — et orientent la suite</a:t>
            </a:r>
          </a:p>
        </p:txBody>
      </p:sp>
      <p:sp>
        <p:nvSpPr>
          <p:cNvPr id="3" name="rule-11">
            <a:extLst xmlns:a="http://schemas.openxmlformats.org/drawingml/2006/main">
              <a:ext uri="{FF2B5EF4-FFF2-40B4-BE49-F238E27FC236}">
                <a16:creationId xmlns:a16="http://schemas.microsoft.com/office/drawing/2014/main" id="{9A8A7F64-0BED-4CF2-B8FE-BD9E633AAB8E}"/>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1">
            <a:extLst xmlns:a="http://schemas.openxmlformats.org/drawingml/2006/main">
              <a:ext uri="{FF2B5EF4-FFF2-40B4-BE49-F238E27FC236}">
                <a16:creationId xmlns:a16="http://schemas.microsoft.com/office/drawing/2014/main" id="{3123A594-0C73-4EAF-A5AB-EA563451DE1D}"/>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11</a:t>
            </a:r>
          </a:p>
        </p:txBody>
      </p:sp>
      <p:sp>
        <p:nvSpPr>
          <p:cNvPr id="5" name="limit-h1">
            <a:extLst xmlns:a="http://schemas.openxmlformats.org/drawingml/2006/main">
              <a:ext uri="{FF2B5EF4-FFF2-40B4-BE49-F238E27FC236}">
                <a16:creationId xmlns:a16="http://schemas.microsoft.com/office/drawing/2014/main" id="{9E3A75FB-D75F-4BDF-8765-0927137D328B}"/>
              </a:ext>
            </a:extLst>
          </p:cNvPr>
          <p:cNvSpPr>
            <a:spLocks xmlns:a="http://schemas.openxmlformats.org/drawingml/2006/main" noGrp="1"/>
          </p:cNvSpPr>
          <p:nvPr/>
        </p:nvSpPr>
        <p:spPr>
          <a:xfrm xmlns:a="http://schemas.openxmlformats.org/drawingml/2006/main">
            <a:off x="838200" y="17145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6F5F"/>
                </a:solidFill>
              </a:defRPr>
            </a:pPr>
            <a:r>
              <a:rPr sz="1275" b="1">
                <a:solidFill>
                  <a:srgbClr val="1F6F5F"/>
                </a:solidFill>
              </a:rPr>
              <a:t>Constat</a:t>
            </a:r>
          </a:p>
        </p:txBody>
      </p:sp>
      <p:sp>
        <p:nvSpPr>
          <p:cNvPr id="6" name="limit-h2">
            <a:extLst xmlns:a="http://schemas.openxmlformats.org/drawingml/2006/main">
              <a:ext uri="{FF2B5EF4-FFF2-40B4-BE49-F238E27FC236}">
                <a16:creationId xmlns:a16="http://schemas.microsoft.com/office/drawing/2014/main" id="{8F15EFE4-E8BF-48B8-8849-E4F45489442B}"/>
              </a:ext>
            </a:extLst>
          </p:cNvPr>
          <p:cNvSpPr>
            <a:spLocks xmlns:a="http://schemas.openxmlformats.org/drawingml/2006/main" noGrp="1"/>
          </p:cNvSpPr>
          <p:nvPr/>
        </p:nvSpPr>
        <p:spPr>
          <a:xfrm xmlns:a="http://schemas.openxmlformats.org/drawingml/2006/main">
            <a:off x="3619500" y="17145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6F5F"/>
                </a:solidFill>
              </a:defRPr>
            </a:pPr>
            <a:r>
              <a:rPr sz="1275" b="1">
                <a:solidFill>
                  <a:srgbClr val="1F6F5F"/>
                </a:solidFill>
              </a:rPr>
              <a:t>Risque</a:t>
            </a:r>
          </a:p>
        </p:txBody>
      </p:sp>
      <p:sp>
        <p:nvSpPr>
          <p:cNvPr id="7" name="limit-h3">
            <a:extLst xmlns:a="http://schemas.openxmlformats.org/drawingml/2006/main">
              <a:ext uri="{FF2B5EF4-FFF2-40B4-BE49-F238E27FC236}">
                <a16:creationId xmlns:a16="http://schemas.microsoft.com/office/drawing/2014/main" id="{DA74789E-EB8F-4AF3-832A-5E07650B5E52}"/>
              </a:ext>
            </a:extLst>
          </p:cNvPr>
          <p:cNvSpPr>
            <a:spLocks xmlns:a="http://schemas.openxmlformats.org/drawingml/2006/main" noGrp="1"/>
          </p:cNvSpPr>
          <p:nvPr/>
        </p:nvSpPr>
        <p:spPr>
          <a:xfrm xmlns:a="http://schemas.openxmlformats.org/drawingml/2006/main">
            <a:off x="7524750" y="17145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6F5F"/>
                </a:solidFill>
              </a:defRPr>
            </a:pPr>
            <a:r>
              <a:rPr sz="1275" b="1">
                <a:solidFill>
                  <a:srgbClr val="1F6F5F"/>
                </a:solidFill>
              </a:rPr>
              <a:t>Amélioration</a:t>
            </a:r>
          </a:p>
        </p:txBody>
      </p:sp>
      <p:sp>
        <p:nvSpPr>
          <p:cNvPr id="8" name="limit-row-0">
            <a:extLst xmlns:a="http://schemas.openxmlformats.org/drawingml/2006/main">
              <a:ext uri="{FF2B5EF4-FFF2-40B4-BE49-F238E27FC236}">
                <a16:creationId xmlns:a16="http://schemas.microsoft.com/office/drawing/2014/main" id="{2D2F2643-6AA2-47DC-A58C-4684F16717CD}"/>
              </a:ext>
            </a:extLst>
          </p:cNvPr>
          <p:cNvSpPr>
            <a:spLocks xmlns:a="http://schemas.openxmlformats.org/drawingml/2006/main" noGrp="1"/>
          </p:cNvSpPr>
          <p:nvPr/>
        </p:nvSpPr>
        <p:spPr>
          <a:xfrm xmlns:a="http://schemas.openxmlformats.org/drawingml/2006/main">
            <a:off x="609600" y="2114550"/>
            <a:ext cx="10972800" cy="723900"/>
          </a:xfrm>
          <a:prstGeom xmlns:a="http://schemas.openxmlformats.org/drawingml/2006/main" prst="roundRect">
            <a:avLst>
              <a:gd name="adj" fmla="val 13158"/>
            </a:avLst>
          </a:prstGeom>
          <a:solidFill xmlns:a="http://schemas.openxmlformats.org/drawingml/2006/main">
            <a:srgbClr val="FFFFFF"/>
          </a:solidFill>
          <a:ln xmlns:a="http://schemas.openxmlformats.org/drawingml/2006/main" w="11430">
            <a:solidFill>
              <a:srgbClr val="FFFFFF"/>
            </a:solidFill>
            <a:prstDash val="solid"/>
          </a:ln>
        </p:spPr>
      </p:sp>
      <p:sp>
        <p:nvSpPr>
          <p:cNvPr id="9" name="limit-a-0">
            <a:extLst xmlns:a="http://schemas.openxmlformats.org/drawingml/2006/main">
              <a:ext uri="{FF2B5EF4-FFF2-40B4-BE49-F238E27FC236}">
                <a16:creationId xmlns:a16="http://schemas.microsoft.com/office/drawing/2014/main" id="{2951EFF0-F921-46D4-BB98-DA2EE6CA1547}"/>
              </a:ext>
            </a:extLst>
          </p:cNvPr>
          <p:cNvSpPr>
            <a:spLocks xmlns:a="http://schemas.openxmlformats.org/drawingml/2006/main" noGrp="1"/>
          </p:cNvSpPr>
          <p:nvPr/>
        </p:nvSpPr>
        <p:spPr>
          <a:xfrm xmlns:a="http://schemas.openxmlformats.org/drawingml/2006/main">
            <a:off x="838200" y="22098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02A2A"/>
                </a:solidFill>
              </a:defRPr>
            </a:pPr>
            <a:r>
              <a:rPr sz="1500" b="1">
                <a:solidFill>
                  <a:srgbClr val="102A2A"/>
                </a:solidFill>
              </a:rPr>
              <a:t>SQLite local</a:t>
            </a:r>
          </a:p>
        </p:txBody>
      </p:sp>
      <p:sp>
        <p:nvSpPr>
          <p:cNvPr id="10" name="limit-b-0">
            <a:extLst xmlns:a="http://schemas.openxmlformats.org/drawingml/2006/main">
              <a:ext uri="{FF2B5EF4-FFF2-40B4-BE49-F238E27FC236}">
                <a16:creationId xmlns:a16="http://schemas.microsoft.com/office/drawing/2014/main" id="{55E4022B-DD49-42E1-8626-93AEE649316E}"/>
              </a:ext>
            </a:extLst>
          </p:cNvPr>
          <p:cNvSpPr>
            <a:spLocks xmlns:a="http://schemas.openxmlformats.org/drawingml/2006/main" noGrp="1"/>
          </p:cNvSpPr>
          <p:nvPr/>
        </p:nvSpPr>
        <p:spPr>
          <a:xfrm xmlns:a="http://schemas.openxmlformats.org/drawingml/2006/main">
            <a:off x="3619500" y="22098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concurrence d’écriture et absence de scale-out</a:t>
            </a:r>
          </a:p>
        </p:txBody>
      </p:sp>
      <p:sp>
        <p:nvSpPr>
          <p:cNvPr id="11" name="limit-c-0">
            <a:extLst xmlns:a="http://schemas.openxmlformats.org/drawingml/2006/main">
              <a:ext uri="{FF2B5EF4-FFF2-40B4-BE49-F238E27FC236}">
                <a16:creationId xmlns:a16="http://schemas.microsoft.com/office/drawing/2014/main" id="{C9474D2D-E652-4F3E-A41D-831726E31B74}"/>
              </a:ext>
            </a:extLst>
          </p:cNvPr>
          <p:cNvSpPr>
            <a:spLocks xmlns:a="http://schemas.openxmlformats.org/drawingml/2006/main" noGrp="1"/>
          </p:cNvSpPr>
          <p:nvPr/>
        </p:nvSpPr>
        <p:spPr>
          <a:xfrm xmlns:a="http://schemas.openxmlformats.org/drawingml/2006/main">
            <a:off x="7524750" y="22098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02A2A"/>
                </a:solidFill>
              </a:defRPr>
            </a:pPr>
            <a:r>
              <a:rPr sz="1275" b="1">
                <a:solidFill>
                  <a:srgbClr val="102A2A"/>
                </a:solidFill>
              </a:rPr>
              <a:t>PostgreSQL / moteur analytique selon la charge</a:t>
            </a:r>
          </a:p>
        </p:txBody>
      </p:sp>
      <p:sp>
        <p:nvSpPr>
          <p:cNvPr id="12" name="limit-a-1">
            <a:extLst xmlns:a="http://schemas.openxmlformats.org/drawingml/2006/main">
              <a:ext uri="{FF2B5EF4-FFF2-40B4-BE49-F238E27FC236}">
                <a16:creationId xmlns:a16="http://schemas.microsoft.com/office/drawing/2014/main" id="{CB77ACAF-8F85-4AC0-ACA1-266C825F531C}"/>
              </a:ext>
            </a:extLst>
          </p:cNvPr>
          <p:cNvSpPr>
            <a:spLocks xmlns:a="http://schemas.openxmlformats.org/drawingml/2006/main" noGrp="1"/>
          </p:cNvSpPr>
          <p:nvPr/>
        </p:nvSpPr>
        <p:spPr>
          <a:xfrm xmlns:a="http://schemas.openxmlformats.org/drawingml/2006/main">
            <a:off x="838200" y="31051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02A2A"/>
                </a:solidFill>
              </a:defRPr>
            </a:pPr>
            <a:r>
              <a:rPr sz="1500" b="1">
                <a:solidFill>
                  <a:srgbClr val="102A2A"/>
                </a:solidFill>
              </a:rPr>
              <a:t>Double écriture</a:t>
            </a:r>
          </a:p>
        </p:txBody>
      </p:sp>
      <p:sp>
        <p:nvSpPr>
          <p:cNvPr id="13" name="limit-b-1">
            <a:extLst xmlns:a="http://schemas.openxmlformats.org/drawingml/2006/main">
              <a:ext uri="{FF2B5EF4-FFF2-40B4-BE49-F238E27FC236}">
                <a16:creationId xmlns:a16="http://schemas.microsoft.com/office/drawing/2014/main" id="{B31CAC99-DC54-453F-8038-F278D61ABBCE}"/>
              </a:ext>
            </a:extLst>
          </p:cNvPr>
          <p:cNvSpPr>
            <a:spLocks xmlns:a="http://schemas.openxmlformats.org/drawingml/2006/main" noGrp="1"/>
          </p:cNvSpPr>
          <p:nvPr/>
        </p:nvSpPr>
        <p:spPr>
          <a:xfrm xmlns:a="http://schemas.openxmlformats.org/drawingml/2006/main">
            <a:off x="3619500" y="31051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aucune atomicité SQLite ↔ MongoDB</a:t>
            </a:r>
          </a:p>
        </p:txBody>
      </p:sp>
      <p:sp>
        <p:nvSpPr>
          <p:cNvPr id="14" name="limit-c-1">
            <a:extLst xmlns:a="http://schemas.openxmlformats.org/drawingml/2006/main">
              <a:ext uri="{FF2B5EF4-FFF2-40B4-BE49-F238E27FC236}">
                <a16:creationId xmlns:a16="http://schemas.microsoft.com/office/drawing/2014/main" id="{98823621-6678-4B27-8E88-1BB478578CE5}"/>
              </a:ext>
            </a:extLst>
          </p:cNvPr>
          <p:cNvSpPr>
            <a:spLocks xmlns:a="http://schemas.openxmlformats.org/drawingml/2006/main" noGrp="1"/>
          </p:cNvSpPr>
          <p:nvPr/>
        </p:nvSpPr>
        <p:spPr>
          <a:xfrm xmlns:a="http://schemas.openxmlformats.org/drawingml/2006/main">
            <a:off x="7524750" y="31051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02A2A"/>
                </a:solidFill>
              </a:defRPr>
            </a:pPr>
            <a:r>
              <a:rPr sz="1275" b="1">
                <a:solidFill>
                  <a:srgbClr val="102A2A"/>
                </a:solidFill>
              </a:rPr>
              <a:t>outbox ou réconciliation explicite</a:t>
            </a:r>
          </a:p>
        </p:txBody>
      </p:sp>
      <p:sp>
        <p:nvSpPr>
          <p:cNvPr id="15" name="limit-row-2">
            <a:extLst xmlns:a="http://schemas.openxmlformats.org/drawingml/2006/main">
              <a:ext uri="{FF2B5EF4-FFF2-40B4-BE49-F238E27FC236}">
                <a16:creationId xmlns:a16="http://schemas.microsoft.com/office/drawing/2014/main" id="{E233148D-FAAB-4B30-B6AF-4B7ABC16EEEB}"/>
              </a:ext>
            </a:extLst>
          </p:cNvPr>
          <p:cNvSpPr>
            <a:spLocks xmlns:a="http://schemas.openxmlformats.org/drawingml/2006/main" noGrp="1"/>
          </p:cNvSpPr>
          <p:nvPr/>
        </p:nvSpPr>
        <p:spPr>
          <a:xfrm xmlns:a="http://schemas.openxmlformats.org/drawingml/2006/main">
            <a:off x="609600" y="3905250"/>
            <a:ext cx="10972800" cy="723900"/>
          </a:xfrm>
          <a:prstGeom xmlns:a="http://schemas.openxmlformats.org/drawingml/2006/main" prst="roundRect">
            <a:avLst>
              <a:gd name="adj" fmla="val 13158"/>
            </a:avLst>
          </a:prstGeom>
          <a:solidFill xmlns:a="http://schemas.openxmlformats.org/drawingml/2006/main">
            <a:srgbClr val="FFFFFF"/>
          </a:solidFill>
          <a:ln xmlns:a="http://schemas.openxmlformats.org/drawingml/2006/main" w="11430">
            <a:solidFill>
              <a:srgbClr val="FFFFFF"/>
            </a:solidFill>
            <a:prstDash val="solid"/>
          </a:ln>
        </p:spPr>
      </p:sp>
      <p:sp>
        <p:nvSpPr>
          <p:cNvPr id="16" name="limit-a-2">
            <a:extLst xmlns:a="http://schemas.openxmlformats.org/drawingml/2006/main">
              <a:ext uri="{FF2B5EF4-FFF2-40B4-BE49-F238E27FC236}">
                <a16:creationId xmlns:a16="http://schemas.microsoft.com/office/drawing/2014/main" id="{E5D8D2DC-F2FC-45DD-ADB1-81661BD45446}"/>
              </a:ext>
            </a:extLst>
          </p:cNvPr>
          <p:cNvSpPr>
            <a:spLocks xmlns:a="http://schemas.openxmlformats.org/drawingml/2006/main" noGrp="1"/>
          </p:cNvSpPr>
          <p:nvPr/>
        </p:nvSpPr>
        <p:spPr>
          <a:xfrm xmlns:a="http://schemas.openxmlformats.org/drawingml/2006/main">
            <a:off x="838200" y="40005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02A2A"/>
                </a:solidFill>
              </a:defRPr>
            </a:pPr>
            <a:r>
              <a:rPr sz="1500" b="1">
                <a:solidFill>
                  <a:srgbClr val="102A2A"/>
                </a:solidFill>
              </a:rPr>
              <a:t>Source HTML</a:t>
            </a:r>
          </a:p>
        </p:txBody>
      </p:sp>
      <p:sp>
        <p:nvSpPr>
          <p:cNvPr id="17" name="limit-b-2">
            <a:extLst xmlns:a="http://schemas.openxmlformats.org/drawingml/2006/main">
              <a:ext uri="{FF2B5EF4-FFF2-40B4-BE49-F238E27FC236}">
                <a16:creationId xmlns:a16="http://schemas.microsoft.com/office/drawing/2014/main" id="{381BFD92-9AF2-4CA0-8FCE-E76813A854EB}"/>
              </a:ext>
            </a:extLst>
          </p:cNvPr>
          <p:cNvSpPr>
            <a:spLocks xmlns:a="http://schemas.openxmlformats.org/drawingml/2006/main" noGrp="1"/>
          </p:cNvSpPr>
          <p:nvPr/>
        </p:nvSpPr>
        <p:spPr>
          <a:xfrm xmlns:a="http://schemas.openxmlformats.org/drawingml/2006/main">
            <a:off x="3619500" y="40005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scraper sensible aux changements de structure</a:t>
            </a:r>
          </a:p>
        </p:txBody>
      </p:sp>
      <p:sp>
        <p:nvSpPr>
          <p:cNvPr id="18" name="limit-c-2">
            <a:extLst xmlns:a="http://schemas.openxmlformats.org/drawingml/2006/main">
              <a:ext uri="{FF2B5EF4-FFF2-40B4-BE49-F238E27FC236}">
                <a16:creationId xmlns:a16="http://schemas.microsoft.com/office/drawing/2014/main" id="{17427293-1A6B-4505-AD84-6A4751C33D9C}"/>
              </a:ext>
            </a:extLst>
          </p:cNvPr>
          <p:cNvSpPr>
            <a:spLocks xmlns:a="http://schemas.openxmlformats.org/drawingml/2006/main" noGrp="1"/>
          </p:cNvSpPr>
          <p:nvPr/>
        </p:nvSpPr>
        <p:spPr>
          <a:xfrm xmlns:a="http://schemas.openxmlformats.org/drawingml/2006/main">
            <a:off x="7524750" y="40005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02A2A"/>
                </a:solidFill>
              </a:defRPr>
            </a:pPr>
            <a:r>
              <a:rPr sz="1275" b="1">
                <a:solidFill>
                  <a:srgbClr val="102A2A"/>
                </a:solidFill>
              </a:rPr>
              <a:t>fixtures, alertes de fraîcheur, fallback</a:t>
            </a:r>
          </a:p>
        </p:txBody>
      </p:sp>
      <p:sp>
        <p:nvSpPr>
          <p:cNvPr id="19" name="limit-a-3">
            <a:extLst xmlns:a="http://schemas.openxmlformats.org/drawingml/2006/main">
              <a:ext uri="{FF2B5EF4-FFF2-40B4-BE49-F238E27FC236}">
                <a16:creationId xmlns:a16="http://schemas.microsoft.com/office/drawing/2014/main" id="{6BD6A065-75E9-4396-A72A-ACC03100B6FC}"/>
              </a:ext>
            </a:extLst>
          </p:cNvPr>
          <p:cNvSpPr>
            <a:spLocks xmlns:a="http://schemas.openxmlformats.org/drawingml/2006/main" noGrp="1"/>
          </p:cNvSpPr>
          <p:nvPr/>
        </p:nvSpPr>
        <p:spPr>
          <a:xfrm xmlns:a="http://schemas.openxmlformats.org/drawingml/2006/main">
            <a:off x="838200" y="48958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02A2A"/>
                </a:solidFill>
              </a:defRPr>
            </a:pPr>
            <a:r>
              <a:rPr sz="1500" b="1">
                <a:solidFill>
                  <a:srgbClr val="102A2A"/>
                </a:solidFill>
              </a:rPr>
              <a:t>Cluster mono-machine</a:t>
            </a:r>
          </a:p>
        </p:txBody>
      </p:sp>
      <p:sp>
        <p:nvSpPr>
          <p:cNvPr id="20" name="limit-b-3">
            <a:extLst xmlns:a="http://schemas.openxmlformats.org/drawingml/2006/main">
              <a:ext uri="{FF2B5EF4-FFF2-40B4-BE49-F238E27FC236}">
                <a16:creationId xmlns:a16="http://schemas.microsoft.com/office/drawing/2014/main" id="{FCE825F5-FF27-4050-8E97-3EE29DA62027}"/>
              </a:ext>
            </a:extLst>
          </p:cNvPr>
          <p:cNvSpPr>
            <a:spLocks xmlns:a="http://schemas.openxmlformats.org/drawingml/2006/main" noGrp="1"/>
          </p:cNvSpPr>
          <p:nvPr/>
        </p:nvSpPr>
        <p:spPr>
          <a:xfrm xmlns:a="http://schemas.openxmlformats.org/drawingml/2006/main">
            <a:off x="3619500" y="48958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distribution pédagogique, résilience limitée</a:t>
            </a:r>
          </a:p>
        </p:txBody>
      </p:sp>
      <p:sp>
        <p:nvSpPr>
          <p:cNvPr id="21" name="limit-c-3">
            <a:extLst xmlns:a="http://schemas.openxmlformats.org/drawingml/2006/main">
              <a:ext uri="{FF2B5EF4-FFF2-40B4-BE49-F238E27FC236}">
                <a16:creationId xmlns:a16="http://schemas.microsoft.com/office/drawing/2014/main" id="{DD25F01C-F12D-4598-B4FF-818E91F5F668}"/>
              </a:ext>
            </a:extLst>
          </p:cNvPr>
          <p:cNvSpPr>
            <a:spLocks xmlns:a="http://schemas.openxmlformats.org/drawingml/2006/main" noGrp="1"/>
          </p:cNvSpPr>
          <p:nvPr/>
        </p:nvSpPr>
        <p:spPr>
          <a:xfrm xmlns:a="http://schemas.openxmlformats.org/drawingml/2006/main">
            <a:off x="7524750" y="48958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02A2A"/>
                </a:solidFill>
              </a:defRPr>
            </a:pPr>
            <a:r>
              <a:rPr sz="1275" b="1">
                <a:solidFill>
                  <a:srgbClr val="102A2A"/>
                </a:solidFill>
              </a:rPr>
              <a:t>stockage distribué et plusieurs hôtes si besoin</a:t>
            </a:r>
          </a:p>
        </p:txBody>
      </p:sp>
      <p:sp>
        <p:nvSpPr>
          <p:cNvPr id="22" name="limit-foot">
            <a:extLst xmlns:a="http://schemas.openxmlformats.org/drawingml/2006/main">
              <a:ext uri="{FF2B5EF4-FFF2-40B4-BE49-F238E27FC236}">
                <a16:creationId xmlns:a16="http://schemas.microsoft.com/office/drawing/2014/main" id="{5F8580FE-7CEC-4A60-B701-81198CEE43C9}"/>
              </a:ext>
            </a:extLst>
          </p:cNvPr>
          <p:cNvSpPr>
            <a:spLocks xmlns:a="http://schemas.openxmlformats.org/drawingml/2006/main" noGrp="1"/>
          </p:cNvSpPr>
          <p:nvPr/>
        </p:nvSpPr>
        <p:spPr>
          <a:xfrm xmlns:a="http://schemas.openxmlformats.org/drawingml/2006/main">
            <a:off x="2238375" y="590550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D66B4D"/>
                </a:solidFill>
              </a:defRPr>
            </a:pPr>
            <a:r>
              <a:rPr sz="1500" b="1">
                <a:solidFill>
                  <a:srgbClr val="D66B4D"/>
                </a:solidFill>
              </a:rPr>
              <a:t>Prototype démontrable aujourd’hui · trajectoire de production explicite</a:t>
            </a:r>
          </a:p>
        </p:txBody>
      </p:sp>
    </p:spTree>
    <p:extLst>
      <p:ext uri="{BB962C8B-B14F-4D97-AF65-F5344CB8AC3E}">
        <p14:creationId xmlns:p14="http://schemas.microsoft.com/office/powerpoint/2010/main" val="1757260857"/>
      </p:ext>
    </p:extLst>
  </p:cSld>
</p:sld>
</file>

<file path=ppt/slides/slide12.xml><?xml version="1.0" encoding="utf-8"?>
<p:sld xmlns:p="http://schemas.openxmlformats.org/presentationml/2006/main">
  <p:cSld>
    <p:bg>
      <p:bgPr>
        <a:solidFill xmlns:a="http://schemas.openxmlformats.org/drawingml/2006/main">
          <a:srgbClr val="153D3A"/>
        </a:solidFill>
      </p:bgPr>
    </p:bg>
    <p:spTree>
      <p:nvGrpSpPr>
        <p:cNvPr id="1" name=""/>
        <p:cNvGrpSpPr/>
        <p:nvPr/>
      </p:nvGrpSpPr>
      <p:grpSpPr>
        <a:xfrm xmlns:a="http://schemas.openxmlformats.org/drawingml/2006/main"/>
      </p:grpSpPr>
      <p:sp>
        <p:nvSpPr>
          <p:cNvPr id="13" name="close-kicker">
            <a:extLst xmlns:a="http://schemas.openxmlformats.org/drawingml/2006/main">
              <a:ext uri="{FF2B5EF4-FFF2-40B4-BE49-F238E27FC236}">
                <a16:creationId xmlns:a16="http://schemas.microsoft.com/office/drawing/2014/main" id="{F66412C7-FE88-41CC-BD85-20987F660B68}"/>
              </a:ext>
            </a:extLst>
          </p:cNvPr>
          <p:cNvSpPr>
            <a:spLocks xmlns:a="http://schemas.openxmlformats.org/drawingml/2006/main" noGrp="1"/>
          </p:cNvSpPr>
          <p:nvPr/>
        </p:nvSpPr>
        <p:spPr>
          <a:xfrm xmlns:a="http://schemas.openxmlformats.org/drawingml/2006/main">
            <a:off x="609600" y="438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EDE7"/>
                </a:solidFill>
              </a:defRPr>
            </a:pPr>
            <a:r>
              <a:rPr sz="1050" b="1">
                <a:solidFill>
                  <a:srgbClr val="DCEDE7"/>
                </a:solidFill>
              </a:rPr>
              <a:t>CONCLUSION</a:t>
            </a:r>
          </a:p>
        </p:txBody>
      </p:sp>
      <p:sp>
        <p:nvSpPr>
          <p:cNvPr id="2" name="close-title">
            <a:extLst xmlns:a="http://schemas.openxmlformats.org/drawingml/2006/main">
              <a:ext uri="{FF2B5EF4-FFF2-40B4-BE49-F238E27FC236}">
                <a16:creationId xmlns:a16="http://schemas.microsoft.com/office/drawing/2014/main" id="{C1B66AA4-1200-4044-82E8-56A774EC6634}"/>
              </a:ext>
            </a:extLst>
          </p:cNvPr>
          <p:cNvSpPr>
            <a:spLocks xmlns:a="http://schemas.openxmlformats.org/drawingml/2006/main" noGrp="1"/>
          </p:cNvSpPr>
          <p:nvPr/>
        </p:nvSpPr>
        <p:spPr>
          <a:xfrm xmlns:a="http://schemas.openxmlformats.org/drawingml/2006/main">
            <a:off x="609600" y="971550"/>
            <a:ext cx="857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Homepedia rend une chaîne data complexe lisible et défendable</a:t>
            </a:r>
          </a:p>
        </p:txBody>
      </p:sp>
      <p:sp>
        <p:nvSpPr>
          <p:cNvPr id="3" name="close-rule">
            <a:extLst xmlns:a="http://schemas.openxmlformats.org/drawingml/2006/main">
              <a:ext uri="{FF2B5EF4-FFF2-40B4-BE49-F238E27FC236}">
                <a16:creationId xmlns:a16="http://schemas.microsoft.com/office/drawing/2014/main" id="{F6CD27CF-A0BB-41B4-9F01-75B105BB8DC5}"/>
              </a:ext>
            </a:extLst>
          </p:cNvPr>
          <p:cNvSpPr>
            <a:spLocks xmlns:a="http://schemas.openxmlformats.org/drawingml/2006/main" noGrp="1"/>
          </p:cNvSpPr>
          <p:nvPr/>
        </p:nvSpPr>
        <p:spPr>
          <a:xfrm xmlns:a="http://schemas.openxmlformats.org/drawingml/2006/main">
            <a:off x="609600" y="2247900"/>
            <a:ext cx="10972800" cy="0"/>
          </a:xfrm>
          <a:prstGeom xmlns:a="http://schemas.openxmlformats.org/drawingml/2006/main" prst="line">
            <a:avLst/>
          </a:prstGeom>
          <a:noFill xmlns:a="http://schemas.openxmlformats.org/drawingml/2006/main"/>
          <a:ln xmlns:a="http://schemas.openxmlformats.org/drawingml/2006/main" w="19050">
            <a:solidFill>
              <a:srgbClr val="1F6F5F"/>
            </a:solidFill>
            <a:prstDash val="solid"/>
          </a:ln>
        </p:spPr>
      </p:sp>
      <p:sp>
        <p:nvSpPr>
          <p:cNvPr id="4" name="close-h-0">
            <a:extLst xmlns:a="http://schemas.openxmlformats.org/drawingml/2006/main">
              <a:ext uri="{FF2B5EF4-FFF2-40B4-BE49-F238E27FC236}">
                <a16:creationId xmlns:a16="http://schemas.microsoft.com/office/drawing/2014/main" id="{3CA83C48-AEC7-4D96-A8AD-475021297AB7}"/>
              </a:ext>
            </a:extLst>
          </p:cNvPr>
          <p:cNvSpPr>
            <a:spLocks xmlns:a="http://schemas.openxmlformats.org/drawingml/2006/main" noGrp="1"/>
          </p:cNvSpPr>
          <p:nvPr/>
        </p:nvSpPr>
        <p:spPr>
          <a:xfrm xmlns:a="http://schemas.openxmlformats.org/drawingml/2006/main">
            <a:off x="609600" y="28194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E8D9BF"/>
                </a:solidFill>
              </a:defRPr>
            </a:pPr>
            <a:r>
              <a:rPr sz="1875" b="1">
                <a:solidFill>
                  <a:srgbClr val="E8D9BF"/>
                </a:solidFill>
              </a:rPr>
              <a:t>Fiable</a:t>
            </a:r>
          </a:p>
        </p:txBody>
      </p:sp>
      <p:sp>
        <p:nvSpPr>
          <p:cNvPr id="5" name="close-b-0">
            <a:extLst xmlns:a="http://schemas.openxmlformats.org/drawingml/2006/main">
              <a:ext uri="{FF2B5EF4-FFF2-40B4-BE49-F238E27FC236}">
                <a16:creationId xmlns:a16="http://schemas.microsoft.com/office/drawing/2014/main" id="{382759E5-01F5-4045-857D-04AA1CE715BD}"/>
              </a:ext>
            </a:extLst>
          </p:cNvPr>
          <p:cNvSpPr>
            <a:spLocks xmlns:a="http://schemas.openxmlformats.org/drawingml/2006/main" noGrp="1"/>
          </p:cNvSpPr>
          <p:nvPr/>
        </p:nvSpPr>
        <p:spPr>
          <a:xfrm xmlns:a="http://schemas.openxmlformats.org/drawingml/2006/main">
            <a:off x="609600" y="33337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CEDE7"/>
                </a:solidFill>
              </a:defRPr>
            </a:pPr>
            <a:r>
              <a:rPr sz="1425" b="0">
                <a:solidFill>
                  <a:srgbClr val="DCEDE7"/>
                </a:solidFill>
              </a:rPr>
              <a:t>nettoyage, idempotence, contrat commun</a:t>
            </a:r>
          </a:p>
        </p:txBody>
      </p:sp>
      <p:sp>
        <p:nvSpPr>
          <p:cNvPr id="6" name="close-h-1">
            <a:extLst xmlns:a="http://schemas.openxmlformats.org/drawingml/2006/main">
              <a:ext uri="{FF2B5EF4-FFF2-40B4-BE49-F238E27FC236}">
                <a16:creationId xmlns:a16="http://schemas.microsoft.com/office/drawing/2014/main" id="{79F3E35C-AC7F-4A65-879E-23C0EF502F23}"/>
              </a:ext>
            </a:extLst>
          </p:cNvPr>
          <p:cNvSpPr>
            <a:spLocks xmlns:a="http://schemas.openxmlformats.org/drawingml/2006/main" noGrp="1"/>
          </p:cNvSpPr>
          <p:nvPr/>
        </p:nvSpPr>
        <p:spPr>
          <a:xfrm xmlns:a="http://schemas.openxmlformats.org/drawingml/2006/main">
            <a:off x="4267200" y="28194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E8D9BF"/>
                </a:solidFill>
              </a:defRPr>
            </a:pPr>
            <a:r>
              <a:rPr sz="1875" b="1">
                <a:solidFill>
                  <a:srgbClr val="E8D9BF"/>
                </a:solidFill>
              </a:rPr>
              <a:t>Mesurable</a:t>
            </a:r>
          </a:p>
        </p:txBody>
      </p:sp>
      <p:sp>
        <p:nvSpPr>
          <p:cNvPr id="7" name="close-b-1">
            <a:extLst xmlns:a="http://schemas.openxmlformats.org/drawingml/2006/main">
              <a:ext uri="{FF2B5EF4-FFF2-40B4-BE49-F238E27FC236}">
                <a16:creationId xmlns:a16="http://schemas.microsoft.com/office/drawing/2014/main" id="{930ACA3B-A614-44F6-97A9-B79A09884523}"/>
              </a:ext>
            </a:extLst>
          </p:cNvPr>
          <p:cNvSpPr>
            <a:spLocks xmlns:a="http://schemas.openxmlformats.org/drawingml/2006/main" noGrp="1"/>
          </p:cNvSpPr>
          <p:nvPr/>
        </p:nvSpPr>
        <p:spPr>
          <a:xfrm xmlns:a="http://schemas.openxmlformats.org/drawingml/2006/main">
            <a:off x="4267200" y="33337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CEDE7"/>
                </a:solidFill>
              </a:defRPr>
            </a:pPr>
            <a:r>
              <a:rPr sz="1425" b="0">
                <a:solidFill>
                  <a:srgbClr val="DCEDE7"/>
                </a:solidFill>
              </a:rPr>
              <a:t>1,88 M de faits · 94 départements · 13 régions</a:t>
            </a:r>
          </a:p>
        </p:txBody>
      </p:sp>
      <p:sp>
        <p:nvSpPr>
          <p:cNvPr id="8" name="close-h-2">
            <a:extLst xmlns:a="http://schemas.openxmlformats.org/drawingml/2006/main">
              <a:ext uri="{FF2B5EF4-FFF2-40B4-BE49-F238E27FC236}">
                <a16:creationId xmlns:a16="http://schemas.microsoft.com/office/drawing/2014/main" id="{1D5D9EF1-E159-4C71-90EA-B11CF780E12B}"/>
              </a:ext>
            </a:extLst>
          </p:cNvPr>
          <p:cNvSpPr>
            <a:spLocks xmlns:a="http://schemas.openxmlformats.org/drawingml/2006/main" noGrp="1"/>
          </p:cNvSpPr>
          <p:nvPr/>
        </p:nvSpPr>
        <p:spPr>
          <a:xfrm xmlns:a="http://schemas.openxmlformats.org/drawingml/2006/main">
            <a:off x="7924800" y="28194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E8D9BF"/>
                </a:solidFill>
              </a:defRPr>
            </a:pPr>
            <a:r>
              <a:rPr sz="1875" b="1">
                <a:solidFill>
                  <a:srgbClr val="E8D9BF"/>
                </a:solidFill>
              </a:rPr>
              <a:t>Lucide</a:t>
            </a:r>
          </a:p>
        </p:txBody>
      </p:sp>
      <p:sp>
        <p:nvSpPr>
          <p:cNvPr id="9" name="close-b-2">
            <a:extLst xmlns:a="http://schemas.openxmlformats.org/drawingml/2006/main">
              <a:ext uri="{FF2B5EF4-FFF2-40B4-BE49-F238E27FC236}">
                <a16:creationId xmlns:a16="http://schemas.microsoft.com/office/drawing/2014/main" id="{426F2D20-E905-41FB-B159-B0D8B68FEEF7}"/>
              </a:ext>
            </a:extLst>
          </p:cNvPr>
          <p:cNvSpPr>
            <a:spLocks xmlns:a="http://schemas.openxmlformats.org/drawingml/2006/main" noGrp="1"/>
          </p:cNvSpPr>
          <p:nvPr/>
        </p:nvSpPr>
        <p:spPr>
          <a:xfrm xmlns:a="http://schemas.openxmlformats.org/drawingml/2006/main">
            <a:off x="7924800" y="33337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CEDE7"/>
                </a:solidFill>
              </a:defRPr>
            </a:pPr>
            <a:r>
              <a:rPr sz="1425" b="0">
                <a:solidFill>
                  <a:srgbClr val="DCEDE7"/>
                </a:solidFill>
              </a:rPr>
              <a:t>polling, mono-machine, cohérence éventuelle</a:t>
            </a:r>
          </a:p>
        </p:txBody>
      </p:sp>
      <p:sp>
        <p:nvSpPr>
          <p:cNvPr id="10" name="next">
            <a:extLst xmlns:a="http://schemas.openxmlformats.org/drawingml/2006/main">
              <a:ext uri="{FF2B5EF4-FFF2-40B4-BE49-F238E27FC236}">
                <a16:creationId xmlns:a16="http://schemas.microsoft.com/office/drawing/2014/main" id="{1E70DFF8-612E-49A6-B950-C31EBFFEB727}"/>
              </a:ext>
            </a:extLst>
          </p:cNvPr>
          <p:cNvSpPr>
            <a:spLocks xmlns:a="http://schemas.openxmlformats.org/drawingml/2006/main" noGrp="1"/>
          </p:cNvSpPr>
          <p:nvPr/>
        </p:nvSpPr>
        <p:spPr>
          <a:xfrm xmlns:a="http://schemas.openxmlformats.org/drawingml/2006/main">
            <a:off x="609600" y="4800600"/>
            <a:ext cx="10972800" cy="8572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11" name="next-t">
            <a:extLst xmlns:a="http://schemas.openxmlformats.org/drawingml/2006/main">
              <a:ext uri="{FF2B5EF4-FFF2-40B4-BE49-F238E27FC236}">
                <a16:creationId xmlns:a16="http://schemas.microsoft.com/office/drawing/2014/main" id="{920FB609-50DA-457C-8D44-0BBFF47A73BF}"/>
              </a:ext>
            </a:extLst>
          </p:cNvPr>
          <p:cNvSpPr>
            <a:spLocks xmlns:a="http://schemas.openxmlformats.org/drawingml/2006/main" noGrp="1"/>
          </p:cNvSpPr>
          <p:nvPr/>
        </p:nvSpPr>
        <p:spPr>
          <a:xfrm xmlns:a="http://schemas.openxmlformats.org/drawingml/2006/main">
            <a:off x="914400" y="5076825"/>
            <a:ext cx="10363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Prochaine étape : tests de contrat · observabilité · stockage scalable</a:t>
            </a:r>
          </a:p>
        </p:txBody>
      </p:sp>
      <p:sp>
        <p:nvSpPr>
          <p:cNvPr id="12" name="thanks">
            <a:extLst xmlns:a="http://schemas.openxmlformats.org/drawingml/2006/main">
              <a:ext uri="{FF2B5EF4-FFF2-40B4-BE49-F238E27FC236}">
                <a16:creationId xmlns:a16="http://schemas.microsoft.com/office/drawing/2014/main" id="{4AC9EEA9-EF2C-4890-99ED-E22782D34786}"/>
              </a:ext>
            </a:extLst>
          </p:cNvPr>
          <p:cNvSpPr>
            <a:spLocks xmlns:a="http://schemas.openxmlformats.org/drawingml/2006/main" noGrp="1"/>
          </p:cNvSpPr>
          <p:nvPr/>
        </p:nvSpPr>
        <p:spPr>
          <a:xfrm xmlns:a="http://schemas.openxmlformats.org/drawingml/2006/main">
            <a:off x="609600" y="6134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Questions</a:t>
            </a:r>
          </a:p>
        </p:txBody>
      </p:sp>
    </p:spTree>
    <p:extLst>
      <p:ext uri="{BB962C8B-B14F-4D97-AF65-F5344CB8AC3E}">
        <p14:creationId xmlns:p14="http://schemas.microsoft.com/office/powerpoint/2010/main" val="527115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2026-08-27T13:37:18.1340000Z</dcterms:created>
  <dcterms:modified xsi:type="dcterms:W3CDTF">2026-08-27T13:37:18.1340000Z</dcterms:modified>
</coreProperties>
</file>